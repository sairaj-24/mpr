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8" r:id="rId34"/>
    <p:sldId id="288" r:id="rId35"/>
    <p:sldId id="289" r:id="rId36"/>
    <p:sldId id="290" r:id="rId37"/>
    <p:sldId id="291" r:id="rId38"/>
    <p:sldId id="292" r:id="rId39"/>
    <p:sldId id="293" r:id="rId40"/>
    <p:sldId id="294" r:id="rId41"/>
    <p:sldId id="295" r:id="rId42"/>
    <p:sldId id="296" r:id="rId43"/>
    <p:sldId id="297" r:id="rId44"/>
    <p:sldId id="300" r:id="rId45"/>
    <p:sldId id="301" r:id="rId46"/>
    <p:sldId id="302" r:id="rId47"/>
    <p:sldId id="303" r:id="rId48"/>
    <p:sldId id="304" r:id="rId49"/>
    <p:sldId id="305" r:id="rId50"/>
    <p:sldId id="306" r:id="rId51"/>
    <p:sldId id="307" r:id="rId52"/>
    <p:sldId id="308" r:id="rId53"/>
    <p:sldId id="309" r:id="rId54"/>
    <p:sldId id="311" r:id="rId55"/>
    <p:sldId id="312" r:id="rId56"/>
    <p:sldId id="330" r:id="rId57"/>
    <p:sldId id="331" r:id="rId58"/>
    <p:sldId id="314" r:id="rId59"/>
    <p:sldId id="315" r:id="rId60"/>
    <p:sldId id="316" r:id="rId61"/>
    <p:sldId id="317" r:id="rId62"/>
    <p:sldId id="318" r:id="rId63"/>
    <p:sldId id="319" r:id="rId64"/>
    <p:sldId id="320" r:id="rId65"/>
    <p:sldId id="321" r:id="rId66"/>
    <p:sldId id="322" r:id="rId67"/>
    <p:sldId id="324" r:id="rId68"/>
    <p:sldId id="323" r:id="rId69"/>
    <p:sldId id="325" r:id="rId70"/>
    <p:sldId id="326" r:id="rId71"/>
    <p:sldId id="327" r:id="rId72"/>
    <p:sldId id="328" r:id="rId73"/>
    <p:sldId id="329" r:id="rId74"/>
    <p:sldId id="313"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67" r:id="rId102"/>
    <p:sldId id="358" r:id="rId103"/>
    <p:sldId id="364" r:id="rId104"/>
    <p:sldId id="359" r:id="rId105"/>
    <p:sldId id="365" r:id="rId106"/>
    <p:sldId id="360" r:id="rId107"/>
    <p:sldId id="363" r:id="rId108"/>
    <p:sldId id="361" r:id="rId109"/>
    <p:sldId id="368" r:id="rId110"/>
    <p:sldId id="362"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0" r:id="rId133"/>
    <p:sldId id="391" r:id="rId134"/>
    <p:sldId id="392" r:id="rId135"/>
    <p:sldId id="393" r:id="rId136"/>
    <p:sldId id="394" r:id="rId137"/>
    <p:sldId id="395" r:id="rId138"/>
    <p:sldId id="396" r:id="rId139"/>
    <p:sldId id="397" r:id="rId140"/>
    <p:sldId id="398" r:id="rId141"/>
    <p:sldId id="399" r:id="rId142"/>
    <p:sldId id="400" r:id="rId143"/>
    <p:sldId id="401" r:id="rId144"/>
    <p:sldId id="402" r:id="rId145"/>
    <p:sldId id="403" r:id="rId146"/>
    <p:sldId id="404" r:id="rId147"/>
    <p:sldId id="405" r:id="rId148"/>
    <p:sldId id="406" r:id="rId149"/>
    <p:sldId id="407" r:id="rId150"/>
    <p:sldId id="408" r:id="rId151"/>
    <p:sldId id="409" r:id="rId152"/>
    <p:sldId id="410" r:id="rId153"/>
    <p:sldId id="411" r:id="rId154"/>
    <p:sldId id="412" r:id="rId155"/>
    <p:sldId id="413" r:id="rId156"/>
    <p:sldId id="414" r:id="rId157"/>
    <p:sldId id="415" r:id="rId158"/>
    <p:sldId id="416" r:id="rId159"/>
    <p:sldId id="417" r:id="rId160"/>
    <p:sldId id="418" r:id="rId161"/>
    <p:sldId id="419" r:id="rId162"/>
    <p:sldId id="420" r:id="rId163"/>
    <p:sldId id="421" r:id="rId164"/>
    <p:sldId id="422" r:id="rId165"/>
    <p:sldId id="423" r:id="rId166"/>
    <p:sldId id="424" r:id="rId167"/>
    <p:sldId id="425" r:id="rId168"/>
    <p:sldId id="426" r:id="rId169"/>
    <p:sldId id="427" r:id="rId170"/>
    <p:sldId id="428" r:id="rId171"/>
    <p:sldId id="429" r:id="rId172"/>
    <p:sldId id="430" r:id="rId173"/>
    <p:sldId id="431" r:id="rId174"/>
    <p:sldId id="432" r:id="rId175"/>
    <p:sldId id="433" r:id="rId176"/>
    <p:sldId id="434" r:id="rId177"/>
    <p:sldId id="435" r:id="rId178"/>
    <p:sldId id="436" r:id="rId179"/>
    <p:sldId id="437" r:id="rId180"/>
    <p:sldId id="438" r:id="rId181"/>
    <p:sldId id="439" r:id="rId182"/>
    <p:sldId id="440" r:id="rId183"/>
    <p:sldId id="441" r:id="rId184"/>
    <p:sldId id="442" r:id="rId185"/>
    <p:sldId id="443" r:id="rId186"/>
    <p:sldId id="444" r:id="rId187"/>
    <p:sldId id="445" r:id="rId188"/>
    <p:sldId id="446" r:id="rId189"/>
    <p:sldId id="447" r:id="rId190"/>
    <p:sldId id="448" r:id="rId191"/>
    <p:sldId id="449" r:id="rId192"/>
    <p:sldId id="450" r:id="rId193"/>
    <p:sldId id="451" r:id="rId194"/>
    <p:sldId id="452" r:id="rId195"/>
    <p:sldId id="453" r:id="rId196"/>
    <p:sldId id="454" r:id="rId197"/>
    <p:sldId id="455" r:id="rId198"/>
    <p:sldId id="456" r:id="rId199"/>
    <p:sldId id="457" r:id="rId200"/>
    <p:sldId id="458" r:id="rId201"/>
    <p:sldId id="459" r:id="rId202"/>
    <p:sldId id="460" r:id="rId203"/>
    <p:sldId id="461" r:id="rId204"/>
    <p:sldId id="462" r:id="rId205"/>
    <p:sldId id="463" r:id="rId206"/>
    <p:sldId id="464" r:id="rId207"/>
    <p:sldId id="465" r:id="rId208"/>
    <p:sldId id="466" r:id="rId209"/>
    <p:sldId id="467" r:id="rId210"/>
    <p:sldId id="468" r:id="rId211"/>
    <p:sldId id="469" r:id="rId212"/>
    <p:sldId id="470" r:id="rId213"/>
    <p:sldId id="471" r:id="rId214"/>
    <p:sldId id="472" r:id="rId215"/>
    <p:sldId id="473" r:id="rId216"/>
    <p:sldId id="474" r:id="rId217"/>
    <p:sldId id="475" r:id="rId218"/>
    <p:sldId id="476" r:id="rId219"/>
    <p:sldId id="477" r:id="rId220"/>
    <p:sldId id="478" r:id="rId221"/>
    <p:sldId id="479" r:id="rId222"/>
    <p:sldId id="480" r:id="rId223"/>
    <p:sldId id="481" r:id="rId224"/>
    <p:sldId id="482" r:id="rId225"/>
    <p:sldId id="483" r:id="rId226"/>
    <p:sldId id="484" r:id="rId227"/>
    <p:sldId id="485" r:id="rId228"/>
    <p:sldId id="486" r:id="rId229"/>
    <p:sldId id="487" r:id="rId230"/>
    <p:sldId id="488" r:id="rId231"/>
    <p:sldId id="532" r:id="rId232"/>
    <p:sldId id="533" r:id="rId233"/>
    <p:sldId id="534"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3" r:id="rId268"/>
    <p:sldId id="524" r:id="rId269"/>
    <p:sldId id="525" r:id="rId270"/>
    <p:sldId id="526" r:id="rId271"/>
    <p:sldId id="528" r:id="rId272"/>
    <p:sldId id="529" r:id="rId273"/>
    <p:sldId id="530" r:id="rId274"/>
    <p:sldId id="531" r:id="rId275"/>
    <p:sldId id="535" r:id="rId276"/>
    <p:sldId id="536" r:id="rId277"/>
    <p:sldId id="537" r:id="rId278"/>
    <p:sldId id="538" r:id="rId279"/>
    <p:sldId id="539" r:id="rId280"/>
    <p:sldId id="540" r:id="rId281"/>
    <p:sldId id="541" r:id="rId282"/>
    <p:sldId id="542" r:id="rId283"/>
    <p:sldId id="543" r:id="rId284"/>
    <p:sldId id="544" r:id="rId285"/>
    <p:sldId id="545" r:id="rId286"/>
    <p:sldId id="546" r:id="rId287"/>
    <p:sldId id="547" r:id="rId288"/>
    <p:sldId id="548" r:id="rId289"/>
    <p:sldId id="549" r:id="rId290"/>
    <p:sldId id="550" r:id="rId291"/>
    <p:sldId id="551" r:id="rId292"/>
    <p:sldId id="552" r:id="rId293"/>
    <p:sldId id="553" r:id="rId294"/>
    <p:sldId id="554" r:id="rId295"/>
    <p:sldId id="555" r:id="rId296"/>
    <p:sldId id="556" r:id="rId297"/>
    <p:sldId id="557" r:id="rId298"/>
    <p:sldId id="558" r:id="rId299"/>
    <p:sldId id="559" r:id="rId300"/>
    <p:sldId id="560" r:id="rId301"/>
    <p:sldId id="561" r:id="rId302"/>
    <p:sldId id="562" r:id="rId303"/>
    <p:sldId id="563" r:id="rId304"/>
    <p:sldId id="564" r:id="rId305"/>
    <p:sldId id="565" r:id="rId306"/>
    <p:sldId id="566" r:id="rId307"/>
    <p:sldId id="567" r:id="rId308"/>
    <p:sldId id="568" r:id="rId309"/>
    <p:sldId id="569" r:id="rId310"/>
    <p:sldId id="570" r:id="rId311"/>
    <p:sldId id="571" r:id="rId312"/>
    <p:sldId id="572" r:id="rId313"/>
    <p:sldId id="573" r:id="rId314"/>
    <p:sldId id="574" r:id="rId315"/>
    <p:sldId id="575" r:id="rId316"/>
    <p:sldId id="576" r:id="rId317"/>
    <p:sldId id="577" r:id="rId318"/>
    <p:sldId id="578" r:id="rId319"/>
    <p:sldId id="579" r:id="rId320"/>
    <p:sldId id="580" r:id="rId321"/>
    <p:sldId id="581" r:id="rId322"/>
    <p:sldId id="582" r:id="rId323"/>
    <p:sldId id="583" r:id="rId324"/>
    <p:sldId id="584" r:id="rId325"/>
    <p:sldId id="585" r:id="rId326"/>
    <p:sldId id="586" r:id="rId327"/>
    <p:sldId id="587" r:id="rId328"/>
    <p:sldId id="588" r:id="rId329"/>
    <p:sldId id="589" r:id="rId330"/>
    <p:sldId id="590" r:id="rId331"/>
    <p:sldId id="591" r:id="rId332"/>
    <p:sldId id="592" r:id="rId333"/>
    <p:sldId id="593" r:id="rId334"/>
    <p:sldId id="594" r:id="rId335"/>
    <p:sldId id="595" r:id="rId336"/>
    <p:sldId id="596" r:id="rId337"/>
    <p:sldId id="597" r:id="rId338"/>
    <p:sldId id="598" r:id="rId339"/>
    <p:sldId id="599" r:id="rId340"/>
    <p:sldId id="600" r:id="rId341"/>
    <p:sldId id="601" r:id="rId342"/>
    <p:sldId id="602" r:id="rId343"/>
    <p:sldId id="603" r:id="rId344"/>
    <p:sldId id="604" r:id="rId345"/>
    <p:sldId id="605" r:id="rId346"/>
    <p:sldId id="606" r:id="rId347"/>
    <p:sldId id="607" r:id="rId348"/>
    <p:sldId id="608" r:id="rId349"/>
    <p:sldId id="609" r:id="rId350"/>
    <p:sldId id="610" r:id="rId351"/>
    <p:sldId id="611" r:id="rId352"/>
    <p:sldId id="612" r:id="rId353"/>
    <p:sldId id="613" r:id="rId354"/>
    <p:sldId id="614" r:id="rId355"/>
    <p:sldId id="615" r:id="rId356"/>
    <p:sldId id="616" r:id="rId357"/>
    <p:sldId id="617" r:id="rId358"/>
    <p:sldId id="618" r:id="rId359"/>
    <p:sldId id="619" r:id="rId360"/>
    <p:sldId id="620" r:id="rId361"/>
    <p:sldId id="621" r:id="rId362"/>
    <p:sldId id="622" r:id="rId363"/>
    <p:sldId id="623" r:id="rId364"/>
    <p:sldId id="624" r:id="rId365"/>
    <p:sldId id="625" r:id="rId366"/>
    <p:sldId id="626" r:id="rId367"/>
    <p:sldId id="627" r:id="rId368"/>
    <p:sldId id="628" r:id="rId369"/>
    <p:sldId id="629" r:id="rId370"/>
    <p:sldId id="630" r:id="rId371"/>
    <p:sldId id="631" r:id="rId372"/>
    <p:sldId id="632" r:id="rId373"/>
    <p:sldId id="633" r:id="rId374"/>
    <p:sldId id="634" r:id="rId3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10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presProps" Target="presProps.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theme" Target="theme/theme1.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notesMaster" Target="notesMasters/notesMaster1.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viewProps" Target="viewProps.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tableStyles" Target="tableStyles.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CB0732-766A-4FF1-9AF3-617636E3FE24}" type="datetimeFigureOut">
              <a:rPr lang="en-IN" smtClean="0"/>
              <a:t>06-11-2024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3D90D-9563-41DA-8077-230F984E3464}" type="slidenum">
              <a:rPr lang="en-IN" smtClean="0"/>
              <a:t>‹#›</a:t>
            </a:fld>
            <a:endParaRPr lang="en-IN"/>
          </a:p>
        </p:txBody>
      </p:sp>
    </p:spTree>
    <p:extLst>
      <p:ext uri="{BB962C8B-B14F-4D97-AF65-F5344CB8AC3E}">
        <p14:creationId xmlns:p14="http://schemas.microsoft.com/office/powerpoint/2010/main" val="1580046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2" Type="http://schemas.openxmlformats.org/officeDocument/2006/relationships/slide" Target="../slides/slide336.xml"/><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2" Type="http://schemas.openxmlformats.org/officeDocument/2006/relationships/slide" Target="../slides/slide338.xml"/><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2" Type="http://schemas.openxmlformats.org/officeDocument/2006/relationships/slide" Target="../slides/slide340.xml"/><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2" Type="http://schemas.openxmlformats.org/officeDocument/2006/relationships/slide" Target="../slides/slide344.xml"/><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2" Type="http://schemas.openxmlformats.org/officeDocument/2006/relationships/slide" Target="../slides/slide346.xml"/><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2" Type="http://schemas.openxmlformats.org/officeDocument/2006/relationships/slide" Target="../slides/slide347.xml"/><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2" Type="http://schemas.openxmlformats.org/officeDocument/2006/relationships/slide" Target="../slides/slide348.xml"/><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2" Type="http://schemas.openxmlformats.org/officeDocument/2006/relationships/slide" Target="../slides/slide349.xml"/><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2" Type="http://schemas.openxmlformats.org/officeDocument/2006/relationships/slide" Target="../slides/slide350.xml"/><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2" Type="http://schemas.openxmlformats.org/officeDocument/2006/relationships/slide" Target="../slides/slide351.xml"/><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2" Type="http://schemas.openxmlformats.org/officeDocument/2006/relationships/slide" Target="../slides/slide352.xml"/><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2" Type="http://schemas.openxmlformats.org/officeDocument/2006/relationships/slide" Target="../slides/slide360.xml"/><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2" Type="http://schemas.openxmlformats.org/officeDocument/2006/relationships/slide" Target="../slides/slide361.xml"/><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2" Type="http://schemas.openxmlformats.org/officeDocument/2006/relationships/slide" Target="../slides/slide363.xml"/><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2" Type="http://schemas.openxmlformats.org/officeDocument/2006/relationships/slide" Target="../slides/slide365.xml"/><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2" Type="http://schemas.openxmlformats.org/officeDocument/2006/relationships/slide" Target="../slides/slide367.xml"/><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2" Type="http://schemas.openxmlformats.org/officeDocument/2006/relationships/slide" Target="../slides/slide368.xml"/><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2" Type="http://schemas.openxmlformats.org/officeDocument/2006/relationships/slide" Target="../slides/slide369.xml"/><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2" Type="http://schemas.openxmlformats.org/officeDocument/2006/relationships/slide" Target="../slides/slide370.xml"/><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2" Type="http://schemas.openxmlformats.org/officeDocument/2006/relationships/slide" Target="../slides/slide371.xml"/><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2" Type="http://schemas.openxmlformats.org/officeDocument/2006/relationships/slide" Target="../slides/slide372.xml"/><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2" Type="http://schemas.openxmlformats.org/officeDocument/2006/relationships/slide" Target="../slides/slide373.xml"/><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2" Type="http://schemas.openxmlformats.org/officeDocument/2006/relationships/slide" Target="../slides/slide3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a:t>
            </a:fld>
            <a:endParaRPr lang="en-IN"/>
          </a:p>
        </p:txBody>
      </p:sp>
    </p:spTree>
    <p:extLst>
      <p:ext uri="{BB962C8B-B14F-4D97-AF65-F5344CB8AC3E}">
        <p14:creationId xmlns:p14="http://schemas.microsoft.com/office/powerpoint/2010/main" val="4106024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a:t>
            </a:fld>
            <a:endParaRPr lang="en-IN"/>
          </a:p>
        </p:txBody>
      </p:sp>
    </p:spTree>
    <p:extLst>
      <p:ext uri="{BB962C8B-B14F-4D97-AF65-F5344CB8AC3E}">
        <p14:creationId xmlns:p14="http://schemas.microsoft.com/office/powerpoint/2010/main" val="1590894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a:t>
            </a:fld>
            <a:endParaRPr lang="en-IN"/>
          </a:p>
        </p:txBody>
      </p:sp>
    </p:spTree>
    <p:extLst>
      <p:ext uri="{BB962C8B-B14F-4D97-AF65-F5344CB8AC3E}">
        <p14:creationId xmlns:p14="http://schemas.microsoft.com/office/powerpoint/2010/main" val="3434453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a:t>
            </a:fld>
            <a:endParaRPr lang="en-IN"/>
          </a:p>
        </p:txBody>
      </p:sp>
    </p:spTree>
    <p:extLst>
      <p:ext uri="{BB962C8B-B14F-4D97-AF65-F5344CB8AC3E}">
        <p14:creationId xmlns:p14="http://schemas.microsoft.com/office/powerpoint/2010/main" val="3488354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a:t>
            </a:fld>
            <a:endParaRPr lang="en-IN"/>
          </a:p>
        </p:txBody>
      </p:sp>
    </p:spTree>
    <p:extLst>
      <p:ext uri="{BB962C8B-B14F-4D97-AF65-F5344CB8AC3E}">
        <p14:creationId xmlns:p14="http://schemas.microsoft.com/office/powerpoint/2010/main" val="4062971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a:t>
            </a:fld>
            <a:endParaRPr lang="en-IN"/>
          </a:p>
        </p:txBody>
      </p:sp>
    </p:spTree>
    <p:extLst>
      <p:ext uri="{BB962C8B-B14F-4D97-AF65-F5344CB8AC3E}">
        <p14:creationId xmlns:p14="http://schemas.microsoft.com/office/powerpoint/2010/main" val="3340647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a:t>
            </a:fld>
            <a:endParaRPr lang="en-IN"/>
          </a:p>
        </p:txBody>
      </p:sp>
    </p:spTree>
    <p:extLst>
      <p:ext uri="{BB962C8B-B14F-4D97-AF65-F5344CB8AC3E}">
        <p14:creationId xmlns:p14="http://schemas.microsoft.com/office/powerpoint/2010/main" val="3316933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a:t>
            </a:fld>
            <a:endParaRPr lang="en-IN"/>
          </a:p>
        </p:txBody>
      </p:sp>
    </p:spTree>
    <p:extLst>
      <p:ext uri="{BB962C8B-B14F-4D97-AF65-F5344CB8AC3E}">
        <p14:creationId xmlns:p14="http://schemas.microsoft.com/office/powerpoint/2010/main" val="1490102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a:t>
            </a:fld>
            <a:endParaRPr lang="en-IN"/>
          </a:p>
        </p:txBody>
      </p:sp>
    </p:spTree>
    <p:extLst>
      <p:ext uri="{BB962C8B-B14F-4D97-AF65-F5344CB8AC3E}">
        <p14:creationId xmlns:p14="http://schemas.microsoft.com/office/powerpoint/2010/main" val="2414036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a:t>
            </a:fld>
            <a:endParaRPr lang="en-IN"/>
          </a:p>
        </p:txBody>
      </p:sp>
    </p:spTree>
    <p:extLst>
      <p:ext uri="{BB962C8B-B14F-4D97-AF65-F5344CB8AC3E}">
        <p14:creationId xmlns:p14="http://schemas.microsoft.com/office/powerpoint/2010/main" val="2311440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a:t>
            </a:fld>
            <a:endParaRPr lang="en-IN"/>
          </a:p>
        </p:txBody>
      </p:sp>
    </p:spTree>
    <p:extLst>
      <p:ext uri="{BB962C8B-B14F-4D97-AF65-F5344CB8AC3E}">
        <p14:creationId xmlns:p14="http://schemas.microsoft.com/office/powerpoint/2010/main" val="3848936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a:t>
            </a:fld>
            <a:endParaRPr lang="en-IN"/>
          </a:p>
        </p:txBody>
      </p:sp>
    </p:spTree>
    <p:extLst>
      <p:ext uri="{BB962C8B-B14F-4D97-AF65-F5344CB8AC3E}">
        <p14:creationId xmlns:p14="http://schemas.microsoft.com/office/powerpoint/2010/main" val="3207407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a:t>
            </a:fld>
            <a:endParaRPr lang="en-IN"/>
          </a:p>
        </p:txBody>
      </p:sp>
    </p:spTree>
    <p:extLst>
      <p:ext uri="{BB962C8B-B14F-4D97-AF65-F5344CB8AC3E}">
        <p14:creationId xmlns:p14="http://schemas.microsoft.com/office/powerpoint/2010/main" val="1680150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a:t>
            </a:fld>
            <a:endParaRPr lang="en-IN"/>
          </a:p>
        </p:txBody>
      </p:sp>
    </p:spTree>
    <p:extLst>
      <p:ext uri="{BB962C8B-B14F-4D97-AF65-F5344CB8AC3E}">
        <p14:creationId xmlns:p14="http://schemas.microsoft.com/office/powerpoint/2010/main" val="4074547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a:t>
            </a:fld>
            <a:endParaRPr lang="en-IN"/>
          </a:p>
        </p:txBody>
      </p:sp>
    </p:spTree>
    <p:extLst>
      <p:ext uri="{BB962C8B-B14F-4D97-AF65-F5344CB8AC3E}">
        <p14:creationId xmlns:p14="http://schemas.microsoft.com/office/powerpoint/2010/main" val="3723187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a:t>
            </a:fld>
            <a:endParaRPr lang="en-IN"/>
          </a:p>
        </p:txBody>
      </p:sp>
    </p:spTree>
    <p:extLst>
      <p:ext uri="{BB962C8B-B14F-4D97-AF65-F5344CB8AC3E}">
        <p14:creationId xmlns:p14="http://schemas.microsoft.com/office/powerpoint/2010/main" val="2503946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a:t>
            </a:fld>
            <a:endParaRPr lang="en-IN"/>
          </a:p>
        </p:txBody>
      </p:sp>
    </p:spTree>
    <p:extLst>
      <p:ext uri="{BB962C8B-B14F-4D97-AF65-F5344CB8AC3E}">
        <p14:creationId xmlns:p14="http://schemas.microsoft.com/office/powerpoint/2010/main" val="1627588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a:t>
            </a:fld>
            <a:endParaRPr lang="en-IN"/>
          </a:p>
        </p:txBody>
      </p:sp>
    </p:spTree>
    <p:extLst>
      <p:ext uri="{BB962C8B-B14F-4D97-AF65-F5344CB8AC3E}">
        <p14:creationId xmlns:p14="http://schemas.microsoft.com/office/powerpoint/2010/main" val="916209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a:t>
            </a:fld>
            <a:endParaRPr lang="en-IN"/>
          </a:p>
        </p:txBody>
      </p:sp>
    </p:spTree>
    <p:extLst>
      <p:ext uri="{BB962C8B-B14F-4D97-AF65-F5344CB8AC3E}">
        <p14:creationId xmlns:p14="http://schemas.microsoft.com/office/powerpoint/2010/main" val="427333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a:t>
            </a:fld>
            <a:endParaRPr lang="en-IN"/>
          </a:p>
        </p:txBody>
      </p:sp>
    </p:spTree>
    <p:extLst>
      <p:ext uri="{BB962C8B-B14F-4D97-AF65-F5344CB8AC3E}">
        <p14:creationId xmlns:p14="http://schemas.microsoft.com/office/powerpoint/2010/main" val="3576843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a:t>
            </a:fld>
            <a:endParaRPr lang="en-IN"/>
          </a:p>
        </p:txBody>
      </p:sp>
    </p:spTree>
    <p:extLst>
      <p:ext uri="{BB962C8B-B14F-4D97-AF65-F5344CB8AC3E}">
        <p14:creationId xmlns:p14="http://schemas.microsoft.com/office/powerpoint/2010/main" val="26936190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a:t>
            </a:fld>
            <a:endParaRPr lang="en-IN"/>
          </a:p>
        </p:txBody>
      </p:sp>
    </p:spTree>
    <p:extLst>
      <p:ext uri="{BB962C8B-B14F-4D97-AF65-F5344CB8AC3E}">
        <p14:creationId xmlns:p14="http://schemas.microsoft.com/office/powerpoint/2010/main" val="2880295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a:t>
            </a:fld>
            <a:endParaRPr lang="en-IN"/>
          </a:p>
        </p:txBody>
      </p:sp>
    </p:spTree>
    <p:extLst>
      <p:ext uri="{BB962C8B-B14F-4D97-AF65-F5344CB8AC3E}">
        <p14:creationId xmlns:p14="http://schemas.microsoft.com/office/powerpoint/2010/main" val="2148013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a:t>
            </a:fld>
            <a:endParaRPr lang="en-IN"/>
          </a:p>
        </p:txBody>
      </p:sp>
    </p:spTree>
    <p:extLst>
      <p:ext uri="{BB962C8B-B14F-4D97-AF65-F5344CB8AC3E}">
        <p14:creationId xmlns:p14="http://schemas.microsoft.com/office/powerpoint/2010/main" val="1000639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32</a:t>
            </a:fld>
            <a:endParaRPr lang="en-IN"/>
          </a:p>
        </p:txBody>
      </p:sp>
    </p:spTree>
    <p:extLst>
      <p:ext uri="{BB962C8B-B14F-4D97-AF65-F5344CB8AC3E}">
        <p14:creationId xmlns:p14="http://schemas.microsoft.com/office/powerpoint/2010/main" val="6240996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33</a:t>
            </a:fld>
            <a:endParaRPr lang="en-IN"/>
          </a:p>
        </p:txBody>
      </p:sp>
    </p:spTree>
    <p:extLst>
      <p:ext uri="{BB962C8B-B14F-4D97-AF65-F5344CB8AC3E}">
        <p14:creationId xmlns:p14="http://schemas.microsoft.com/office/powerpoint/2010/main" val="1432158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34</a:t>
            </a:fld>
            <a:endParaRPr lang="en-IN"/>
          </a:p>
        </p:txBody>
      </p:sp>
    </p:spTree>
    <p:extLst>
      <p:ext uri="{BB962C8B-B14F-4D97-AF65-F5344CB8AC3E}">
        <p14:creationId xmlns:p14="http://schemas.microsoft.com/office/powerpoint/2010/main" val="36554858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35</a:t>
            </a:fld>
            <a:endParaRPr lang="en-IN"/>
          </a:p>
        </p:txBody>
      </p:sp>
    </p:spTree>
    <p:extLst>
      <p:ext uri="{BB962C8B-B14F-4D97-AF65-F5344CB8AC3E}">
        <p14:creationId xmlns:p14="http://schemas.microsoft.com/office/powerpoint/2010/main" val="14250852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36</a:t>
            </a:fld>
            <a:endParaRPr lang="en-IN"/>
          </a:p>
        </p:txBody>
      </p:sp>
    </p:spTree>
    <p:extLst>
      <p:ext uri="{BB962C8B-B14F-4D97-AF65-F5344CB8AC3E}">
        <p14:creationId xmlns:p14="http://schemas.microsoft.com/office/powerpoint/2010/main" val="33160059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37</a:t>
            </a:fld>
            <a:endParaRPr lang="en-IN"/>
          </a:p>
        </p:txBody>
      </p:sp>
    </p:spTree>
    <p:extLst>
      <p:ext uri="{BB962C8B-B14F-4D97-AF65-F5344CB8AC3E}">
        <p14:creationId xmlns:p14="http://schemas.microsoft.com/office/powerpoint/2010/main" val="3171166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38</a:t>
            </a:fld>
            <a:endParaRPr lang="en-IN"/>
          </a:p>
        </p:txBody>
      </p:sp>
    </p:spTree>
    <p:extLst>
      <p:ext uri="{BB962C8B-B14F-4D97-AF65-F5344CB8AC3E}">
        <p14:creationId xmlns:p14="http://schemas.microsoft.com/office/powerpoint/2010/main" val="32007770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39</a:t>
            </a:fld>
            <a:endParaRPr lang="en-IN"/>
          </a:p>
        </p:txBody>
      </p:sp>
    </p:spTree>
    <p:extLst>
      <p:ext uri="{BB962C8B-B14F-4D97-AF65-F5344CB8AC3E}">
        <p14:creationId xmlns:p14="http://schemas.microsoft.com/office/powerpoint/2010/main" val="16510954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40</a:t>
            </a:fld>
            <a:endParaRPr lang="en-IN"/>
          </a:p>
        </p:txBody>
      </p:sp>
    </p:spTree>
    <p:extLst>
      <p:ext uri="{BB962C8B-B14F-4D97-AF65-F5344CB8AC3E}">
        <p14:creationId xmlns:p14="http://schemas.microsoft.com/office/powerpoint/2010/main" val="3372242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41</a:t>
            </a:fld>
            <a:endParaRPr lang="en-IN"/>
          </a:p>
        </p:txBody>
      </p:sp>
    </p:spTree>
    <p:extLst>
      <p:ext uri="{BB962C8B-B14F-4D97-AF65-F5344CB8AC3E}">
        <p14:creationId xmlns:p14="http://schemas.microsoft.com/office/powerpoint/2010/main" val="21450541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42</a:t>
            </a:fld>
            <a:endParaRPr lang="en-IN"/>
          </a:p>
        </p:txBody>
      </p:sp>
    </p:spTree>
    <p:extLst>
      <p:ext uri="{BB962C8B-B14F-4D97-AF65-F5344CB8AC3E}">
        <p14:creationId xmlns:p14="http://schemas.microsoft.com/office/powerpoint/2010/main" val="13223415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43</a:t>
            </a:fld>
            <a:endParaRPr lang="en-IN"/>
          </a:p>
        </p:txBody>
      </p:sp>
    </p:spTree>
    <p:extLst>
      <p:ext uri="{BB962C8B-B14F-4D97-AF65-F5344CB8AC3E}">
        <p14:creationId xmlns:p14="http://schemas.microsoft.com/office/powerpoint/2010/main" val="25522985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44</a:t>
            </a:fld>
            <a:endParaRPr lang="en-IN"/>
          </a:p>
        </p:txBody>
      </p:sp>
    </p:spTree>
    <p:extLst>
      <p:ext uri="{BB962C8B-B14F-4D97-AF65-F5344CB8AC3E}">
        <p14:creationId xmlns:p14="http://schemas.microsoft.com/office/powerpoint/2010/main" val="12219073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45</a:t>
            </a:fld>
            <a:endParaRPr lang="en-IN"/>
          </a:p>
        </p:txBody>
      </p:sp>
    </p:spTree>
    <p:extLst>
      <p:ext uri="{BB962C8B-B14F-4D97-AF65-F5344CB8AC3E}">
        <p14:creationId xmlns:p14="http://schemas.microsoft.com/office/powerpoint/2010/main" val="7608179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46</a:t>
            </a:fld>
            <a:endParaRPr lang="en-IN"/>
          </a:p>
        </p:txBody>
      </p:sp>
    </p:spTree>
    <p:extLst>
      <p:ext uri="{BB962C8B-B14F-4D97-AF65-F5344CB8AC3E}">
        <p14:creationId xmlns:p14="http://schemas.microsoft.com/office/powerpoint/2010/main" val="6826828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47</a:t>
            </a:fld>
            <a:endParaRPr lang="en-IN"/>
          </a:p>
        </p:txBody>
      </p:sp>
    </p:spTree>
    <p:extLst>
      <p:ext uri="{BB962C8B-B14F-4D97-AF65-F5344CB8AC3E}">
        <p14:creationId xmlns:p14="http://schemas.microsoft.com/office/powerpoint/2010/main" val="19164770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48</a:t>
            </a:fld>
            <a:endParaRPr lang="en-IN"/>
          </a:p>
        </p:txBody>
      </p:sp>
    </p:spTree>
    <p:extLst>
      <p:ext uri="{BB962C8B-B14F-4D97-AF65-F5344CB8AC3E}">
        <p14:creationId xmlns:p14="http://schemas.microsoft.com/office/powerpoint/2010/main" val="18914167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49</a:t>
            </a:fld>
            <a:endParaRPr lang="en-IN"/>
          </a:p>
        </p:txBody>
      </p:sp>
    </p:spTree>
    <p:extLst>
      <p:ext uri="{BB962C8B-B14F-4D97-AF65-F5344CB8AC3E}">
        <p14:creationId xmlns:p14="http://schemas.microsoft.com/office/powerpoint/2010/main" val="8307473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50</a:t>
            </a:fld>
            <a:endParaRPr lang="en-IN"/>
          </a:p>
        </p:txBody>
      </p:sp>
    </p:spTree>
    <p:extLst>
      <p:ext uri="{BB962C8B-B14F-4D97-AF65-F5344CB8AC3E}">
        <p14:creationId xmlns:p14="http://schemas.microsoft.com/office/powerpoint/2010/main" val="41787195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51</a:t>
            </a:fld>
            <a:endParaRPr lang="en-IN"/>
          </a:p>
        </p:txBody>
      </p:sp>
    </p:spTree>
    <p:extLst>
      <p:ext uri="{BB962C8B-B14F-4D97-AF65-F5344CB8AC3E}">
        <p14:creationId xmlns:p14="http://schemas.microsoft.com/office/powerpoint/2010/main" val="19685957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52</a:t>
            </a:fld>
            <a:endParaRPr lang="en-IN"/>
          </a:p>
        </p:txBody>
      </p:sp>
    </p:spTree>
    <p:extLst>
      <p:ext uri="{BB962C8B-B14F-4D97-AF65-F5344CB8AC3E}">
        <p14:creationId xmlns:p14="http://schemas.microsoft.com/office/powerpoint/2010/main" val="6687704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53</a:t>
            </a:fld>
            <a:endParaRPr lang="en-IN"/>
          </a:p>
        </p:txBody>
      </p:sp>
    </p:spTree>
    <p:extLst>
      <p:ext uri="{BB962C8B-B14F-4D97-AF65-F5344CB8AC3E}">
        <p14:creationId xmlns:p14="http://schemas.microsoft.com/office/powerpoint/2010/main" val="34840047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54</a:t>
            </a:fld>
            <a:endParaRPr lang="en-IN"/>
          </a:p>
        </p:txBody>
      </p:sp>
    </p:spTree>
    <p:extLst>
      <p:ext uri="{BB962C8B-B14F-4D97-AF65-F5344CB8AC3E}">
        <p14:creationId xmlns:p14="http://schemas.microsoft.com/office/powerpoint/2010/main" val="4090627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55</a:t>
            </a:fld>
            <a:endParaRPr lang="en-IN"/>
          </a:p>
        </p:txBody>
      </p:sp>
    </p:spTree>
    <p:extLst>
      <p:ext uri="{BB962C8B-B14F-4D97-AF65-F5344CB8AC3E}">
        <p14:creationId xmlns:p14="http://schemas.microsoft.com/office/powerpoint/2010/main" val="20236753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56</a:t>
            </a:fld>
            <a:endParaRPr lang="en-IN"/>
          </a:p>
        </p:txBody>
      </p:sp>
    </p:spTree>
    <p:extLst>
      <p:ext uri="{BB962C8B-B14F-4D97-AF65-F5344CB8AC3E}">
        <p14:creationId xmlns:p14="http://schemas.microsoft.com/office/powerpoint/2010/main" val="17452051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57</a:t>
            </a:fld>
            <a:endParaRPr lang="en-IN"/>
          </a:p>
        </p:txBody>
      </p:sp>
    </p:spTree>
    <p:extLst>
      <p:ext uri="{BB962C8B-B14F-4D97-AF65-F5344CB8AC3E}">
        <p14:creationId xmlns:p14="http://schemas.microsoft.com/office/powerpoint/2010/main" val="1440974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58</a:t>
            </a:fld>
            <a:endParaRPr lang="en-IN"/>
          </a:p>
        </p:txBody>
      </p:sp>
    </p:spTree>
    <p:extLst>
      <p:ext uri="{BB962C8B-B14F-4D97-AF65-F5344CB8AC3E}">
        <p14:creationId xmlns:p14="http://schemas.microsoft.com/office/powerpoint/2010/main" val="6474861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59</a:t>
            </a:fld>
            <a:endParaRPr lang="en-IN"/>
          </a:p>
        </p:txBody>
      </p:sp>
    </p:spTree>
    <p:extLst>
      <p:ext uri="{BB962C8B-B14F-4D97-AF65-F5344CB8AC3E}">
        <p14:creationId xmlns:p14="http://schemas.microsoft.com/office/powerpoint/2010/main" val="3088133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60</a:t>
            </a:fld>
            <a:endParaRPr lang="en-IN"/>
          </a:p>
        </p:txBody>
      </p:sp>
    </p:spTree>
    <p:extLst>
      <p:ext uri="{BB962C8B-B14F-4D97-AF65-F5344CB8AC3E}">
        <p14:creationId xmlns:p14="http://schemas.microsoft.com/office/powerpoint/2010/main" val="23397568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61</a:t>
            </a:fld>
            <a:endParaRPr lang="en-IN"/>
          </a:p>
        </p:txBody>
      </p:sp>
    </p:spTree>
    <p:extLst>
      <p:ext uri="{BB962C8B-B14F-4D97-AF65-F5344CB8AC3E}">
        <p14:creationId xmlns:p14="http://schemas.microsoft.com/office/powerpoint/2010/main" val="21360411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62</a:t>
            </a:fld>
            <a:endParaRPr lang="en-IN"/>
          </a:p>
        </p:txBody>
      </p:sp>
    </p:spTree>
    <p:extLst>
      <p:ext uri="{BB962C8B-B14F-4D97-AF65-F5344CB8AC3E}">
        <p14:creationId xmlns:p14="http://schemas.microsoft.com/office/powerpoint/2010/main" val="14905166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63</a:t>
            </a:fld>
            <a:endParaRPr lang="en-IN"/>
          </a:p>
        </p:txBody>
      </p:sp>
    </p:spTree>
    <p:extLst>
      <p:ext uri="{BB962C8B-B14F-4D97-AF65-F5344CB8AC3E}">
        <p14:creationId xmlns:p14="http://schemas.microsoft.com/office/powerpoint/2010/main" val="27007911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64</a:t>
            </a:fld>
            <a:endParaRPr lang="en-IN"/>
          </a:p>
        </p:txBody>
      </p:sp>
    </p:spTree>
    <p:extLst>
      <p:ext uri="{BB962C8B-B14F-4D97-AF65-F5344CB8AC3E}">
        <p14:creationId xmlns:p14="http://schemas.microsoft.com/office/powerpoint/2010/main" val="21541906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65</a:t>
            </a:fld>
            <a:endParaRPr lang="en-IN"/>
          </a:p>
        </p:txBody>
      </p:sp>
    </p:spTree>
    <p:extLst>
      <p:ext uri="{BB962C8B-B14F-4D97-AF65-F5344CB8AC3E}">
        <p14:creationId xmlns:p14="http://schemas.microsoft.com/office/powerpoint/2010/main" val="18365110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66</a:t>
            </a:fld>
            <a:endParaRPr lang="en-IN"/>
          </a:p>
        </p:txBody>
      </p:sp>
    </p:spTree>
    <p:extLst>
      <p:ext uri="{BB962C8B-B14F-4D97-AF65-F5344CB8AC3E}">
        <p14:creationId xmlns:p14="http://schemas.microsoft.com/office/powerpoint/2010/main" val="32015342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67</a:t>
            </a:fld>
            <a:endParaRPr lang="en-IN"/>
          </a:p>
        </p:txBody>
      </p:sp>
    </p:spTree>
    <p:extLst>
      <p:ext uri="{BB962C8B-B14F-4D97-AF65-F5344CB8AC3E}">
        <p14:creationId xmlns:p14="http://schemas.microsoft.com/office/powerpoint/2010/main" val="25326401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68</a:t>
            </a:fld>
            <a:endParaRPr lang="en-IN"/>
          </a:p>
        </p:txBody>
      </p:sp>
    </p:spTree>
    <p:extLst>
      <p:ext uri="{BB962C8B-B14F-4D97-AF65-F5344CB8AC3E}">
        <p14:creationId xmlns:p14="http://schemas.microsoft.com/office/powerpoint/2010/main" val="31082110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69</a:t>
            </a:fld>
            <a:endParaRPr lang="en-IN"/>
          </a:p>
        </p:txBody>
      </p:sp>
    </p:spTree>
    <p:extLst>
      <p:ext uri="{BB962C8B-B14F-4D97-AF65-F5344CB8AC3E}">
        <p14:creationId xmlns:p14="http://schemas.microsoft.com/office/powerpoint/2010/main" val="329704343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70</a:t>
            </a:fld>
            <a:endParaRPr lang="en-IN"/>
          </a:p>
        </p:txBody>
      </p:sp>
    </p:spTree>
    <p:extLst>
      <p:ext uri="{BB962C8B-B14F-4D97-AF65-F5344CB8AC3E}">
        <p14:creationId xmlns:p14="http://schemas.microsoft.com/office/powerpoint/2010/main" val="181189899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71</a:t>
            </a:fld>
            <a:endParaRPr lang="en-IN"/>
          </a:p>
        </p:txBody>
      </p:sp>
    </p:spTree>
    <p:extLst>
      <p:ext uri="{BB962C8B-B14F-4D97-AF65-F5344CB8AC3E}">
        <p14:creationId xmlns:p14="http://schemas.microsoft.com/office/powerpoint/2010/main" val="18086930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72</a:t>
            </a:fld>
            <a:endParaRPr lang="en-IN"/>
          </a:p>
        </p:txBody>
      </p:sp>
    </p:spTree>
    <p:extLst>
      <p:ext uri="{BB962C8B-B14F-4D97-AF65-F5344CB8AC3E}">
        <p14:creationId xmlns:p14="http://schemas.microsoft.com/office/powerpoint/2010/main" val="4581377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73</a:t>
            </a:fld>
            <a:endParaRPr lang="en-IN"/>
          </a:p>
        </p:txBody>
      </p:sp>
    </p:spTree>
    <p:extLst>
      <p:ext uri="{BB962C8B-B14F-4D97-AF65-F5344CB8AC3E}">
        <p14:creationId xmlns:p14="http://schemas.microsoft.com/office/powerpoint/2010/main" val="13568389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74</a:t>
            </a:fld>
            <a:endParaRPr lang="en-IN"/>
          </a:p>
        </p:txBody>
      </p:sp>
    </p:spTree>
    <p:extLst>
      <p:ext uri="{BB962C8B-B14F-4D97-AF65-F5344CB8AC3E}">
        <p14:creationId xmlns:p14="http://schemas.microsoft.com/office/powerpoint/2010/main" val="24120236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75</a:t>
            </a:fld>
            <a:endParaRPr lang="en-IN"/>
          </a:p>
        </p:txBody>
      </p:sp>
    </p:spTree>
    <p:extLst>
      <p:ext uri="{BB962C8B-B14F-4D97-AF65-F5344CB8AC3E}">
        <p14:creationId xmlns:p14="http://schemas.microsoft.com/office/powerpoint/2010/main" val="3246469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76</a:t>
            </a:fld>
            <a:endParaRPr lang="en-IN"/>
          </a:p>
        </p:txBody>
      </p:sp>
    </p:spTree>
    <p:extLst>
      <p:ext uri="{BB962C8B-B14F-4D97-AF65-F5344CB8AC3E}">
        <p14:creationId xmlns:p14="http://schemas.microsoft.com/office/powerpoint/2010/main" val="10035477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77</a:t>
            </a:fld>
            <a:endParaRPr lang="en-IN"/>
          </a:p>
        </p:txBody>
      </p:sp>
    </p:spTree>
    <p:extLst>
      <p:ext uri="{BB962C8B-B14F-4D97-AF65-F5344CB8AC3E}">
        <p14:creationId xmlns:p14="http://schemas.microsoft.com/office/powerpoint/2010/main" val="224301806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78</a:t>
            </a:fld>
            <a:endParaRPr lang="en-IN"/>
          </a:p>
        </p:txBody>
      </p:sp>
    </p:spTree>
    <p:extLst>
      <p:ext uri="{BB962C8B-B14F-4D97-AF65-F5344CB8AC3E}">
        <p14:creationId xmlns:p14="http://schemas.microsoft.com/office/powerpoint/2010/main" val="22526454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79</a:t>
            </a:fld>
            <a:endParaRPr lang="en-IN"/>
          </a:p>
        </p:txBody>
      </p:sp>
    </p:spTree>
    <p:extLst>
      <p:ext uri="{BB962C8B-B14F-4D97-AF65-F5344CB8AC3E}">
        <p14:creationId xmlns:p14="http://schemas.microsoft.com/office/powerpoint/2010/main" val="65543187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80</a:t>
            </a:fld>
            <a:endParaRPr lang="en-IN"/>
          </a:p>
        </p:txBody>
      </p:sp>
    </p:spTree>
    <p:extLst>
      <p:ext uri="{BB962C8B-B14F-4D97-AF65-F5344CB8AC3E}">
        <p14:creationId xmlns:p14="http://schemas.microsoft.com/office/powerpoint/2010/main" val="45213859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81</a:t>
            </a:fld>
            <a:endParaRPr lang="en-IN"/>
          </a:p>
        </p:txBody>
      </p:sp>
    </p:spTree>
    <p:extLst>
      <p:ext uri="{BB962C8B-B14F-4D97-AF65-F5344CB8AC3E}">
        <p14:creationId xmlns:p14="http://schemas.microsoft.com/office/powerpoint/2010/main" val="18260975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82</a:t>
            </a:fld>
            <a:endParaRPr lang="en-IN"/>
          </a:p>
        </p:txBody>
      </p:sp>
    </p:spTree>
    <p:extLst>
      <p:ext uri="{BB962C8B-B14F-4D97-AF65-F5344CB8AC3E}">
        <p14:creationId xmlns:p14="http://schemas.microsoft.com/office/powerpoint/2010/main" val="46618633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83</a:t>
            </a:fld>
            <a:endParaRPr lang="en-IN"/>
          </a:p>
        </p:txBody>
      </p:sp>
    </p:spTree>
    <p:extLst>
      <p:ext uri="{BB962C8B-B14F-4D97-AF65-F5344CB8AC3E}">
        <p14:creationId xmlns:p14="http://schemas.microsoft.com/office/powerpoint/2010/main" val="26682788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84</a:t>
            </a:fld>
            <a:endParaRPr lang="en-IN"/>
          </a:p>
        </p:txBody>
      </p:sp>
    </p:spTree>
    <p:extLst>
      <p:ext uri="{BB962C8B-B14F-4D97-AF65-F5344CB8AC3E}">
        <p14:creationId xmlns:p14="http://schemas.microsoft.com/office/powerpoint/2010/main" val="18283922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85</a:t>
            </a:fld>
            <a:endParaRPr lang="en-IN"/>
          </a:p>
        </p:txBody>
      </p:sp>
    </p:spTree>
    <p:extLst>
      <p:ext uri="{BB962C8B-B14F-4D97-AF65-F5344CB8AC3E}">
        <p14:creationId xmlns:p14="http://schemas.microsoft.com/office/powerpoint/2010/main" val="41165962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86</a:t>
            </a:fld>
            <a:endParaRPr lang="en-IN"/>
          </a:p>
        </p:txBody>
      </p:sp>
    </p:spTree>
    <p:extLst>
      <p:ext uri="{BB962C8B-B14F-4D97-AF65-F5344CB8AC3E}">
        <p14:creationId xmlns:p14="http://schemas.microsoft.com/office/powerpoint/2010/main" val="33217764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87</a:t>
            </a:fld>
            <a:endParaRPr lang="en-IN"/>
          </a:p>
        </p:txBody>
      </p:sp>
    </p:spTree>
    <p:extLst>
      <p:ext uri="{BB962C8B-B14F-4D97-AF65-F5344CB8AC3E}">
        <p14:creationId xmlns:p14="http://schemas.microsoft.com/office/powerpoint/2010/main" val="373831938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88</a:t>
            </a:fld>
            <a:endParaRPr lang="en-IN"/>
          </a:p>
        </p:txBody>
      </p:sp>
    </p:spTree>
    <p:extLst>
      <p:ext uri="{BB962C8B-B14F-4D97-AF65-F5344CB8AC3E}">
        <p14:creationId xmlns:p14="http://schemas.microsoft.com/office/powerpoint/2010/main" val="59085608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89</a:t>
            </a:fld>
            <a:endParaRPr lang="en-IN"/>
          </a:p>
        </p:txBody>
      </p:sp>
    </p:spTree>
    <p:extLst>
      <p:ext uri="{BB962C8B-B14F-4D97-AF65-F5344CB8AC3E}">
        <p14:creationId xmlns:p14="http://schemas.microsoft.com/office/powerpoint/2010/main" val="198493123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90</a:t>
            </a:fld>
            <a:endParaRPr lang="en-IN"/>
          </a:p>
        </p:txBody>
      </p:sp>
    </p:spTree>
    <p:extLst>
      <p:ext uri="{BB962C8B-B14F-4D97-AF65-F5344CB8AC3E}">
        <p14:creationId xmlns:p14="http://schemas.microsoft.com/office/powerpoint/2010/main" val="297048899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91</a:t>
            </a:fld>
            <a:endParaRPr lang="en-IN"/>
          </a:p>
        </p:txBody>
      </p:sp>
    </p:spTree>
    <p:extLst>
      <p:ext uri="{BB962C8B-B14F-4D97-AF65-F5344CB8AC3E}">
        <p14:creationId xmlns:p14="http://schemas.microsoft.com/office/powerpoint/2010/main" val="3546375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92</a:t>
            </a:fld>
            <a:endParaRPr lang="en-IN"/>
          </a:p>
        </p:txBody>
      </p:sp>
    </p:spTree>
    <p:extLst>
      <p:ext uri="{BB962C8B-B14F-4D97-AF65-F5344CB8AC3E}">
        <p14:creationId xmlns:p14="http://schemas.microsoft.com/office/powerpoint/2010/main" val="131584876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93</a:t>
            </a:fld>
            <a:endParaRPr lang="en-IN"/>
          </a:p>
        </p:txBody>
      </p:sp>
    </p:spTree>
    <p:extLst>
      <p:ext uri="{BB962C8B-B14F-4D97-AF65-F5344CB8AC3E}">
        <p14:creationId xmlns:p14="http://schemas.microsoft.com/office/powerpoint/2010/main" val="184090844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94</a:t>
            </a:fld>
            <a:endParaRPr lang="en-IN"/>
          </a:p>
        </p:txBody>
      </p:sp>
    </p:spTree>
    <p:extLst>
      <p:ext uri="{BB962C8B-B14F-4D97-AF65-F5344CB8AC3E}">
        <p14:creationId xmlns:p14="http://schemas.microsoft.com/office/powerpoint/2010/main" val="37721833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95</a:t>
            </a:fld>
            <a:endParaRPr lang="en-IN"/>
          </a:p>
        </p:txBody>
      </p:sp>
    </p:spTree>
    <p:extLst>
      <p:ext uri="{BB962C8B-B14F-4D97-AF65-F5344CB8AC3E}">
        <p14:creationId xmlns:p14="http://schemas.microsoft.com/office/powerpoint/2010/main" val="320196469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96</a:t>
            </a:fld>
            <a:endParaRPr lang="en-IN"/>
          </a:p>
        </p:txBody>
      </p:sp>
    </p:spTree>
    <p:extLst>
      <p:ext uri="{BB962C8B-B14F-4D97-AF65-F5344CB8AC3E}">
        <p14:creationId xmlns:p14="http://schemas.microsoft.com/office/powerpoint/2010/main" val="348846764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97</a:t>
            </a:fld>
            <a:endParaRPr lang="en-IN"/>
          </a:p>
        </p:txBody>
      </p:sp>
    </p:spTree>
    <p:extLst>
      <p:ext uri="{BB962C8B-B14F-4D97-AF65-F5344CB8AC3E}">
        <p14:creationId xmlns:p14="http://schemas.microsoft.com/office/powerpoint/2010/main" val="200906454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98</a:t>
            </a:fld>
            <a:endParaRPr lang="en-IN"/>
          </a:p>
        </p:txBody>
      </p:sp>
    </p:spTree>
    <p:extLst>
      <p:ext uri="{BB962C8B-B14F-4D97-AF65-F5344CB8AC3E}">
        <p14:creationId xmlns:p14="http://schemas.microsoft.com/office/powerpoint/2010/main" val="91346473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99</a:t>
            </a:fld>
            <a:endParaRPr lang="en-IN"/>
          </a:p>
        </p:txBody>
      </p:sp>
    </p:spTree>
    <p:extLst>
      <p:ext uri="{BB962C8B-B14F-4D97-AF65-F5344CB8AC3E}">
        <p14:creationId xmlns:p14="http://schemas.microsoft.com/office/powerpoint/2010/main" val="81256025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100</a:t>
            </a:fld>
            <a:endParaRPr lang="en-IN"/>
          </a:p>
        </p:txBody>
      </p:sp>
    </p:spTree>
    <p:extLst>
      <p:ext uri="{BB962C8B-B14F-4D97-AF65-F5344CB8AC3E}">
        <p14:creationId xmlns:p14="http://schemas.microsoft.com/office/powerpoint/2010/main" val="214897302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101</a:t>
            </a:fld>
            <a:endParaRPr lang="en-IN"/>
          </a:p>
        </p:txBody>
      </p:sp>
    </p:spTree>
    <p:extLst>
      <p:ext uri="{BB962C8B-B14F-4D97-AF65-F5344CB8AC3E}">
        <p14:creationId xmlns:p14="http://schemas.microsoft.com/office/powerpoint/2010/main" val="234196542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102</a:t>
            </a:fld>
            <a:endParaRPr lang="en-IN"/>
          </a:p>
        </p:txBody>
      </p:sp>
    </p:spTree>
    <p:extLst>
      <p:ext uri="{BB962C8B-B14F-4D97-AF65-F5344CB8AC3E}">
        <p14:creationId xmlns:p14="http://schemas.microsoft.com/office/powerpoint/2010/main" val="285026077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103</a:t>
            </a:fld>
            <a:endParaRPr lang="en-IN"/>
          </a:p>
        </p:txBody>
      </p:sp>
    </p:spTree>
    <p:extLst>
      <p:ext uri="{BB962C8B-B14F-4D97-AF65-F5344CB8AC3E}">
        <p14:creationId xmlns:p14="http://schemas.microsoft.com/office/powerpoint/2010/main" val="374444344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104</a:t>
            </a:fld>
            <a:endParaRPr lang="en-IN"/>
          </a:p>
        </p:txBody>
      </p:sp>
    </p:spTree>
    <p:extLst>
      <p:ext uri="{BB962C8B-B14F-4D97-AF65-F5344CB8AC3E}">
        <p14:creationId xmlns:p14="http://schemas.microsoft.com/office/powerpoint/2010/main" val="218970647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105</a:t>
            </a:fld>
            <a:endParaRPr lang="en-IN"/>
          </a:p>
        </p:txBody>
      </p:sp>
    </p:spTree>
    <p:extLst>
      <p:ext uri="{BB962C8B-B14F-4D97-AF65-F5344CB8AC3E}">
        <p14:creationId xmlns:p14="http://schemas.microsoft.com/office/powerpoint/2010/main" val="425522762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106</a:t>
            </a:fld>
            <a:endParaRPr lang="en-IN"/>
          </a:p>
        </p:txBody>
      </p:sp>
    </p:spTree>
    <p:extLst>
      <p:ext uri="{BB962C8B-B14F-4D97-AF65-F5344CB8AC3E}">
        <p14:creationId xmlns:p14="http://schemas.microsoft.com/office/powerpoint/2010/main" val="395443210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107</a:t>
            </a:fld>
            <a:endParaRPr lang="en-IN"/>
          </a:p>
        </p:txBody>
      </p:sp>
    </p:spTree>
    <p:extLst>
      <p:ext uri="{BB962C8B-B14F-4D97-AF65-F5344CB8AC3E}">
        <p14:creationId xmlns:p14="http://schemas.microsoft.com/office/powerpoint/2010/main" val="219307713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108</a:t>
            </a:fld>
            <a:endParaRPr lang="en-IN"/>
          </a:p>
        </p:txBody>
      </p:sp>
    </p:spTree>
    <p:extLst>
      <p:ext uri="{BB962C8B-B14F-4D97-AF65-F5344CB8AC3E}">
        <p14:creationId xmlns:p14="http://schemas.microsoft.com/office/powerpoint/2010/main" val="119813747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109</a:t>
            </a:fld>
            <a:endParaRPr lang="en-IN"/>
          </a:p>
        </p:txBody>
      </p:sp>
    </p:spTree>
    <p:extLst>
      <p:ext uri="{BB962C8B-B14F-4D97-AF65-F5344CB8AC3E}">
        <p14:creationId xmlns:p14="http://schemas.microsoft.com/office/powerpoint/2010/main" val="375190167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110</a:t>
            </a:fld>
            <a:endParaRPr lang="en-IN"/>
          </a:p>
        </p:txBody>
      </p:sp>
    </p:spTree>
    <p:extLst>
      <p:ext uri="{BB962C8B-B14F-4D97-AF65-F5344CB8AC3E}">
        <p14:creationId xmlns:p14="http://schemas.microsoft.com/office/powerpoint/2010/main" val="1108111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111</a:t>
            </a:fld>
            <a:endParaRPr lang="en-IN"/>
          </a:p>
        </p:txBody>
      </p:sp>
    </p:spTree>
    <p:extLst>
      <p:ext uri="{BB962C8B-B14F-4D97-AF65-F5344CB8AC3E}">
        <p14:creationId xmlns:p14="http://schemas.microsoft.com/office/powerpoint/2010/main" val="350530907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112</a:t>
            </a:fld>
            <a:endParaRPr lang="en-IN"/>
          </a:p>
        </p:txBody>
      </p:sp>
    </p:spTree>
    <p:extLst>
      <p:ext uri="{BB962C8B-B14F-4D97-AF65-F5344CB8AC3E}">
        <p14:creationId xmlns:p14="http://schemas.microsoft.com/office/powerpoint/2010/main" val="356497782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113</a:t>
            </a:fld>
            <a:endParaRPr lang="en-IN"/>
          </a:p>
        </p:txBody>
      </p:sp>
    </p:spTree>
    <p:extLst>
      <p:ext uri="{BB962C8B-B14F-4D97-AF65-F5344CB8AC3E}">
        <p14:creationId xmlns:p14="http://schemas.microsoft.com/office/powerpoint/2010/main" val="162766524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114</a:t>
            </a:fld>
            <a:endParaRPr lang="en-IN"/>
          </a:p>
        </p:txBody>
      </p:sp>
    </p:spTree>
    <p:extLst>
      <p:ext uri="{BB962C8B-B14F-4D97-AF65-F5344CB8AC3E}">
        <p14:creationId xmlns:p14="http://schemas.microsoft.com/office/powerpoint/2010/main" val="103291855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115</a:t>
            </a:fld>
            <a:endParaRPr lang="en-IN"/>
          </a:p>
        </p:txBody>
      </p:sp>
    </p:spTree>
    <p:extLst>
      <p:ext uri="{BB962C8B-B14F-4D97-AF65-F5344CB8AC3E}">
        <p14:creationId xmlns:p14="http://schemas.microsoft.com/office/powerpoint/2010/main" val="385874412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116</a:t>
            </a:fld>
            <a:endParaRPr lang="en-IN"/>
          </a:p>
        </p:txBody>
      </p:sp>
    </p:spTree>
    <p:extLst>
      <p:ext uri="{BB962C8B-B14F-4D97-AF65-F5344CB8AC3E}">
        <p14:creationId xmlns:p14="http://schemas.microsoft.com/office/powerpoint/2010/main" val="343128338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117</a:t>
            </a:fld>
            <a:endParaRPr lang="en-IN"/>
          </a:p>
        </p:txBody>
      </p:sp>
    </p:spTree>
    <p:extLst>
      <p:ext uri="{BB962C8B-B14F-4D97-AF65-F5344CB8AC3E}">
        <p14:creationId xmlns:p14="http://schemas.microsoft.com/office/powerpoint/2010/main" val="34937388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118</a:t>
            </a:fld>
            <a:endParaRPr lang="en-IN"/>
          </a:p>
        </p:txBody>
      </p:sp>
    </p:spTree>
    <p:extLst>
      <p:ext uri="{BB962C8B-B14F-4D97-AF65-F5344CB8AC3E}">
        <p14:creationId xmlns:p14="http://schemas.microsoft.com/office/powerpoint/2010/main" val="380826891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119</a:t>
            </a:fld>
            <a:endParaRPr lang="en-IN"/>
          </a:p>
        </p:txBody>
      </p:sp>
    </p:spTree>
    <p:extLst>
      <p:ext uri="{BB962C8B-B14F-4D97-AF65-F5344CB8AC3E}">
        <p14:creationId xmlns:p14="http://schemas.microsoft.com/office/powerpoint/2010/main" val="276983913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120</a:t>
            </a:fld>
            <a:endParaRPr lang="en-IN"/>
          </a:p>
        </p:txBody>
      </p:sp>
    </p:spTree>
    <p:extLst>
      <p:ext uri="{BB962C8B-B14F-4D97-AF65-F5344CB8AC3E}">
        <p14:creationId xmlns:p14="http://schemas.microsoft.com/office/powerpoint/2010/main" val="146739030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121</a:t>
            </a:fld>
            <a:endParaRPr lang="en-IN"/>
          </a:p>
        </p:txBody>
      </p:sp>
    </p:spTree>
    <p:extLst>
      <p:ext uri="{BB962C8B-B14F-4D97-AF65-F5344CB8AC3E}">
        <p14:creationId xmlns:p14="http://schemas.microsoft.com/office/powerpoint/2010/main" val="324472297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122</a:t>
            </a:fld>
            <a:endParaRPr lang="en-IN"/>
          </a:p>
        </p:txBody>
      </p:sp>
    </p:spTree>
    <p:extLst>
      <p:ext uri="{BB962C8B-B14F-4D97-AF65-F5344CB8AC3E}">
        <p14:creationId xmlns:p14="http://schemas.microsoft.com/office/powerpoint/2010/main" val="269610735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123</a:t>
            </a:fld>
            <a:endParaRPr lang="en-IN"/>
          </a:p>
        </p:txBody>
      </p:sp>
    </p:spTree>
    <p:extLst>
      <p:ext uri="{BB962C8B-B14F-4D97-AF65-F5344CB8AC3E}">
        <p14:creationId xmlns:p14="http://schemas.microsoft.com/office/powerpoint/2010/main" val="309895455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124</a:t>
            </a:fld>
            <a:endParaRPr lang="en-IN"/>
          </a:p>
        </p:txBody>
      </p:sp>
    </p:spTree>
    <p:extLst>
      <p:ext uri="{BB962C8B-B14F-4D97-AF65-F5344CB8AC3E}">
        <p14:creationId xmlns:p14="http://schemas.microsoft.com/office/powerpoint/2010/main" val="298425463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125</a:t>
            </a:fld>
            <a:endParaRPr lang="en-IN"/>
          </a:p>
        </p:txBody>
      </p:sp>
    </p:spTree>
    <p:extLst>
      <p:ext uri="{BB962C8B-B14F-4D97-AF65-F5344CB8AC3E}">
        <p14:creationId xmlns:p14="http://schemas.microsoft.com/office/powerpoint/2010/main" val="263439383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126</a:t>
            </a:fld>
            <a:endParaRPr lang="en-IN"/>
          </a:p>
        </p:txBody>
      </p:sp>
    </p:spTree>
    <p:extLst>
      <p:ext uri="{BB962C8B-B14F-4D97-AF65-F5344CB8AC3E}">
        <p14:creationId xmlns:p14="http://schemas.microsoft.com/office/powerpoint/2010/main" val="60620804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127</a:t>
            </a:fld>
            <a:endParaRPr lang="en-IN"/>
          </a:p>
        </p:txBody>
      </p:sp>
    </p:spTree>
    <p:extLst>
      <p:ext uri="{BB962C8B-B14F-4D97-AF65-F5344CB8AC3E}">
        <p14:creationId xmlns:p14="http://schemas.microsoft.com/office/powerpoint/2010/main" val="23133091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128</a:t>
            </a:fld>
            <a:endParaRPr lang="en-IN"/>
          </a:p>
        </p:txBody>
      </p:sp>
    </p:spTree>
    <p:extLst>
      <p:ext uri="{BB962C8B-B14F-4D97-AF65-F5344CB8AC3E}">
        <p14:creationId xmlns:p14="http://schemas.microsoft.com/office/powerpoint/2010/main" val="99170400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129</a:t>
            </a:fld>
            <a:endParaRPr lang="en-IN"/>
          </a:p>
        </p:txBody>
      </p:sp>
    </p:spTree>
    <p:extLst>
      <p:ext uri="{BB962C8B-B14F-4D97-AF65-F5344CB8AC3E}">
        <p14:creationId xmlns:p14="http://schemas.microsoft.com/office/powerpoint/2010/main" val="413323794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130</a:t>
            </a:fld>
            <a:endParaRPr lang="en-IN"/>
          </a:p>
        </p:txBody>
      </p:sp>
    </p:spTree>
    <p:extLst>
      <p:ext uri="{BB962C8B-B14F-4D97-AF65-F5344CB8AC3E}">
        <p14:creationId xmlns:p14="http://schemas.microsoft.com/office/powerpoint/2010/main" val="30692602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131</a:t>
            </a:fld>
            <a:endParaRPr lang="en-IN"/>
          </a:p>
        </p:txBody>
      </p:sp>
    </p:spTree>
    <p:extLst>
      <p:ext uri="{BB962C8B-B14F-4D97-AF65-F5344CB8AC3E}">
        <p14:creationId xmlns:p14="http://schemas.microsoft.com/office/powerpoint/2010/main" val="245692917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132</a:t>
            </a:fld>
            <a:endParaRPr lang="en-IN"/>
          </a:p>
        </p:txBody>
      </p:sp>
    </p:spTree>
    <p:extLst>
      <p:ext uri="{BB962C8B-B14F-4D97-AF65-F5344CB8AC3E}">
        <p14:creationId xmlns:p14="http://schemas.microsoft.com/office/powerpoint/2010/main" val="403305072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133</a:t>
            </a:fld>
            <a:endParaRPr lang="en-IN"/>
          </a:p>
        </p:txBody>
      </p:sp>
    </p:spTree>
    <p:extLst>
      <p:ext uri="{BB962C8B-B14F-4D97-AF65-F5344CB8AC3E}">
        <p14:creationId xmlns:p14="http://schemas.microsoft.com/office/powerpoint/2010/main" val="333090697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134</a:t>
            </a:fld>
            <a:endParaRPr lang="en-IN"/>
          </a:p>
        </p:txBody>
      </p:sp>
    </p:spTree>
    <p:extLst>
      <p:ext uri="{BB962C8B-B14F-4D97-AF65-F5344CB8AC3E}">
        <p14:creationId xmlns:p14="http://schemas.microsoft.com/office/powerpoint/2010/main" val="230258014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135</a:t>
            </a:fld>
            <a:endParaRPr lang="en-IN"/>
          </a:p>
        </p:txBody>
      </p:sp>
    </p:spTree>
    <p:extLst>
      <p:ext uri="{BB962C8B-B14F-4D97-AF65-F5344CB8AC3E}">
        <p14:creationId xmlns:p14="http://schemas.microsoft.com/office/powerpoint/2010/main" val="325629559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136</a:t>
            </a:fld>
            <a:endParaRPr lang="en-IN"/>
          </a:p>
        </p:txBody>
      </p:sp>
    </p:spTree>
    <p:extLst>
      <p:ext uri="{BB962C8B-B14F-4D97-AF65-F5344CB8AC3E}">
        <p14:creationId xmlns:p14="http://schemas.microsoft.com/office/powerpoint/2010/main" val="222434802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137</a:t>
            </a:fld>
            <a:endParaRPr lang="en-IN"/>
          </a:p>
        </p:txBody>
      </p:sp>
    </p:spTree>
    <p:extLst>
      <p:ext uri="{BB962C8B-B14F-4D97-AF65-F5344CB8AC3E}">
        <p14:creationId xmlns:p14="http://schemas.microsoft.com/office/powerpoint/2010/main" val="72972629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138</a:t>
            </a:fld>
            <a:endParaRPr lang="en-IN"/>
          </a:p>
        </p:txBody>
      </p:sp>
    </p:spTree>
    <p:extLst>
      <p:ext uri="{BB962C8B-B14F-4D97-AF65-F5344CB8AC3E}">
        <p14:creationId xmlns:p14="http://schemas.microsoft.com/office/powerpoint/2010/main" val="170883840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139</a:t>
            </a:fld>
            <a:endParaRPr lang="en-IN"/>
          </a:p>
        </p:txBody>
      </p:sp>
    </p:spTree>
    <p:extLst>
      <p:ext uri="{BB962C8B-B14F-4D97-AF65-F5344CB8AC3E}">
        <p14:creationId xmlns:p14="http://schemas.microsoft.com/office/powerpoint/2010/main" val="64253810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140</a:t>
            </a:fld>
            <a:endParaRPr lang="en-IN"/>
          </a:p>
        </p:txBody>
      </p:sp>
    </p:spTree>
    <p:extLst>
      <p:ext uri="{BB962C8B-B14F-4D97-AF65-F5344CB8AC3E}">
        <p14:creationId xmlns:p14="http://schemas.microsoft.com/office/powerpoint/2010/main" val="312078400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141</a:t>
            </a:fld>
            <a:endParaRPr lang="en-IN"/>
          </a:p>
        </p:txBody>
      </p:sp>
    </p:spTree>
    <p:extLst>
      <p:ext uri="{BB962C8B-B14F-4D97-AF65-F5344CB8AC3E}">
        <p14:creationId xmlns:p14="http://schemas.microsoft.com/office/powerpoint/2010/main" val="407794012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142</a:t>
            </a:fld>
            <a:endParaRPr lang="en-IN"/>
          </a:p>
        </p:txBody>
      </p:sp>
    </p:spTree>
    <p:extLst>
      <p:ext uri="{BB962C8B-B14F-4D97-AF65-F5344CB8AC3E}">
        <p14:creationId xmlns:p14="http://schemas.microsoft.com/office/powerpoint/2010/main" val="3633256090"/>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143</a:t>
            </a:fld>
            <a:endParaRPr lang="en-IN"/>
          </a:p>
        </p:txBody>
      </p:sp>
    </p:spTree>
    <p:extLst>
      <p:ext uri="{BB962C8B-B14F-4D97-AF65-F5344CB8AC3E}">
        <p14:creationId xmlns:p14="http://schemas.microsoft.com/office/powerpoint/2010/main" val="209038745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144</a:t>
            </a:fld>
            <a:endParaRPr lang="en-IN"/>
          </a:p>
        </p:txBody>
      </p:sp>
    </p:spTree>
    <p:extLst>
      <p:ext uri="{BB962C8B-B14F-4D97-AF65-F5344CB8AC3E}">
        <p14:creationId xmlns:p14="http://schemas.microsoft.com/office/powerpoint/2010/main" val="374718465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145</a:t>
            </a:fld>
            <a:endParaRPr lang="en-IN"/>
          </a:p>
        </p:txBody>
      </p:sp>
    </p:spTree>
    <p:extLst>
      <p:ext uri="{BB962C8B-B14F-4D97-AF65-F5344CB8AC3E}">
        <p14:creationId xmlns:p14="http://schemas.microsoft.com/office/powerpoint/2010/main" val="287306930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146</a:t>
            </a:fld>
            <a:endParaRPr lang="en-IN"/>
          </a:p>
        </p:txBody>
      </p:sp>
    </p:spTree>
    <p:extLst>
      <p:ext uri="{BB962C8B-B14F-4D97-AF65-F5344CB8AC3E}">
        <p14:creationId xmlns:p14="http://schemas.microsoft.com/office/powerpoint/2010/main" val="85814107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147</a:t>
            </a:fld>
            <a:endParaRPr lang="en-IN"/>
          </a:p>
        </p:txBody>
      </p:sp>
    </p:spTree>
    <p:extLst>
      <p:ext uri="{BB962C8B-B14F-4D97-AF65-F5344CB8AC3E}">
        <p14:creationId xmlns:p14="http://schemas.microsoft.com/office/powerpoint/2010/main" val="208741933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148</a:t>
            </a:fld>
            <a:endParaRPr lang="en-IN"/>
          </a:p>
        </p:txBody>
      </p:sp>
    </p:spTree>
    <p:extLst>
      <p:ext uri="{BB962C8B-B14F-4D97-AF65-F5344CB8AC3E}">
        <p14:creationId xmlns:p14="http://schemas.microsoft.com/office/powerpoint/2010/main" val="185341445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149</a:t>
            </a:fld>
            <a:endParaRPr lang="en-IN"/>
          </a:p>
        </p:txBody>
      </p:sp>
    </p:spTree>
    <p:extLst>
      <p:ext uri="{BB962C8B-B14F-4D97-AF65-F5344CB8AC3E}">
        <p14:creationId xmlns:p14="http://schemas.microsoft.com/office/powerpoint/2010/main" val="350309859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150</a:t>
            </a:fld>
            <a:endParaRPr lang="en-IN"/>
          </a:p>
        </p:txBody>
      </p:sp>
    </p:spTree>
    <p:extLst>
      <p:ext uri="{BB962C8B-B14F-4D97-AF65-F5344CB8AC3E}">
        <p14:creationId xmlns:p14="http://schemas.microsoft.com/office/powerpoint/2010/main" val="373931141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151</a:t>
            </a:fld>
            <a:endParaRPr lang="en-IN"/>
          </a:p>
        </p:txBody>
      </p:sp>
    </p:spTree>
    <p:extLst>
      <p:ext uri="{BB962C8B-B14F-4D97-AF65-F5344CB8AC3E}">
        <p14:creationId xmlns:p14="http://schemas.microsoft.com/office/powerpoint/2010/main" val="206435124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152</a:t>
            </a:fld>
            <a:endParaRPr lang="en-IN"/>
          </a:p>
        </p:txBody>
      </p:sp>
    </p:spTree>
    <p:extLst>
      <p:ext uri="{BB962C8B-B14F-4D97-AF65-F5344CB8AC3E}">
        <p14:creationId xmlns:p14="http://schemas.microsoft.com/office/powerpoint/2010/main" val="325508102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153</a:t>
            </a:fld>
            <a:endParaRPr lang="en-IN"/>
          </a:p>
        </p:txBody>
      </p:sp>
    </p:spTree>
    <p:extLst>
      <p:ext uri="{BB962C8B-B14F-4D97-AF65-F5344CB8AC3E}">
        <p14:creationId xmlns:p14="http://schemas.microsoft.com/office/powerpoint/2010/main" val="2895838947"/>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154</a:t>
            </a:fld>
            <a:endParaRPr lang="en-IN"/>
          </a:p>
        </p:txBody>
      </p:sp>
    </p:spTree>
    <p:extLst>
      <p:ext uri="{BB962C8B-B14F-4D97-AF65-F5344CB8AC3E}">
        <p14:creationId xmlns:p14="http://schemas.microsoft.com/office/powerpoint/2010/main" val="109685104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155</a:t>
            </a:fld>
            <a:endParaRPr lang="en-IN"/>
          </a:p>
        </p:txBody>
      </p:sp>
    </p:spTree>
    <p:extLst>
      <p:ext uri="{BB962C8B-B14F-4D97-AF65-F5344CB8AC3E}">
        <p14:creationId xmlns:p14="http://schemas.microsoft.com/office/powerpoint/2010/main" val="1849127627"/>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156</a:t>
            </a:fld>
            <a:endParaRPr lang="en-IN"/>
          </a:p>
        </p:txBody>
      </p:sp>
    </p:spTree>
    <p:extLst>
      <p:ext uri="{BB962C8B-B14F-4D97-AF65-F5344CB8AC3E}">
        <p14:creationId xmlns:p14="http://schemas.microsoft.com/office/powerpoint/2010/main" val="311277240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157</a:t>
            </a:fld>
            <a:endParaRPr lang="en-IN"/>
          </a:p>
        </p:txBody>
      </p:sp>
    </p:spTree>
    <p:extLst>
      <p:ext uri="{BB962C8B-B14F-4D97-AF65-F5344CB8AC3E}">
        <p14:creationId xmlns:p14="http://schemas.microsoft.com/office/powerpoint/2010/main" val="162404332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158</a:t>
            </a:fld>
            <a:endParaRPr lang="en-IN"/>
          </a:p>
        </p:txBody>
      </p:sp>
    </p:spTree>
    <p:extLst>
      <p:ext uri="{BB962C8B-B14F-4D97-AF65-F5344CB8AC3E}">
        <p14:creationId xmlns:p14="http://schemas.microsoft.com/office/powerpoint/2010/main" val="286970703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159</a:t>
            </a:fld>
            <a:endParaRPr lang="en-IN"/>
          </a:p>
        </p:txBody>
      </p:sp>
    </p:spTree>
    <p:extLst>
      <p:ext uri="{BB962C8B-B14F-4D97-AF65-F5344CB8AC3E}">
        <p14:creationId xmlns:p14="http://schemas.microsoft.com/office/powerpoint/2010/main" val="197863817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160</a:t>
            </a:fld>
            <a:endParaRPr lang="en-IN"/>
          </a:p>
        </p:txBody>
      </p:sp>
    </p:spTree>
    <p:extLst>
      <p:ext uri="{BB962C8B-B14F-4D97-AF65-F5344CB8AC3E}">
        <p14:creationId xmlns:p14="http://schemas.microsoft.com/office/powerpoint/2010/main" val="87347763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161</a:t>
            </a:fld>
            <a:endParaRPr lang="en-IN"/>
          </a:p>
        </p:txBody>
      </p:sp>
    </p:spTree>
    <p:extLst>
      <p:ext uri="{BB962C8B-B14F-4D97-AF65-F5344CB8AC3E}">
        <p14:creationId xmlns:p14="http://schemas.microsoft.com/office/powerpoint/2010/main" val="276341543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162</a:t>
            </a:fld>
            <a:endParaRPr lang="en-IN"/>
          </a:p>
        </p:txBody>
      </p:sp>
    </p:spTree>
    <p:extLst>
      <p:ext uri="{BB962C8B-B14F-4D97-AF65-F5344CB8AC3E}">
        <p14:creationId xmlns:p14="http://schemas.microsoft.com/office/powerpoint/2010/main" val="3174928753"/>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163</a:t>
            </a:fld>
            <a:endParaRPr lang="en-IN"/>
          </a:p>
        </p:txBody>
      </p:sp>
    </p:spTree>
    <p:extLst>
      <p:ext uri="{BB962C8B-B14F-4D97-AF65-F5344CB8AC3E}">
        <p14:creationId xmlns:p14="http://schemas.microsoft.com/office/powerpoint/2010/main" val="65063720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164</a:t>
            </a:fld>
            <a:endParaRPr lang="en-IN"/>
          </a:p>
        </p:txBody>
      </p:sp>
    </p:spTree>
    <p:extLst>
      <p:ext uri="{BB962C8B-B14F-4D97-AF65-F5344CB8AC3E}">
        <p14:creationId xmlns:p14="http://schemas.microsoft.com/office/powerpoint/2010/main" val="2283172780"/>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165</a:t>
            </a:fld>
            <a:endParaRPr lang="en-IN"/>
          </a:p>
        </p:txBody>
      </p:sp>
    </p:spTree>
    <p:extLst>
      <p:ext uri="{BB962C8B-B14F-4D97-AF65-F5344CB8AC3E}">
        <p14:creationId xmlns:p14="http://schemas.microsoft.com/office/powerpoint/2010/main" val="287097066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166</a:t>
            </a:fld>
            <a:endParaRPr lang="en-IN"/>
          </a:p>
        </p:txBody>
      </p:sp>
    </p:spTree>
    <p:extLst>
      <p:ext uri="{BB962C8B-B14F-4D97-AF65-F5344CB8AC3E}">
        <p14:creationId xmlns:p14="http://schemas.microsoft.com/office/powerpoint/2010/main" val="173108920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167</a:t>
            </a:fld>
            <a:endParaRPr lang="en-IN"/>
          </a:p>
        </p:txBody>
      </p:sp>
    </p:spTree>
    <p:extLst>
      <p:ext uri="{BB962C8B-B14F-4D97-AF65-F5344CB8AC3E}">
        <p14:creationId xmlns:p14="http://schemas.microsoft.com/office/powerpoint/2010/main" val="2347591429"/>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168</a:t>
            </a:fld>
            <a:endParaRPr lang="en-IN"/>
          </a:p>
        </p:txBody>
      </p:sp>
    </p:spTree>
    <p:extLst>
      <p:ext uri="{BB962C8B-B14F-4D97-AF65-F5344CB8AC3E}">
        <p14:creationId xmlns:p14="http://schemas.microsoft.com/office/powerpoint/2010/main" val="259112112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169</a:t>
            </a:fld>
            <a:endParaRPr lang="en-IN"/>
          </a:p>
        </p:txBody>
      </p:sp>
    </p:spTree>
    <p:extLst>
      <p:ext uri="{BB962C8B-B14F-4D97-AF65-F5344CB8AC3E}">
        <p14:creationId xmlns:p14="http://schemas.microsoft.com/office/powerpoint/2010/main" val="240627711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170</a:t>
            </a:fld>
            <a:endParaRPr lang="en-IN"/>
          </a:p>
        </p:txBody>
      </p:sp>
    </p:spTree>
    <p:extLst>
      <p:ext uri="{BB962C8B-B14F-4D97-AF65-F5344CB8AC3E}">
        <p14:creationId xmlns:p14="http://schemas.microsoft.com/office/powerpoint/2010/main" val="2650995155"/>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171</a:t>
            </a:fld>
            <a:endParaRPr lang="en-IN"/>
          </a:p>
        </p:txBody>
      </p:sp>
    </p:spTree>
    <p:extLst>
      <p:ext uri="{BB962C8B-B14F-4D97-AF65-F5344CB8AC3E}">
        <p14:creationId xmlns:p14="http://schemas.microsoft.com/office/powerpoint/2010/main" val="2527808066"/>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172</a:t>
            </a:fld>
            <a:endParaRPr lang="en-IN"/>
          </a:p>
        </p:txBody>
      </p:sp>
    </p:spTree>
    <p:extLst>
      <p:ext uri="{BB962C8B-B14F-4D97-AF65-F5344CB8AC3E}">
        <p14:creationId xmlns:p14="http://schemas.microsoft.com/office/powerpoint/2010/main" val="360542256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173</a:t>
            </a:fld>
            <a:endParaRPr lang="en-IN"/>
          </a:p>
        </p:txBody>
      </p:sp>
    </p:spTree>
    <p:extLst>
      <p:ext uri="{BB962C8B-B14F-4D97-AF65-F5344CB8AC3E}">
        <p14:creationId xmlns:p14="http://schemas.microsoft.com/office/powerpoint/2010/main" val="121138354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174</a:t>
            </a:fld>
            <a:endParaRPr lang="en-IN"/>
          </a:p>
        </p:txBody>
      </p:sp>
    </p:spTree>
    <p:extLst>
      <p:ext uri="{BB962C8B-B14F-4D97-AF65-F5344CB8AC3E}">
        <p14:creationId xmlns:p14="http://schemas.microsoft.com/office/powerpoint/2010/main" val="3719990014"/>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175</a:t>
            </a:fld>
            <a:endParaRPr lang="en-IN"/>
          </a:p>
        </p:txBody>
      </p:sp>
    </p:spTree>
    <p:extLst>
      <p:ext uri="{BB962C8B-B14F-4D97-AF65-F5344CB8AC3E}">
        <p14:creationId xmlns:p14="http://schemas.microsoft.com/office/powerpoint/2010/main" val="2147794183"/>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176</a:t>
            </a:fld>
            <a:endParaRPr lang="en-IN"/>
          </a:p>
        </p:txBody>
      </p:sp>
    </p:spTree>
    <p:extLst>
      <p:ext uri="{BB962C8B-B14F-4D97-AF65-F5344CB8AC3E}">
        <p14:creationId xmlns:p14="http://schemas.microsoft.com/office/powerpoint/2010/main" val="2092105689"/>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177</a:t>
            </a:fld>
            <a:endParaRPr lang="en-IN"/>
          </a:p>
        </p:txBody>
      </p:sp>
    </p:spTree>
    <p:extLst>
      <p:ext uri="{BB962C8B-B14F-4D97-AF65-F5344CB8AC3E}">
        <p14:creationId xmlns:p14="http://schemas.microsoft.com/office/powerpoint/2010/main" val="20986809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178</a:t>
            </a:fld>
            <a:endParaRPr lang="en-IN"/>
          </a:p>
        </p:txBody>
      </p:sp>
    </p:spTree>
    <p:extLst>
      <p:ext uri="{BB962C8B-B14F-4D97-AF65-F5344CB8AC3E}">
        <p14:creationId xmlns:p14="http://schemas.microsoft.com/office/powerpoint/2010/main" val="108394352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179</a:t>
            </a:fld>
            <a:endParaRPr lang="en-IN"/>
          </a:p>
        </p:txBody>
      </p:sp>
    </p:spTree>
    <p:extLst>
      <p:ext uri="{BB962C8B-B14F-4D97-AF65-F5344CB8AC3E}">
        <p14:creationId xmlns:p14="http://schemas.microsoft.com/office/powerpoint/2010/main" val="357255358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180</a:t>
            </a:fld>
            <a:endParaRPr lang="en-IN"/>
          </a:p>
        </p:txBody>
      </p:sp>
    </p:spTree>
    <p:extLst>
      <p:ext uri="{BB962C8B-B14F-4D97-AF65-F5344CB8AC3E}">
        <p14:creationId xmlns:p14="http://schemas.microsoft.com/office/powerpoint/2010/main" val="413974153"/>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181</a:t>
            </a:fld>
            <a:endParaRPr lang="en-IN"/>
          </a:p>
        </p:txBody>
      </p:sp>
    </p:spTree>
    <p:extLst>
      <p:ext uri="{BB962C8B-B14F-4D97-AF65-F5344CB8AC3E}">
        <p14:creationId xmlns:p14="http://schemas.microsoft.com/office/powerpoint/2010/main" val="52446778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182</a:t>
            </a:fld>
            <a:endParaRPr lang="en-IN"/>
          </a:p>
        </p:txBody>
      </p:sp>
    </p:spTree>
    <p:extLst>
      <p:ext uri="{BB962C8B-B14F-4D97-AF65-F5344CB8AC3E}">
        <p14:creationId xmlns:p14="http://schemas.microsoft.com/office/powerpoint/2010/main" val="127781506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183</a:t>
            </a:fld>
            <a:endParaRPr lang="en-IN"/>
          </a:p>
        </p:txBody>
      </p:sp>
    </p:spTree>
    <p:extLst>
      <p:ext uri="{BB962C8B-B14F-4D97-AF65-F5344CB8AC3E}">
        <p14:creationId xmlns:p14="http://schemas.microsoft.com/office/powerpoint/2010/main" val="1525629166"/>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184</a:t>
            </a:fld>
            <a:endParaRPr lang="en-IN"/>
          </a:p>
        </p:txBody>
      </p:sp>
    </p:spTree>
    <p:extLst>
      <p:ext uri="{BB962C8B-B14F-4D97-AF65-F5344CB8AC3E}">
        <p14:creationId xmlns:p14="http://schemas.microsoft.com/office/powerpoint/2010/main" val="4229553607"/>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185</a:t>
            </a:fld>
            <a:endParaRPr lang="en-IN"/>
          </a:p>
        </p:txBody>
      </p:sp>
    </p:spTree>
    <p:extLst>
      <p:ext uri="{BB962C8B-B14F-4D97-AF65-F5344CB8AC3E}">
        <p14:creationId xmlns:p14="http://schemas.microsoft.com/office/powerpoint/2010/main" val="1468628155"/>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186</a:t>
            </a:fld>
            <a:endParaRPr lang="en-IN"/>
          </a:p>
        </p:txBody>
      </p:sp>
    </p:spTree>
    <p:extLst>
      <p:ext uri="{BB962C8B-B14F-4D97-AF65-F5344CB8AC3E}">
        <p14:creationId xmlns:p14="http://schemas.microsoft.com/office/powerpoint/2010/main" val="442281350"/>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187</a:t>
            </a:fld>
            <a:endParaRPr lang="en-IN"/>
          </a:p>
        </p:txBody>
      </p:sp>
    </p:spTree>
    <p:extLst>
      <p:ext uri="{BB962C8B-B14F-4D97-AF65-F5344CB8AC3E}">
        <p14:creationId xmlns:p14="http://schemas.microsoft.com/office/powerpoint/2010/main" val="4102075630"/>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188</a:t>
            </a:fld>
            <a:endParaRPr lang="en-IN"/>
          </a:p>
        </p:txBody>
      </p:sp>
    </p:spTree>
    <p:extLst>
      <p:ext uri="{BB962C8B-B14F-4D97-AF65-F5344CB8AC3E}">
        <p14:creationId xmlns:p14="http://schemas.microsoft.com/office/powerpoint/2010/main" val="3590635065"/>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189</a:t>
            </a:fld>
            <a:endParaRPr lang="en-IN"/>
          </a:p>
        </p:txBody>
      </p:sp>
    </p:spTree>
    <p:extLst>
      <p:ext uri="{BB962C8B-B14F-4D97-AF65-F5344CB8AC3E}">
        <p14:creationId xmlns:p14="http://schemas.microsoft.com/office/powerpoint/2010/main" val="3138804317"/>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190</a:t>
            </a:fld>
            <a:endParaRPr lang="en-IN"/>
          </a:p>
        </p:txBody>
      </p:sp>
    </p:spTree>
    <p:extLst>
      <p:ext uri="{BB962C8B-B14F-4D97-AF65-F5344CB8AC3E}">
        <p14:creationId xmlns:p14="http://schemas.microsoft.com/office/powerpoint/2010/main" val="2744950493"/>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191</a:t>
            </a:fld>
            <a:endParaRPr lang="en-IN"/>
          </a:p>
        </p:txBody>
      </p:sp>
    </p:spTree>
    <p:extLst>
      <p:ext uri="{BB962C8B-B14F-4D97-AF65-F5344CB8AC3E}">
        <p14:creationId xmlns:p14="http://schemas.microsoft.com/office/powerpoint/2010/main" val="4222682167"/>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192</a:t>
            </a:fld>
            <a:endParaRPr lang="en-IN"/>
          </a:p>
        </p:txBody>
      </p:sp>
    </p:spTree>
    <p:extLst>
      <p:ext uri="{BB962C8B-B14F-4D97-AF65-F5344CB8AC3E}">
        <p14:creationId xmlns:p14="http://schemas.microsoft.com/office/powerpoint/2010/main" val="1073045449"/>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193</a:t>
            </a:fld>
            <a:endParaRPr lang="en-IN"/>
          </a:p>
        </p:txBody>
      </p:sp>
    </p:spTree>
    <p:extLst>
      <p:ext uri="{BB962C8B-B14F-4D97-AF65-F5344CB8AC3E}">
        <p14:creationId xmlns:p14="http://schemas.microsoft.com/office/powerpoint/2010/main" val="213706701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194</a:t>
            </a:fld>
            <a:endParaRPr lang="en-IN"/>
          </a:p>
        </p:txBody>
      </p:sp>
    </p:spTree>
    <p:extLst>
      <p:ext uri="{BB962C8B-B14F-4D97-AF65-F5344CB8AC3E}">
        <p14:creationId xmlns:p14="http://schemas.microsoft.com/office/powerpoint/2010/main" val="49639810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195</a:t>
            </a:fld>
            <a:endParaRPr lang="en-IN"/>
          </a:p>
        </p:txBody>
      </p:sp>
    </p:spTree>
    <p:extLst>
      <p:ext uri="{BB962C8B-B14F-4D97-AF65-F5344CB8AC3E}">
        <p14:creationId xmlns:p14="http://schemas.microsoft.com/office/powerpoint/2010/main" val="4038495753"/>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196</a:t>
            </a:fld>
            <a:endParaRPr lang="en-IN"/>
          </a:p>
        </p:txBody>
      </p:sp>
    </p:spTree>
    <p:extLst>
      <p:ext uri="{BB962C8B-B14F-4D97-AF65-F5344CB8AC3E}">
        <p14:creationId xmlns:p14="http://schemas.microsoft.com/office/powerpoint/2010/main" val="3636041973"/>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197</a:t>
            </a:fld>
            <a:endParaRPr lang="en-IN"/>
          </a:p>
        </p:txBody>
      </p:sp>
    </p:spTree>
    <p:extLst>
      <p:ext uri="{BB962C8B-B14F-4D97-AF65-F5344CB8AC3E}">
        <p14:creationId xmlns:p14="http://schemas.microsoft.com/office/powerpoint/2010/main" val="1349529263"/>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198</a:t>
            </a:fld>
            <a:endParaRPr lang="en-IN"/>
          </a:p>
        </p:txBody>
      </p:sp>
    </p:spTree>
    <p:extLst>
      <p:ext uri="{BB962C8B-B14F-4D97-AF65-F5344CB8AC3E}">
        <p14:creationId xmlns:p14="http://schemas.microsoft.com/office/powerpoint/2010/main" val="3541244644"/>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199</a:t>
            </a:fld>
            <a:endParaRPr lang="en-IN"/>
          </a:p>
        </p:txBody>
      </p:sp>
    </p:spTree>
    <p:extLst>
      <p:ext uri="{BB962C8B-B14F-4D97-AF65-F5344CB8AC3E}">
        <p14:creationId xmlns:p14="http://schemas.microsoft.com/office/powerpoint/2010/main" val="3082184386"/>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200</a:t>
            </a:fld>
            <a:endParaRPr lang="en-IN"/>
          </a:p>
        </p:txBody>
      </p:sp>
    </p:spTree>
    <p:extLst>
      <p:ext uri="{BB962C8B-B14F-4D97-AF65-F5344CB8AC3E}">
        <p14:creationId xmlns:p14="http://schemas.microsoft.com/office/powerpoint/2010/main" val="242663989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201</a:t>
            </a:fld>
            <a:endParaRPr lang="en-IN"/>
          </a:p>
        </p:txBody>
      </p:sp>
    </p:spTree>
    <p:extLst>
      <p:ext uri="{BB962C8B-B14F-4D97-AF65-F5344CB8AC3E}">
        <p14:creationId xmlns:p14="http://schemas.microsoft.com/office/powerpoint/2010/main" val="2943071385"/>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202</a:t>
            </a:fld>
            <a:endParaRPr lang="en-IN"/>
          </a:p>
        </p:txBody>
      </p:sp>
    </p:spTree>
    <p:extLst>
      <p:ext uri="{BB962C8B-B14F-4D97-AF65-F5344CB8AC3E}">
        <p14:creationId xmlns:p14="http://schemas.microsoft.com/office/powerpoint/2010/main" val="506179325"/>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203</a:t>
            </a:fld>
            <a:endParaRPr lang="en-IN"/>
          </a:p>
        </p:txBody>
      </p:sp>
    </p:spTree>
    <p:extLst>
      <p:ext uri="{BB962C8B-B14F-4D97-AF65-F5344CB8AC3E}">
        <p14:creationId xmlns:p14="http://schemas.microsoft.com/office/powerpoint/2010/main" val="37519085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204</a:t>
            </a:fld>
            <a:endParaRPr lang="en-IN"/>
          </a:p>
        </p:txBody>
      </p:sp>
    </p:spTree>
    <p:extLst>
      <p:ext uri="{BB962C8B-B14F-4D97-AF65-F5344CB8AC3E}">
        <p14:creationId xmlns:p14="http://schemas.microsoft.com/office/powerpoint/2010/main" val="3933539225"/>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205</a:t>
            </a:fld>
            <a:endParaRPr lang="en-IN"/>
          </a:p>
        </p:txBody>
      </p:sp>
    </p:spTree>
    <p:extLst>
      <p:ext uri="{BB962C8B-B14F-4D97-AF65-F5344CB8AC3E}">
        <p14:creationId xmlns:p14="http://schemas.microsoft.com/office/powerpoint/2010/main" val="2822223692"/>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206</a:t>
            </a:fld>
            <a:endParaRPr lang="en-IN"/>
          </a:p>
        </p:txBody>
      </p:sp>
    </p:spTree>
    <p:extLst>
      <p:ext uri="{BB962C8B-B14F-4D97-AF65-F5344CB8AC3E}">
        <p14:creationId xmlns:p14="http://schemas.microsoft.com/office/powerpoint/2010/main" val="831802619"/>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207</a:t>
            </a:fld>
            <a:endParaRPr lang="en-IN"/>
          </a:p>
        </p:txBody>
      </p:sp>
    </p:spTree>
    <p:extLst>
      <p:ext uri="{BB962C8B-B14F-4D97-AF65-F5344CB8AC3E}">
        <p14:creationId xmlns:p14="http://schemas.microsoft.com/office/powerpoint/2010/main" val="703425113"/>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208</a:t>
            </a:fld>
            <a:endParaRPr lang="en-IN"/>
          </a:p>
        </p:txBody>
      </p:sp>
    </p:spTree>
    <p:extLst>
      <p:ext uri="{BB962C8B-B14F-4D97-AF65-F5344CB8AC3E}">
        <p14:creationId xmlns:p14="http://schemas.microsoft.com/office/powerpoint/2010/main" val="383144882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209</a:t>
            </a:fld>
            <a:endParaRPr lang="en-IN"/>
          </a:p>
        </p:txBody>
      </p:sp>
    </p:spTree>
    <p:extLst>
      <p:ext uri="{BB962C8B-B14F-4D97-AF65-F5344CB8AC3E}">
        <p14:creationId xmlns:p14="http://schemas.microsoft.com/office/powerpoint/2010/main" val="951138590"/>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210</a:t>
            </a:fld>
            <a:endParaRPr lang="en-IN"/>
          </a:p>
        </p:txBody>
      </p:sp>
    </p:spTree>
    <p:extLst>
      <p:ext uri="{BB962C8B-B14F-4D97-AF65-F5344CB8AC3E}">
        <p14:creationId xmlns:p14="http://schemas.microsoft.com/office/powerpoint/2010/main" val="3429551226"/>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211</a:t>
            </a:fld>
            <a:endParaRPr lang="en-IN"/>
          </a:p>
        </p:txBody>
      </p:sp>
    </p:spTree>
    <p:extLst>
      <p:ext uri="{BB962C8B-B14F-4D97-AF65-F5344CB8AC3E}">
        <p14:creationId xmlns:p14="http://schemas.microsoft.com/office/powerpoint/2010/main" val="2254977943"/>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212</a:t>
            </a:fld>
            <a:endParaRPr lang="en-IN"/>
          </a:p>
        </p:txBody>
      </p:sp>
    </p:spTree>
    <p:extLst>
      <p:ext uri="{BB962C8B-B14F-4D97-AF65-F5344CB8AC3E}">
        <p14:creationId xmlns:p14="http://schemas.microsoft.com/office/powerpoint/2010/main" val="3425371708"/>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213</a:t>
            </a:fld>
            <a:endParaRPr lang="en-IN"/>
          </a:p>
        </p:txBody>
      </p:sp>
    </p:spTree>
    <p:extLst>
      <p:ext uri="{BB962C8B-B14F-4D97-AF65-F5344CB8AC3E}">
        <p14:creationId xmlns:p14="http://schemas.microsoft.com/office/powerpoint/2010/main" val="390122766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214</a:t>
            </a:fld>
            <a:endParaRPr lang="en-IN"/>
          </a:p>
        </p:txBody>
      </p:sp>
    </p:spTree>
    <p:extLst>
      <p:ext uri="{BB962C8B-B14F-4D97-AF65-F5344CB8AC3E}">
        <p14:creationId xmlns:p14="http://schemas.microsoft.com/office/powerpoint/2010/main" val="2370833158"/>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215</a:t>
            </a:fld>
            <a:endParaRPr lang="en-IN"/>
          </a:p>
        </p:txBody>
      </p:sp>
    </p:spTree>
    <p:extLst>
      <p:ext uri="{BB962C8B-B14F-4D97-AF65-F5344CB8AC3E}">
        <p14:creationId xmlns:p14="http://schemas.microsoft.com/office/powerpoint/2010/main" val="18414713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216</a:t>
            </a:fld>
            <a:endParaRPr lang="en-IN"/>
          </a:p>
        </p:txBody>
      </p:sp>
    </p:spTree>
    <p:extLst>
      <p:ext uri="{BB962C8B-B14F-4D97-AF65-F5344CB8AC3E}">
        <p14:creationId xmlns:p14="http://schemas.microsoft.com/office/powerpoint/2010/main" val="464358370"/>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217</a:t>
            </a:fld>
            <a:endParaRPr lang="en-IN"/>
          </a:p>
        </p:txBody>
      </p:sp>
    </p:spTree>
    <p:extLst>
      <p:ext uri="{BB962C8B-B14F-4D97-AF65-F5344CB8AC3E}">
        <p14:creationId xmlns:p14="http://schemas.microsoft.com/office/powerpoint/2010/main" val="197176044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218</a:t>
            </a:fld>
            <a:endParaRPr lang="en-IN"/>
          </a:p>
        </p:txBody>
      </p:sp>
    </p:spTree>
    <p:extLst>
      <p:ext uri="{BB962C8B-B14F-4D97-AF65-F5344CB8AC3E}">
        <p14:creationId xmlns:p14="http://schemas.microsoft.com/office/powerpoint/2010/main" val="2105394063"/>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219</a:t>
            </a:fld>
            <a:endParaRPr lang="en-IN"/>
          </a:p>
        </p:txBody>
      </p:sp>
    </p:spTree>
    <p:extLst>
      <p:ext uri="{BB962C8B-B14F-4D97-AF65-F5344CB8AC3E}">
        <p14:creationId xmlns:p14="http://schemas.microsoft.com/office/powerpoint/2010/main" val="2396889815"/>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220</a:t>
            </a:fld>
            <a:endParaRPr lang="en-IN"/>
          </a:p>
        </p:txBody>
      </p:sp>
    </p:spTree>
    <p:extLst>
      <p:ext uri="{BB962C8B-B14F-4D97-AF65-F5344CB8AC3E}">
        <p14:creationId xmlns:p14="http://schemas.microsoft.com/office/powerpoint/2010/main" val="3160671950"/>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221</a:t>
            </a:fld>
            <a:endParaRPr lang="en-IN"/>
          </a:p>
        </p:txBody>
      </p:sp>
    </p:spTree>
    <p:extLst>
      <p:ext uri="{BB962C8B-B14F-4D97-AF65-F5344CB8AC3E}">
        <p14:creationId xmlns:p14="http://schemas.microsoft.com/office/powerpoint/2010/main" val="3676901108"/>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222</a:t>
            </a:fld>
            <a:endParaRPr lang="en-IN"/>
          </a:p>
        </p:txBody>
      </p:sp>
    </p:spTree>
    <p:extLst>
      <p:ext uri="{BB962C8B-B14F-4D97-AF65-F5344CB8AC3E}">
        <p14:creationId xmlns:p14="http://schemas.microsoft.com/office/powerpoint/2010/main" val="2972203677"/>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223</a:t>
            </a:fld>
            <a:endParaRPr lang="en-IN"/>
          </a:p>
        </p:txBody>
      </p:sp>
    </p:spTree>
    <p:extLst>
      <p:ext uri="{BB962C8B-B14F-4D97-AF65-F5344CB8AC3E}">
        <p14:creationId xmlns:p14="http://schemas.microsoft.com/office/powerpoint/2010/main" val="3723600458"/>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224</a:t>
            </a:fld>
            <a:endParaRPr lang="en-IN"/>
          </a:p>
        </p:txBody>
      </p:sp>
    </p:spTree>
    <p:extLst>
      <p:ext uri="{BB962C8B-B14F-4D97-AF65-F5344CB8AC3E}">
        <p14:creationId xmlns:p14="http://schemas.microsoft.com/office/powerpoint/2010/main" val="1244952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225</a:t>
            </a:fld>
            <a:endParaRPr lang="en-IN"/>
          </a:p>
        </p:txBody>
      </p:sp>
    </p:spTree>
    <p:extLst>
      <p:ext uri="{BB962C8B-B14F-4D97-AF65-F5344CB8AC3E}">
        <p14:creationId xmlns:p14="http://schemas.microsoft.com/office/powerpoint/2010/main" val="1221461197"/>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226</a:t>
            </a:fld>
            <a:endParaRPr lang="en-IN"/>
          </a:p>
        </p:txBody>
      </p:sp>
    </p:spTree>
    <p:extLst>
      <p:ext uri="{BB962C8B-B14F-4D97-AF65-F5344CB8AC3E}">
        <p14:creationId xmlns:p14="http://schemas.microsoft.com/office/powerpoint/2010/main" val="3334463714"/>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227</a:t>
            </a:fld>
            <a:endParaRPr lang="en-IN"/>
          </a:p>
        </p:txBody>
      </p:sp>
    </p:spTree>
    <p:extLst>
      <p:ext uri="{BB962C8B-B14F-4D97-AF65-F5344CB8AC3E}">
        <p14:creationId xmlns:p14="http://schemas.microsoft.com/office/powerpoint/2010/main" val="2741072310"/>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228</a:t>
            </a:fld>
            <a:endParaRPr lang="en-IN"/>
          </a:p>
        </p:txBody>
      </p:sp>
    </p:spTree>
    <p:extLst>
      <p:ext uri="{BB962C8B-B14F-4D97-AF65-F5344CB8AC3E}">
        <p14:creationId xmlns:p14="http://schemas.microsoft.com/office/powerpoint/2010/main" val="3255043186"/>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229</a:t>
            </a:fld>
            <a:endParaRPr lang="en-IN"/>
          </a:p>
        </p:txBody>
      </p:sp>
    </p:spTree>
    <p:extLst>
      <p:ext uri="{BB962C8B-B14F-4D97-AF65-F5344CB8AC3E}">
        <p14:creationId xmlns:p14="http://schemas.microsoft.com/office/powerpoint/2010/main" val="239607777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230</a:t>
            </a:fld>
            <a:endParaRPr lang="en-IN"/>
          </a:p>
        </p:txBody>
      </p:sp>
    </p:spTree>
    <p:extLst>
      <p:ext uri="{BB962C8B-B14F-4D97-AF65-F5344CB8AC3E}">
        <p14:creationId xmlns:p14="http://schemas.microsoft.com/office/powerpoint/2010/main" val="2551829930"/>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231</a:t>
            </a:fld>
            <a:endParaRPr lang="en-IN"/>
          </a:p>
        </p:txBody>
      </p:sp>
    </p:spTree>
    <p:extLst>
      <p:ext uri="{BB962C8B-B14F-4D97-AF65-F5344CB8AC3E}">
        <p14:creationId xmlns:p14="http://schemas.microsoft.com/office/powerpoint/2010/main" val="965183837"/>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232</a:t>
            </a:fld>
            <a:endParaRPr lang="en-IN"/>
          </a:p>
        </p:txBody>
      </p:sp>
    </p:spTree>
    <p:extLst>
      <p:ext uri="{BB962C8B-B14F-4D97-AF65-F5344CB8AC3E}">
        <p14:creationId xmlns:p14="http://schemas.microsoft.com/office/powerpoint/2010/main" val="2164428308"/>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233</a:t>
            </a:fld>
            <a:endParaRPr lang="en-IN"/>
          </a:p>
        </p:txBody>
      </p:sp>
    </p:spTree>
    <p:extLst>
      <p:ext uri="{BB962C8B-B14F-4D97-AF65-F5344CB8AC3E}">
        <p14:creationId xmlns:p14="http://schemas.microsoft.com/office/powerpoint/2010/main" val="46467702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234</a:t>
            </a:fld>
            <a:endParaRPr lang="en-IN"/>
          </a:p>
        </p:txBody>
      </p:sp>
    </p:spTree>
    <p:extLst>
      <p:ext uri="{BB962C8B-B14F-4D97-AF65-F5344CB8AC3E}">
        <p14:creationId xmlns:p14="http://schemas.microsoft.com/office/powerpoint/2010/main" val="1128778289"/>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235</a:t>
            </a:fld>
            <a:endParaRPr lang="en-IN"/>
          </a:p>
        </p:txBody>
      </p:sp>
    </p:spTree>
    <p:extLst>
      <p:ext uri="{BB962C8B-B14F-4D97-AF65-F5344CB8AC3E}">
        <p14:creationId xmlns:p14="http://schemas.microsoft.com/office/powerpoint/2010/main" val="3993245502"/>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236</a:t>
            </a:fld>
            <a:endParaRPr lang="en-IN"/>
          </a:p>
        </p:txBody>
      </p:sp>
    </p:spTree>
    <p:extLst>
      <p:ext uri="{BB962C8B-B14F-4D97-AF65-F5344CB8AC3E}">
        <p14:creationId xmlns:p14="http://schemas.microsoft.com/office/powerpoint/2010/main" val="281003208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237</a:t>
            </a:fld>
            <a:endParaRPr lang="en-IN"/>
          </a:p>
        </p:txBody>
      </p:sp>
    </p:spTree>
    <p:extLst>
      <p:ext uri="{BB962C8B-B14F-4D97-AF65-F5344CB8AC3E}">
        <p14:creationId xmlns:p14="http://schemas.microsoft.com/office/powerpoint/2010/main" val="1749303438"/>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238</a:t>
            </a:fld>
            <a:endParaRPr lang="en-IN"/>
          </a:p>
        </p:txBody>
      </p:sp>
    </p:spTree>
    <p:extLst>
      <p:ext uri="{BB962C8B-B14F-4D97-AF65-F5344CB8AC3E}">
        <p14:creationId xmlns:p14="http://schemas.microsoft.com/office/powerpoint/2010/main" val="2310209363"/>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239</a:t>
            </a:fld>
            <a:endParaRPr lang="en-IN"/>
          </a:p>
        </p:txBody>
      </p:sp>
    </p:spTree>
    <p:extLst>
      <p:ext uri="{BB962C8B-B14F-4D97-AF65-F5344CB8AC3E}">
        <p14:creationId xmlns:p14="http://schemas.microsoft.com/office/powerpoint/2010/main" val="168089939"/>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240</a:t>
            </a:fld>
            <a:endParaRPr lang="en-IN"/>
          </a:p>
        </p:txBody>
      </p:sp>
    </p:spTree>
    <p:extLst>
      <p:ext uri="{BB962C8B-B14F-4D97-AF65-F5344CB8AC3E}">
        <p14:creationId xmlns:p14="http://schemas.microsoft.com/office/powerpoint/2010/main" val="192529759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241</a:t>
            </a:fld>
            <a:endParaRPr lang="en-IN"/>
          </a:p>
        </p:txBody>
      </p:sp>
    </p:spTree>
    <p:extLst>
      <p:ext uri="{BB962C8B-B14F-4D97-AF65-F5344CB8AC3E}">
        <p14:creationId xmlns:p14="http://schemas.microsoft.com/office/powerpoint/2010/main" val="3958814358"/>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242</a:t>
            </a:fld>
            <a:endParaRPr lang="en-IN"/>
          </a:p>
        </p:txBody>
      </p:sp>
    </p:spTree>
    <p:extLst>
      <p:ext uri="{BB962C8B-B14F-4D97-AF65-F5344CB8AC3E}">
        <p14:creationId xmlns:p14="http://schemas.microsoft.com/office/powerpoint/2010/main" val="4071088188"/>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243</a:t>
            </a:fld>
            <a:endParaRPr lang="en-IN"/>
          </a:p>
        </p:txBody>
      </p:sp>
    </p:spTree>
    <p:extLst>
      <p:ext uri="{BB962C8B-B14F-4D97-AF65-F5344CB8AC3E}">
        <p14:creationId xmlns:p14="http://schemas.microsoft.com/office/powerpoint/2010/main" val="25492870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244</a:t>
            </a:fld>
            <a:endParaRPr lang="en-IN"/>
          </a:p>
        </p:txBody>
      </p:sp>
    </p:spTree>
    <p:extLst>
      <p:ext uri="{BB962C8B-B14F-4D97-AF65-F5344CB8AC3E}">
        <p14:creationId xmlns:p14="http://schemas.microsoft.com/office/powerpoint/2010/main" val="2354462320"/>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245</a:t>
            </a:fld>
            <a:endParaRPr lang="en-IN"/>
          </a:p>
        </p:txBody>
      </p:sp>
    </p:spTree>
    <p:extLst>
      <p:ext uri="{BB962C8B-B14F-4D97-AF65-F5344CB8AC3E}">
        <p14:creationId xmlns:p14="http://schemas.microsoft.com/office/powerpoint/2010/main" val="945107434"/>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246</a:t>
            </a:fld>
            <a:endParaRPr lang="en-IN"/>
          </a:p>
        </p:txBody>
      </p:sp>
    </p:spTree>
    <p:extLst>
      <p:ext uri="{BB962C8B-B14F-4D97-AF65-F5344CB8AC3E}">
        <p14:creationId xmlns:p14="http://schemas.microsoft.com/office/powerpoint/2010/main" val="1595596556"/>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247</a:t>
            </a:fld>
            <a:endParaRPr lang="en-IN"/>
          </a:p>
        </p:txBody>
      </p:sp>
    </p:spTree>
    <p:extLst>
      <p:ext uri="{BB962C8B-B14F-4D97-AF65-F5344CB8AC3E}">
        <p14:creationId xmlns:p14="http://schemas.microsoft.com/office/powerpoint/2010/main" val="140841434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248</a:t>
            </a:fld>
            <a:endParaRPr lang="en-IN"/>
          </a:p>
        </p:txBody>
      </p:sp>
    </p:spTree>
    <p:extLst>
      <p:ext uri="{BB962C8B-B14F-4D97-AF65-F5344CB8AC3E}">
        <p14:creationId xmlns:p14="http://schemas.microsoft.com/office/powerpoint/2010/main" val="510012907"/>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249</a:t>
            </a:fld>
            <a:endParaRPr lang="en-IN"/>
          </a:p>
        </p:txBody>
      </p:sp>
    </p:spTree>
    <p:extLst>
      <p:ext uri="{BB962C8B-B14F-4D97-AF65-F5344CB8AC3E}">
        <p14:creationId xmlns:p14="http://schemas.microsoft.com/office/powerpoint/2010/main" val="2861395087"/>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250</a:t>
            </a:fld>
            <a:endParaRPr lang="en-IN"/>
          </a:p>
        </p:txBody>
      </p:sp>
    </p:spTree>
    <p:extLst>
      <p:ext uri="{BB962C8B-B14F-4D97-AF65-F5344CB8AC3E}">
        <p14:creationId xmlns:p14="http://schemas.microsoft.com/office/powerpoint/2010/main" val="963928269"/>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251</a:t>
            </a:fld>
            <a:endParaRPr lang="en-IN"/>
          </a:p>
        </p:txBody>
      </p:sp>
    </p:spTree>
    <p:extLst>
      <p:ext uri="{BB962C8B-B14F-4D97-AF65-F5344CB8AC3E}">
        <p14:creationId xmlns:p14="http://schemas.microsoft.com/office/powerpoint/2010/main" val="513071727"/>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252</a:t>
            </a:fld>
            <a:endParaRPr lang="en-IN"/>
          </a:p>
        </p:txBody>
      </p:sp>
    </p:spTree>
    <p:extLst>
      <p:ext uri="{BB962C8B-B14F-4D97-AF65-F5344CB8AC3E}">
        <p14:creationId xmlns:p14="http://schemas.microsoft.com/office/powerpoint/2010/main" val="355059647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253</a:t>
            </a:fld>
            <a:endParaRPr lang="en-IN"/>
          </a:p>
        </p:txBody>
      </p:sp>
    </p:spTree>
    <p:extLst>
      <p:ext uri="{BB962C8B-B14F-4D97-AF65-F5344CB8AC3E}">
        <p14:creationId xmlns:p14="http://schemas.microsoft.com/office/powerpoint/2010/main" val="2823976447"/>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254</a:t>
            </a:fld>
            <a:endParaRPr lang="en-IN"/>
          </a:p>
        </p:txBody>
      </p:sp>
    </p:spTree>
    <p:extLst>
      <p:ext uri="{BB962C8B-B14F-4D97-AF65-F5344CB8AC3E}">
        <p14:creationId xmlns:p14="http://schemas.microsoft.com/office/powerpoint/2010/main" val="3888271227"/>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255</a:t>
            </a:fld>
            <a:endParaRPr lang="en-IN"/>
          </a:p>
        </p:txBody>
      </p:sp>
    </p:spTree>
    <p:extLst>
      <p:ext uri="{BB962C8B-B14F-4D97-AF65-F5344CB8AC3E}">
        <p14:creationId xmlns:p14="http://schemas.microsoft.com/office/powerpoint/2010/main" val="2186220325"/>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256</a:t>
            </a:fld>
            <a:endParaRPr lang="en-IN"/>
          </a:p>
        </p:txBody>
      </p:sp>
    </p:spTree>
    <p:extLst>
      <p:ext uri="{BB962C8B-B14F-4D97-AF65-F5344CB8AC3E}">
        <p14:creationId xmlns:p14="http://schemas.microsoft.com/office/powerpoint/2010/main" val="1874990248"/>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257</a:t>
            </a:fld>
            <a:endParaRPr lang="en-IN"/>
          </a:p>
        </p:txBody>
      </p:sp>
    </p:spTree>
    <p:extLst>
      <p:ext uri="{BB962C8B-B14F-4D97-AF65-F5344CB8AC3E}">
        <p14:creationId xmlns:p14="http://schemas.microsoft.com/office/powerpoint/2010/main" val="3824158535"/>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258</a:t>
            </a:fld>
            <a:endParaRPr lang="en-IN"/>
          </a:p>
        </p:txBody>
      </p:sp>
    </p:spTree>
    <p:extLst>
      <p:ext uri="{BB962C8B-B14F-4D97-AF65-F5344CB8AC3E}">
        <p14:creationId xmlns:p14="http://schemas.microsoft.com/office/powerpoint/2010/main" val="1805896628"/>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259</a:t>
            </a:fld>
            <a:endParaRPr lang="en-IN"/>
          </a:p>
        </p:txBody>
      </p:sp>
    </p:spTree>
    <p:extLst>
      <p:ext uri="{BB962C8B-B14F-4D97-AF65-F5344CB8AC3E}">
        <p14:creationId xmlns:p14="http://schemas.microsoft.com/office/powerpoint/2010/main" val="506043622"/>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260</a:t>
            </a:fld>
            <a:endParaRPr lang="en-IN"/>
          </a:p>
        </p:txBody>
      </p:sp>
    </p:spTree>
    <p:extLst>
      <p:ext uri="{BB962C8B-B14F-4D97-AF65-F5344CB8AC3E}">
        <p14:creationId xmlns:p14="http://schemas.microsoft.com/office/powerpoint/2010/main" val="2780655667"/>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261</a:t>
            </a:fld>
            <a:endParaRPr lang="en-IN"/>
          </a:p>
        </p:txBody>
      </p:sp>
    </p:spTree>
    <p:extLst>
      <p:ext uri="{BB962C8B-B14F-4D97-AF65-F5344CB8AC3E}">
        <p14:creationId xmlns:p14="http://schemas.microsoft.com/office/powerpoint/2010/main" val="3281309285"/>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262</a:t>
            </a:fld>
            <a:endParaRPr lang="en-IN"/>
          </a:p>
        </p:txBody>
      </p:sp>
    </p:spTree>
    <p:extLst>
      <p:ext uri="{BB962C8B-B14F-4D97-AF65-F5344CB8AC3E}">
        <p14:creationId xmlns:p14="http://schemas.microsoft.com/office/powerpoint/2010/main" val="3234091690"/>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263</a:t>
            </a:fld>
            <a:endParaRPr lang="en-IN"/>
          </a:p>
        </p:txBody>
      </p:sp>
    </p:spTree>
    <p:extLst>
      <p:ext uri="{BB962C8B-B14F-4D97-AF65-F5344CB8AC3E}">
        <p14:creationId xmlns:p14="http://schemas.microsoft.com/office/powerpoint/2010/main" val="2921921198"/>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264</a:t>
            </a:fld>
            <a:endParaRPr lang="en-IN"/>
          </a:p>
        </p:txBody>
      </p:sp>
    </p:spTree>
    <p:extLst>
      <p:ext uri="{BB962C8B-B14F-4D97-AF65-F5344CB8AC3E}">
        <p14:creationId xmlns:p14="http://schemas.microsoft.com/office/powerpoint/2010/main" val="2287169218"/>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265</a:t>
            </a:fld>
            <a:endParaRPr lang="en-IN"/>
          </a:p>
        </p:txBody>
      </p:sp>
    </p:spTree>
    <p:extLst>
      <p:ext uri="{BB962C8B-B14F-4D97-AF65-F5344CB8AC3E}">
        <p14:creationId xmlns:p14="http://schemas.microsoft.com/office/powerpoint/2010/main" val="1820956043"/>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266</a:t>
            </a:fld>
            <a:endParaRPr lang="en-IN"/>
          </a:p>
        </p:txBody>
      </p:sp>
    </p:spTree>
    <p:extLst>
      <p:ext uri="{BB962C8B-B14F-4D97-AF65-F5344CB8AC3E}">
        <p14:creationId xmlns:p14="http://schemas.microsoft.com/office/powerpoint/2010/main" val="8055790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267</a:t>
            </a:fld>
            <a:endParaRPr lang="en-IN"/>
          </a:p>
        </p:txBody>
      </p:sp>
    </p:spTree>
    <p:extLst>
      <p:ext uri="{BB962C8B-B14F-4D97-AF65-F5344CB8AC3E}">
        <p14:creationId xmlns:p14="http://schemas.microsoft.com/office/powerpoint/2010/main" val="1361675584"/>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268</a:t>
            </a:fld>
            <a:endParaRPr lang="en-IN"/>
          </a:p>
        </p:txBody>
      </p:sp>
    </p:spTree>
    <p:extLst>
      <p:ext uri="{BB962C8B-B14F-4D97-AF65-F5344CB8AC3E}">
        <p14:creationId xmlns:p14="http://schemas.microsoft.com/office/powerpoint/2010/main" val="3448898465"/>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269</a:t>
            </a:fld>
            <a:endParaRPr lang="en-IN"/>
          </a:p>
        </p:txBody>
      </p:sp>
    </p:spTree>
    <p:extLst>
      <p:ext uri="{BB962C8B-B14F-4D97-AF65-F5344CB8AC3E}">
        <p14:creationId xmlns:p14="http://schemas.microsoft.com/office/powerpoint/2010/main" val="398625036"/>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270</a:t>
            </a:fld>
            <a:endParaRPr lang="en-IN"/>
          </a:p>
        </p:txBody>
      </p:sp>
    </p:spTree>
    <p:extLst>
      <p:ext uri="{BB962C8B-B14F-4D97-AF65-F5344CB8AC3E}">
        <p14:creationId xmlns:p14="http://schemas.microsoft.com/office/powerpoint/2010/main" val="2518443728"/>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271</a:t>
            </a:fld>
            <a:endParaRPr lang="en-IN"/>
          </a:p>
        </p:txBody>
      </p:sp>
    </p:spTree>
    <p:extLst>
      <p:ext uri="{BB962C8B-B14F-4D97-AF65-F5344CB8AC3E}">
        <p14:creationId xmlns:p14="http://schemas.microsoft.com/office/powerpoint/2010/main" val="2254019057"/>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272</a:t>
            </a:fld>
            <a:endParaRPr lang="en-IN"/>
          </a:p>
        </p:txBody>
      </p:sp>
    </p:spTree>
    <p:extLst>
      <p:ext uri="{BB962C8B-B14F-4D97-AF65-F5344CB8AC3E}">
        <p14:creationId xmlns:p14="http://schemas.microsoft.com/office/powerpoint/2010/main" val="3448421308"/>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273</a:t>
            </a:fld>
            <a:endParaRPr lang="en-IN"/>
          </a:p>
        </p:txBody>
      </p:sp>
    </p:spTree>
    <p:extLst>
      <p:ext uri="{BB962C8B-B14F-4D97-AF65-F5344CB8AC3E}">
        <p14:creationId xmlns:p14="http://schemas.microsoft.com/office/powerpoint/2010/main" val="239861635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274</a:t>
            </a:fld>
            <a:endParaRPr lang="en-IN"/>
          </a:p>
        </p:txBody>
      </p:sp>
    </p:spTree>
    <p:extLst>
      <p:ext uri="{BB962C8B-B14F-4D97-AF65-F5344CB8AC3E}">
        <p14:creationId xmlns:p14="http://schemas.microsoft.com/office/powerpoint/2010/main" val="950803512"/>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275</a:t>
            </a:fld>
            <a:endParaRPr lang="en-IN"/>
          </a:p>
        </p:txBody>
      </p:sp>
    </p:spTree>
    <p:extLst>
      <p:ext uri="{BB962C8B-B14F-4D97-AF65-F5344CB8AC3E}">
        <p14:creationId xmlns:p14="http://schemas.microsoft.com/office/powerpoint/2010/main" val="3941638545"/>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276</a:t>
            </a:fld>
            <a:endParaRPr lang="en-IN"/>
          </a:p>
        </p:txBody>
      </p:sp>
    </p:spTree>
    <p:extLst>
      <p:ext uri="{BB962C8B-B14F-4D97-AF65-F5344CB8AC3E}">
        <p14:creationId xmlns:p14="http://schemas.microsoft.com/office/powerpoint/2010/main" val="990078555"/>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277</a:t>
            </a:fld>
            <a:endParaRPr lang="en-IN"/>
          </a:p>
        </p:txBody>
      </p:sp>
    </p:spTree>
    <p:extLst>
      <p:ext uri="{BB962C8B-B14F-4D97-AF65-F5344CB8AC3E}">
        <p14:creationId xmlns:p14="http://schemas.microsoft.com/office/powerpoint/2010/main" val="2867890665"/>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278</a:t>
            </a:fld>
            <a:endParaRPr lang="en-IN"/>
          </a:p>
        </p:txBody>
      </p:sp>
    </p:spTree>
    <p:extLst>
      <p:ext uri="{BB962C8B-B14F-4D97-AF65-F5344CB8AC3E}">
        <p14:creationId xmlns:p14="http://schemas.microsoft.com/office/powerpoint/2010/main" val="3012701137"/>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279</a:t>
            </a:fld>
            <a:endParaRPr lang="en-IN"/>
          </a:p>
        </p:txBody>
      </p:sp>
    </p:spTree>
    <p:extLst>
      <p:ext uri="{BB962C8B-B14F-4D97-AF65-F5344CB8AC3E}">
        <p14:creationId xmlns:p14="http://schemas.microsoft.com/office/powerpoint/2010/main" val="991786123"/>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280</a:t>
            </a:fld>
            <a:endParaRPr lang="en-IN"/>
          </a:p>
        </p:txBody>
      </p:sp>
    </p:spTree>
    <p:extLst>
      <p:ext uri="{BB962C8B-B14F-4D97-AF65-F5344CB8AC3E}">
        <p14:creationId xmlns:p14="http://schemas.microsoft.com/office/powerpoint/2010/main" val="2381671479"/>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281</a:t>
            </a:fld>
            <a:endParaRPr lang="en-IN"/>
          </a:p>
        </p:txBody>
      </p:sp>
    </p:spTree>
    <p:extLst>
      <p:ext uri="{BB962C8B-B14F-4D97-AF65-F5344CB8AC3E}">
        <p14:creationId xmlns:p14="http://schemas.microsoft.com/office/powerpoint/2010/main" val="1046616189"/>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282</a:t>
            </a:fld>
            <a:endParaRPr lang="en-IN"/>
          </a:p>
        </p:txBody>
      </p:sp>
    </p:spTree>
    <p:extLst>
      <p:ext uri="{BB962C8B-B14F-4D97-AF65-F5344CB8AC3E}">
        <p14:creationId xmlns:p14="http://schemas.microsoft.com/office/powerpoint/2010/main" val="1372356912"/>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283</a:t>
            </a:fld>
            <a:endParaRPr lang="en-IN"/>
          </a:p>
        </p:txBody>
      </p:sp>
    </p:spTree>
    <p:extLst>
      <p:ext uri="{BB962C8B-B14F-4D97-AF65-F5344CB8AC3E}">
        <p14:creationId xmlns:p14="http://schemas.microsoft.com/office/powerpoint/2010/main" val="3867245903"/>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284</a:t>
            </a:fld>
            <a:endParaRPr lang="en-IN"/>
          </a:p>
        </p:txBody>
      </p:sp>
    </p:spTree>
    <p:extLst>
      <p:ext uri="{BB962C8B-B14F-4D97-AF65-F5344CB8AC3E}">
        <p14:creationId xmlns:p14="http://schemas.microsoft.com/office/powerpoint/2010/main" val="2537427294"/>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285</a:t>
            </a:fld>
            <a:endParaRPr lang="en-IN"/>
          </a:p>
        </p:txBody>
      </p:sp>
    </p:spTree>
    <p:extLst>
      <p:ext uri="{BB962C8B-B14F-4D97-AF65-F5344CB8AC3E}">
        <p14:creationId xmlns:p14="http://schemas.microsoft.com/office/powerpoint/2010/main" val="2596754458"/>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286</a:t>
            </a:fld>
            <a:endParaRPr lang="en-IN"/>
          </a:p>
        </p:txBody>
      </p:sp>
    </p:spTree>
    <p:extLst>
      <p:ext uri="{BB962C8B-B14F-4D97-AF65-F5344CB8AC3E}">
        <p14:creationId xmlns:p14="http://schemas.microsoft.com/office/powerpoint/2010/main" val="28295317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287</a:t>
            </a:fld>
            <a:endParaRPr lang="en-IN"/>
          </a:p>
        </p:txBody>
      </p:sp>
    </p:spTree>
    <p:extLst>
      <p:ext uri="{BB962C8B-B14F-4D97-AF65-F5344CB8AC3E}">
        <p14:creationId xmlns:p14="http://schemas.microsoft.com/office/powerpoint/2010/main" val="4066401728"/>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288</a:t>
            </a:fld>
            <a:endParaRPr lang="en-IN"/>
          </a:p>
        </p:txBody>
      </p:sp>
    </p:spTree>
    <p:extLst>
      <p:ext uri="{BB962C8B-B14F-4D97-AF65-F5344CB8AC3E}">
        <p14:creationId xmlns:p14="http://schemas.microsoft.com/office/powerpoint/2010/main" val="3219825918"/>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289</a:t>
            </a:fld>
            <a:endParaRPr lang="en-IN"/>
          </a:p>
        </p:txBody>
      </p:sp>
    </p:spTree>
    <p:extLst>
      <p:ext uri="{BB962C8B-B14F-4D97-AF65-F5344CB8AC3E}">
        <p14:creationId xmlns:p14="http://schemas.microsoft.com/office/powerpoint/2010/main" val="2803467773"/>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290</a:t>
            </a:fld>
            <a:endParaRPr lang="en-IN"/>
          </a:p>
        </p:txBody>
      </p:sp>
    </p:spTree>
    <p:extLst>
      <p:ext uri="{BB962C8B-B14F-4D97-AF65-F5344CB8AC3E}">
        <p14:creationId xmlns:p14="http://schemas.microsoft.com/office/powerpoint/2010/main" val="3584586262"/>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291</a:t>
            </a:fld>
            <a:endParaRPr lang="en-IN"/>
          </a:p>
        </p:txBody>
      </p:sp>
    </p:spTree>
    <p:extLst>
      <p:ext uri="{BB962C8B-B14F-4D97-AF65-F5344CB8AC3E}">
        <p14:creationId xmlns:p14="http://schemas.microsoft.com/office/powerpoint/2010/main" val="4243403222"/>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292</a:t>
            </a:fld>
            <a:endParaRPr lang="en-IN"/>
          </a:p>
        </p:txBody>
      </p:sp>
    </p:spTree>
    <p:extLst>
      <p:ext uri="{BB962C8B-B14F-4D97-AF65-F5344CB8AC3E}">
        <p14:creationId xmlns:p14="http://schemas.microsoft.com/office/powerpoint/2010/main" val="3372216825"/>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293</a:t>
            </a:fld>
            <a:endParaRPr lang="en-IN"/>
          </a:p>
        </p:txBody>
      </p:sp>
    </p:spTree>
    <p:extLst>
      <p:ext uri="{BB962C8B-B14F-4D97-AF65-F5344CB8AC3E}">
        <p14:creationId xmlns:p14="http://schemas.microsoft.com/office/powerpoint/2010/main" val="2196970356"/>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294</a:t>
            </a:fld>
            <a:endParaRPr lang="en-IN"/>
          </a:p>
        </p:txBody>
      </p:sp>
    </p:spTree>
    <p:extLst>
      <p:ext uri="{BB962C8B-B14F-4D97-AF65-F5344CB8AC3E}">
        <p14:creationId xmlns:p14="http://schemas.microsoft.com/office/powerpoint/2010/main" val="261439465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295</a:t>
            </a:fld>
            <a:endParaRPr lang="en-IN"/>
          </a:p>
        </p:txBody>
      </p:sp>
    </p:spTree>
    <p:extLst>
      <p:ext uri="{BB962C8B-B14F-4D97-AF65-F5344CB8AC3E}">
        <p14:creationId xmlns:p14="http://schemas.microsoft.com/office/powerpoint/2010/main" val="164084551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296</a:t>
            </a:fld>
            <a:endParaRPr lang="en-IN"/>
          </a:p>
        </p:txBody>
      </p:sp>
    </p:spTree>
    <p:extLst>
      <p:ext uri="{BB962C8B-B14F-4D97-AF65-F5344CB8AC3E}">
        <p14:creationId xmlns:p14="http://schemas.microsoft.com/office/powerpoint/2010/main" val="1057246500"/>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297</a:t>
            </a:fld>
            <a:endParaRPr lang="en-IN"/>
          </a:p>
        </p:txBody>
      </p:sp>
    </p:spTree>
    <p:extLst>
      <p:ext uri="{BB962C8B-B14F-4D97-AF65-F5344CB8AC3E}">
        <p14:creationId xmlns:p14="http://schemas.microsoft.com/office/powerpoint/2010/main" val="3712464347"/>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298</a:t>
            </a:fld>
            <a:endParaRPr lang="en-IN"/>
          </a:p>
        </p:txBody>
      </p:sp>
    </p:spTree>
    <p:extLst>
      <p:ext uri="{BB962C8B-B14F-4D97-AF65-F5344CB8AC3E}">
        <p14:creationId xmlns:p14="http://schemas.microsoft.com/office/powerpoint/2010/main" val="2494233972"/>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299</a:t>
            </a:fld>
            <a:endParaRPr lang="en-IN"/>
          </a:p>
        </p:txBody>
      </p:sp>
    </p:spTree>
    <p:extLst>
      <p:ext uri="{BB962C8B-B14F-4D97-AF65-F5344CB8AC3E}">
        <p14:creationId xmlns:p14="http://schemas.microsoft.com/office/powerpoint/2010/main" val="352226996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300</a:t>
            </a:fld>
            <a:endParaRPr lang="en-IN"/>
          </a:p>
        </p:txBody>
      </p:sp>
    </p:spTree>
    <p:extLst>
      <p:ext uri="{BB962C8B-B14F-4D97-AF65-F5344CB8AC3E}">
        <p14:creationId xmlns:p14="http://schemas.microsoft.com/office/powerpoint/2010/main" val="2907014166"/>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301</a:t>
            </a:fld>
            <a:endParaRPr lang="en-IN"/>
          </a:p>
        </p:txBody>
      </p:sp>
    </p:spTree>
    <p:extLst>
      <p:ext uri="{BB962C8B-B14F-4D97-AF65-F5344CB8AC3E}">
        <p14:creationId xmlns:p14="http://schemas.microsoft.com/office/powerpoint/2010/main" val="271204429"/>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302</a:t>
            </a:fld>
            <a:endParaRPr lang="en-IN"/>
          </a:p>
        </p:txBody>
      </p:sp>
    </p:spTree>
    <p:extLst>
      <p:ext uri="{BB962C8B-B14F-4D97-AF65-F5344CB8AC3E}">
        <p14:creationId xmlns:p14="http://schemas.microsoft.com/office/powerpoint/2010/main" val="4186955114"/>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303</a:t>
            </a:fld>
            <a:endParaRPr lang="en-IN"/>
          </a:p>
        </p:txBody>
      </p:sp>
    </p:spTree>
    <p:extLst>
      <p:ext uri="{BB962C8B-B14F-4D97-AF65-F5344CB8AC3E}">
        <p14:creationId xmlns:p14="http://schemas.microsoft.com/office/powerpoint/2010/main" val="200646231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304</a:t>
            </a:fld>
            <a:endParaRPr lang="en-IN"/>
          </a:p>
        </p:txBody>
      </p:sp>
    </p:spTree>
    <p:extLst>
      <p:ext uri="{BB962C8B-B14F-4D97-AF65-F5344CB8AC3E}">
        <p14:creationId xmlns:p14="http://schemas.microsoft.com/office/powerpoint/2010/main" val="2188560688"/>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305</a:t>
            </a:fld>
            <a:endParaRPr lang="en-IN"/>
          </a:p>
        </p:txBody>
      </p:sp>
    </p:spTree>
    <p:extLst>
      <p:ext uri="{BB962C8B-B14F-4D97-AF65-F5344CB8AC3E}">
        <p14:creationId xmlns:p14="http://schemas.microsoft.com/office/powerpoint/2010/main" val="2155526942"/>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306</a:t>
            </a:fld>
            <a:endParaRPr lang="en-IN"/>
          </a:p>
        </p:txBody>
      </p:sp>
    </p:spTree>
    <p:extLst>
      <p:ext uri="{BB962C8B-B14F-4D97-AF65-F5344CB8AC3E}">
        <p14:creationId xmlns:p14="http://schemas.microsoft.com/office/powerpoint/2010/main" val="2465446020"/>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307</a:t>
            </a:fld>
            <a:endParaRPr lang="en-IN"/>
          </a:p>
        </p:txBody>
      </p:sp>
    </p:spTree>
    <p:extLst>
      <p:ext uri="{BB962C8B-B14F-4D97-AF65-F5344CB8AC3E}">
        <p14:creationId xmlns:p14="http://schemas.microsoft.com/office/powerpoint/2010/main" val="3683560859"/>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308</a:t>
            </a:fld>
            <a:endParaRPr lang="en-IN"/>
          </a:p>
        </p:txBody>
      </p:sp>
    </p:spTree>
    <p:extLst>
      <p:ext uri="{BB962C8B-B14F-4D97-AF65-F5344CB8AC3E}">
        <p14:creationId xmlns:p14="http://schemas.microsoft.com/office/powerpoint/2010/main" val="2109043664"/>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309</a:t>
            </a:fld>
            <a:endParaRPr lang="en-IN"/>
          </a:p>
        </p:txBody>
      </p:sp>
    </p:spTree>
    <p:extLst>
      <p:ext uri="{BB962C8B-B14F-4D97-AF65-F5344CB8AC3E}">
        <p14:creationId xmlns:p14="http://schemas.microsoft.com/office/powerpoint/2010/main" val="3594995533"/>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310</a:t>
            </a:fld>
            <a:endParaRPr lang="en-IN"/>
          </a:p>
        </p:txBody>
      </p:sp>
    </p:spTree>
    <p:extLst>
      <p:ext uri="{BB962C8B-B14F-4D97-AF65-F5344CB8AC3E}">
        <p14:creationId xmlns:p14="http://schemas.microsoft.com/office/powerpoint/2010/main" val="3313692066"/>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311</a:t>
            </a:fld>
            <a:endParaRPr lang="en-IN"/>
          </a:p>
        </p:txBody>
      </p:sp>
    </p:spTree>
    <p:extLst>
      <p:ext uri="{BB962C8B-B14F-4D97-AF65-F5344CB8AC3E}">
        <p14:creationId xmlns:p14="http://schemas.microsoft.com/office/powerpoint/2010/main" val="1525454062"/>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312</a:t>
            </a:fld>
            <a:endParaRPr lang="en-IN"/>
          </a:p>
        </p:txBody>
      </p:sp>
    </p:spTree>
    <p:extLst>
      <p:ext uri="{BB962C8B-B14F-4D97-AF65-F5344CB8AC3E}">
        <p14:creationId xmlns:p14="http://schemas.microsoft.com/office/powerpoint/2010/main" val="3664194749"/>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313</a:t>
            </a:fld>
            <a:endParaRPr lang="en-IN"/>
          </a:p>
        </p:txBody>
      </p:sp>
    </p:spTree>
    <p:extLst>
      <p:ext uri="{BB962C8B-B14F-4D97-AF65-F5344CB8AC3E}">
        <p14:creationId xmlns:p14="http://schemas.microsoft.com/office/powerpoint/2010/main" val="4031363294"/>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314</a:t>
            </a:fld>
            <a:endParaRPr lang="en-IN"/>
          </a:p>
        </p:txBody>
      </p:sp>
    </p:spTree>
    <p:extLst>
      <p:ext uri="{BB962C8B-B14F-4D97-AF65-F5344CB8AC3E}">
        <p14:creationId xmlns:p14="http://schemas.microsoft.com/office/powerpoint/2010/main" val="3566256486"/>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315</a:t>
            </a:fld>
            <a:endParaRPr lang="en-IN"/>
          </a:p>
        </p:txBody>
      </p:sp>
    </p:spTree>
    <p:extLst>
      <p:ext uri="{BB962C8B-B14F-4D97-AF65-F5344CB8AC3E}">
        <p14:creationId xmlns:p14="http://schemas.microsoft.com/office/powerpoint/2010/main" val="3414050598"/>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316</a:t>
            </a:fld>
            <a:endParaRPr lang="en-IN"/>
          </a:p>
        </p:txBody>
      </p:sp>
    </p:spTree>
    <p:extLst>
      <p:ext uri="{BB962C8B-B14F-4D97-AF65-F5344CB8AC3E}">
        <p14:creationId xmlns:p14="http://schemas.microsoft.com/office/powerpoint/2010/main" val="3276493964"/>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317</a:t>
            </a:fld>
            <a:endParaRPr lang="en-IN"/>
          </a:p>
        </p:txBody>
      </p:sp>
    </p:spTree>
    <p:extLst>
      <p:ext uri="{BB962C8B-B14F-4D97-AF65-F5344CB8AC3E}">
        <p14:creationId xmlns:p14="http://schemas.microsoft.com/office/powerpoint/2010/main" val="4072805110"/>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318</a:t>
            </a:fld>
            <a:endParaRPr lang="en-IN"/>
          </a:p>
        </p:txBody>
      </p:sp>
    </p:spTree>
    <p:extLst>
      <p:ext uri="{BB962C8B-B14F-4D97-AF65-F5344CB8AC3E}">
        <p14:creationId xmlns:p14="http://schemas.microsoft.com/office/powerpoint/2010/main" val="36620804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319</a:t>
            </a:fld>
            <a:endParaRPr lang="en-IN"/>
          </a:p>
        </p:txBody>
      </p:sp>
    </p:spTree>
    <p:extLst>
      <p:ext uri="{BB962C8B-B14F-4D97-AF65-F5344CB8AC3E}">
        <p14:creationId xmlns:p14="http://schemas.microsoft.com/office/powerpoint/2010/main" val="2187639240"/>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3D90D-9563-41DA-8077-230F984E3464}" type="slidenum">
              <a:rPr lang="en-IN" smtClean="0"/>
              <a:t>320</a:t>
            </a:fld>
            <a:endParaRPr lang="en-IN"/>
          </a:p>
        </p:txBody>
      </p:sp>
    </p:spTree>
    <p:extLst>
      <p:ext uri="{BB962C8B-B14F-4D97-AF65-F5344CB8AC3E}">
        <p14:creationId xmlns:p14="http://schemas.microsoft.com/office/powerpoint/2010/main" val="4139973785"/>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D027-FCFC-E309-DAA9-0ABA29C03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68C43-C801-0411-2C18-36D80F5EE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7B036-8526-5302-B7AD-ADC5F088663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A0B229-0F26-3212-451E-49E566667B15}"/>
              </a:ext>
            </a:extLst>
          </p:cNvPr>
          <p:cNvSpPr>
            <a:spLocks noGrp="1"/>
          </p:cNvSpPr>
          <p:nvPr>
            <p:ph type="sldNum" sz="quarter" idx="5"/>
          </p:nvPr>
        </p:nvSpPr>
        <p:spPr/>
        <p:txBody>
          <a:bodyPr/>
          <a:lstStyle/>
          <a:p>
            <a:fld id="{AD93D90D-9563-41DA-8077-230F984E3464}" type="slidenum">
              <a:rPr lang="en-IN" smtClean="0"/>
              <a:t>321</a:t>
            </a:fld>
            <a:endParaRPr lang="en-IN"/>
          </a:p>
        </p:txBody>
      </p:sp>
    </p:spTree>
    <p:extLst>
      <p:ext uri="{BB962C8B-B14F-4D97-AF65-F5344CB8AC3E}">
        <p14:creationId xmlns:p14="http://schemas.microsoft.com/office/powerpoint/2010/main" val="74025424"/>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C7E36-A86F-8237-FFE3-1B903C526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E6377-3779-8BDE-32DA-CC91C42A8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EDFE5-53A6-2C0E-F455-2F7DE810FF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E69B82-4FBD-DC97-B0C3-48298879FD6E}"/>
              </a:ext>
            </a:extLst>
          </p:cNvPr>
          <p:cNvSpPr>
            <a:spLocks noGrp="1"/>
          </p:cNvSpPr>
          <p:nvPr>
            <p:ph type="sldNum" sz="quarter" idx="5"/>
          </p:nvPr>
        </p:nvSpPr>
        <p:spPr/>
        <p:txBody>
          <a:bodyPr/>
          <a:lstStyle/>
          <a:p>
            <a:fld id="{AD93D90D-9563-41DA-8077-230F984E3464}" type="slidenum">
              <a:rPr lang="en-IN" smtClean="0"/>
              <a:t>322</a:t>
            </a:fld>
            <a:endParaRPr lang="en-IN"/>
          </a:p>
        </p:txBody>
      </p:sp>
    </p:spTree>
    <p:extLst>
      <p:ext uri="{BB962C8B-B14F-4D97-AF65-F5344CB8AC3E}">
        <p14:creationId xmlns:p14="http://schemas.microsoft.com/office/powerpoint/2010/main" val="1272995560"/>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0BE7-3D07-C7F9-97C2-7C8CDC92B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56CAE-D19A-0E8B-08D4-6ADCEA112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12B55-4BF9-9815-32D6-8C331025DE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6296B4-A512-645F-96B5-84F502A2F0B1}"/>
              </a:ext>
            </a:extLst>
          </p:cNvPr>
          <p:cNvSpPr>
            <a:spLocks noGrp="1"/>
          </p:cNvSpPr>
          <p:nvPr>
            <p:ph type="sldNum" sz="quarter" idx="5"/>
          </p:nvPr>
        </p:nvSpPr>
        <p:spPr/>
        <p:txBody>
          <a:bodyPr/>
          <a:lstStyle/>
          <a:p>
            <a:fld id="{AD93D90D-9563-41DA-8077-230F984E3464}" type="slidenum">
              <a:rPr lang="en-IN" smtClean="0"/>
              <a:t>323</a:t>
            </a:fld>
            <a:endParaRPr lang="en-IN"/>
          </a:p>
        </p:txBody>
      </p:sp>
    </p:spTree>
    <p:extLst>
      <p:ext uri="{BB962C8B-B14F-4D97-AF65-F5344CB8AC3E}">
        <p14:creationId xmlns:p14="http://schemas.microsoft.com/office/powerpoint/2010/main" val="122062858"/>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596F-A24B-9F8E-73CA-27691AA47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E7226-B898-62E8-C30D-EF2539E9A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0C2ED-399E-5FBA-9102-6265DE0E2AB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195918-E642-67F1-E657-6A1FA4A72699}"/>
              </a:ext>
            </a:extLst>
          </p:cNvPr>
          <p:cNvSpPr>
            <a:spLocks noGrp="1"/>
          </p:cNvSpPr>
          <p:nvPr>
            <p:ph type="sldNum" sz="quarter" idx="5"/>
          </p:nvPr>
        </p:nvSpPr>
        <p:spPr/>
        <p:txBody>
          <a:bodyPr/>
          <a:lstStyle/>
          <a:p>
            <a:fld id="{AD93D90D-9563-41DA-8077-230F984E3464}" type="slidenum">
              <a:rPr lang="en-IN" smtClean="0"/>
              <a:t>324</a:t>
            </a:fld>
            <a:endParaRPr lang="en-IN"/>
          </a:p>
        </p:txBody>
      </p:sp>
    </p:spTree>
    <p:extLst>
      <p:ext uri="{BB962C8B-B14F-4D97-AF65-F5344CB8AC3E}">
        <p14:creationId xmlns:p14="http://schemas.microsoft.com/office/powerpoint/2010/main" val="3294949544"/>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F7995-BB6C-F0B4-3F48-0EFD182D4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9EB8F-3393-237F-98D9-4D667B2B0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CB6EE-61D2-6A43-447D-44829E7C7A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1B7B1D-1CB6-41C7-4E20-4E0C099F8050}"/>
              </a:ext>
            </a:extLst>
          </p:cNvPr>
          <p:cNvSpPr>
            <a:spLocks noGrp="1"/>
          </p:cNvSpPr>
          <p:nvPr>
            <p:ph type="sldNum" sz="quarter" idx="5"/>
          </p:nvPr>
        </p:nvSpPr>
        <p:spPr/>
        <p:txBody>
          <a:bodyPr/>
          <a:lstStyle/>
          <a:p>
            <a:fld id="{AD93D90D-9563-41DA-8077-230F984E3464}" type="slidenum">
              <a:rPr lang="en-IN" smtClean="0"/>
              <a:t>325</a:t>
            </a:fld>
            <a:endParaRPr lang="en-IN"/>
          </a:p>
        </p:txBody>
      </p:sp>
    </p:spTree>
    <p:extLst>
      <p:ext uri="{BB962C8B-B14F-4D97-AF65-F5344CB8AC3E}">
        <p14:creationId xmlns:p14="http://schemas.microsoft.com/office/powerpoint/2010/main" val="2243008627"/>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AAA76-B2E9-5D36-23F1-75A58E730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401A4-2174-E90D-0081-D50D85121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D64E5-5169-FA50-35AF-52562BAFF1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1B183C-76D1-0788-1663-7598AB6E6B8B}"/>
              </a:ext>
            </a:extLst>
          </p:cNvPr>
          <p:cNvSpPr>
            <a:spLocks noGrp="1"/>
          </p:cNvSpPr>
          <p:nvPr>
            <p:ph type="sldNum" sz="quarter" idx="5"/>
          </p:nvPr>
        </p:nvSpPr>
        <p:spPr/>
        <p:txBody>
          <a:bodyPr/>
          <a:lstStyle/>
          <a:p>
            <a:fld id="{AD93D90D-9563-41DA-8077-230F984E3464}" type="slidenum">
              <a:rPr lang="en-IN" smtClean="0"/>
              <a:t>326</a:t>
            </a:fld>
            <a:endParaRPr lang="en-IN"/>
          </a:p>
        </p:txBody>
      </p:sp>
    </p:spTree>
    <p:extLst>
      <p:ext uri="{BB962C8B-B14F-4D97-AF65-F5344CB8AC3E}">
        <p14:creationId xmlns:p14="http://schemas.microsoft.com/office/powerpoint/2010/main" val="2356107556"/>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63E8-6D27-1A98-EE83-C60EF165E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02478-2FB8-A8F2-7EDA-01FBE3B8FC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F3EAB-196F-26C1-15CC-EE28546368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18DF85-3D8A-67FB-68D5-240F4A8DF78E}"/>
              </a:ext>
            </a:extLst>
          </p:cNvPr>
          <p:cNvSpPr>
            <a:spLocks noGrp="1"/>
          </p:cNvSpPr>
          <p:nvPr>
            <p:ph type="sldNum" sz="quarter" idx="5"/>
          </p:nvPr>
        </p:nvSpPr>
        <p:spPr/>
        <p:txBody>
          <a:bodyPr/>
          <a:lstStyle/>
          <a:p>
            <a:fld id="{AD93D90D-9563-41DA-8077-230F984E3464}" type="slidenum">
              <a:rPr lang="en-IN" smtClean="0"/>
              <a:t>327</a:t>
            </a:fld>
            <a:endParaRPr lang="en-IN"/>
          </a:p>
        </p:txBody>
      </p:sp>
    </p:spTree>
    <p:extLst>
      <p:ext uri="{BB962C8B-B14F-4D97-AF65-F5344CB8AC3E}">
        <p14:creationId xmlns:p14="http://schemas.microsoft.com/office/powerpoint/2010/main" val="3225661784"/>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FAF42-1363-BFB6-9F96-843590DD1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2B188-031E-4B83-9BBA-8A632E98F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B528B-3837-505F-CDFF-F10D98B12E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4664F2-58E2-CB16-7369-14898A26E0A2}"/>
              </a:ext>
            </a:extLst>
          </p:cNvPr>
          <p:cNvSpPr>
            <a:spLocks noGrp="1"/>
          </p:cNvSpPr>
          <p:nvPr>
            <p:ph type="sldNum" sz="quarter" idx="5"/>
          </p:nvPr>
        </p:nvSpPr>
        <p:spPr/>
        <p:txBody>
          <a:bodyPr/>
          <a:lstStyle/>
          <a:p>
            <a:fld id="{AD93D90D-9563-41DA-8077-230F984E3464}" type="slidenum">
              <a:rPr lang="en-IN" smtClean="0"/>
              <a:t>328</a:t>
            </a:fld>
            <a:endParaRPr lang="en-IN"/>
          </a:p>
        </p:txBody>
      </p:sp>
    </p:spTree>
    <p:extLst>
      <p:ext uri="{BB962C8B-B14F-4D97-AF65-F5344CB8AC3E}">
        <p14:creationId xmlns:p14="http://schemas.microsoft.com/office/powerpoint/2010/main" val="2403102385"/>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E4ED7-10EB-CE43-BD54-92F327AB8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E58FB-B080-6B99-857E-93AC4F49D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D5B0C-7982-0DF1-BE13-0B07F515D4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BD8F45-BDA6-A8DB-6BA0-B90125C1ABBA}"/>
              </a:ext>
            </a:extLst>
          </p:cNvPr>
          <p:cNvSpPr>
            <a:spLocks noGrp="1"/>
          </p:cNvSpPr>
          <p:nvPr>
            <p:ph type="sldNum" sz="quarter" idx="5"/>
          </p:nvPr>
        </p:nvSpPr>
        <p:spPr/>
        <p:txBody>
          <a:bodyPr/>
          <a:lstStyle/>
          <a:p>
            <a:fld id="{AD93D90D-9563-41DA-8077-230F984E3464}" type="slidenum">
              <a:rPr lang="en-IN" smtClean="0"/>
              <a:t>329</a:t>
            </a:fld>
            <a:endParaRPr lang="en-IN"/>
          </a:p>
        </p:txBody>
      </p:sp>
    </p:spTree>
    <p:extLst>
      <p:ext uri="{BB962C8B-B14F-4D97-AF65-F5344CB8AC3E}">
        <p14:creationId xmlns:p14="http://schemas.microsoft.com/office/powerpoint/2010/main" val="1452658054"/>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35198-3828-762A-2F7F-8F3294C54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DD53E-DACD-A96C-36EE-99EC29FEE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769CB-E280-3E75-F725-298D325511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4AF0DA-7B22-451C-4D28-06933BB4A744}"/>
              </a:ext>
            </a:extLst>
          </p:cNvPr>
          <p:cNvSpPr>
            <a:spLocks noGrp="1"/>
          </p:cNvSpPr>
          <p:nvPr>
            <p:ph type="sldNum" sz="quarter" idx="5"/>
          </p:nvPr>
        </p:nvSpPr>
        <p:spPr/>
        <p:txBody>
          <a:bodyPr/>
          <a:lstStyle/>
          <a:p>
            <a:fld id="{AD93D90D-9563-41DA-8077-230F984E3464}" type="slidenum">
              <a:rPr lang="en-IN" smtClean="0"/>
              <a:t>330</a:t>
            </a:fld>
            <a:endParaRPr lang="en-IN"/>
          </a:p>
        </p:txBody>
      </p:sp>
    </p:spTree>
    <p:extLst>
      <p:ext uri="{BB962C8B-B14F-4D97-AF65-F5344CB8AC3E}">
        <p14:creationId xmlns:p14="http://schemas.microsoft.com/office/powerpoint/2010/main" val="1800965968"/>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F2C7-E3A5-405C-6F14-89E8C9AED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C52CB-27AF-B118-BA27-4909F2172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88F58-658D-E735-0116-DAAFFBB776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3C3407-E08E-48D3-AE99-B1F88D5B5E4E}"/>
              </a:ext>
            </a:extLst>
          </p:cNvPr>
          <p:cNvSpPr>
            <a:spLocks noGrp="1"/>
          </p:cNvSpPr>
          <p:nvPr>
            <p:ph type="sldNum" sz="quarter" idx="5"/>
          </p:nvPr>
        </p:nvSpPr>
        <p:spPr/>
        <p:txBody>
          <a:bodyPr/>
          <a:lstStyle/>
          <a:p>
            <a:fld id="{AD93D90D-9563-41DA-8077-230F984E3464}" type="slidenum">
              <a:rPr lang="en-IN" smtClean="0"/>
              <a:t>331</a:t>
            </a:fld>
            <a:endParaRPr lang="en-IN"/>
          </a:p>
        </p:txBody>
      </p:sp>
    </p:spTree>
    <p:extLst>
      <p:ext uri="{BB962C8B-B14F-4D97-AF65-F5344CB8AC3E}">
        <p14:creationId xmlns:p14="http://schemas.microsoft.com/office/powerpoint/2010/main" val="1730823950"/>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728CC-C479-DA50-3F99-60C9B5150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402E2-B1E6-4BA3-19E6-11C9B49EB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58718E-6701-03E1-A41D-AA817F6C5C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51FFEB-C59A-D2C0-E4E5-4467F8774FDE}"/>
              </a:ext>
            </a:extLst>
          </p:cNvPr>
          <p:cNvSpPr>
            <a:spLocks noGrp="1"/>
          </p:cNvSpPr>
          <p:nvPr>
            <p:ph type="sldNum" sz="quarter" idx="5"/>
          </p:nvPr>
        </p:nvSpPr>
        <p:spPr/>
        <p:txBody>
          <a:bodyPr/>
          <a:lstStyle/>
          <a:p>
            <a:fld id="{AD93D90D-9563-41DA-8077-230F984E3464}" type="slidenum">
              <a:rPr lang="en-IN" smtClean="0"/>
              <a:t>332</a:t>
            </a:fld>
            <a:endParaRPr lang="en-IN"/>
          </a:p>
        </p:txBody>
      </p:sp>
    </p:spTree>
    <p:extLst>
      <p:ext uri="{BB962C8B-B14F-4D97-AF65-F5344CB8AC3E}">
        <p14:creationId xmlns:p14="http://schemas.microsoft.com/office/powerpoint/2010/main" val="2415629863"/>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A1132-C6DA-1BA6-CEFF-BDF5FD27D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0422C-5910-3C2F-57A9-60D363196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136D9F-1278-2449-BAB5-4CC1399B81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669554-F5D0-37E5-EF6B-EC4CFAEA5FEE}"/>
              </a:ext>
            </a:extLst>
          </p:cNvPr>
          <p:cNvSpPr>
            <a:spLocks noGrp="1"/>
          </p:cNvSpPr>
          <p:nvPr>
            <p:ph type="sldNum" sz="quarter" idx="5"/>
          </p:nvPr>
        </p:nvSpPr>
        <p:spPr/>
        <p:txBody>
          <a:bodyPr/>
          <a:lstStyle/>
          <a:p>
            <a:fld id="{AD93D90D-9563-41DA-8077-230F984E3464}" type="slidenum">
              <a:rPr lang="en-IN" smtClean="0"/>
              <a:t>333</a:t>
            </a:fld>
            <a:endParaRPr lang="en-IN"/>
          </a:p>
        </p:txBody>
      </p:sp>
    </p:spTree>
    <p:extLst>
      <p:ext uri="{BB962C8B-B14F-4D97-AF65-F5344CB8AC3E}">
        <p14:creationId xmlns:p14="http://schemas.microsoft.com/office/powerpoint/2010/main" val="2748782162"/>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C188-D187-146C-0D1F-2FF671091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E63CE-5B42-8FDD-E46F-2AEA32049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ECDE4-1E43-A1F2-6041-8B7A1540646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A16942-D01F-B333-C5D6-8379384D1550}"/>
              </a:ext>
            </a:extLst>
          </p:cNvPr>
          <p:cNvSpPr>
            <a:spLocks noGrp="1"/>
          </p:cNvSpPr>
          <p:nvPr>
            <p:ph type="sldNum" sz="quarter" idx="5"/>
          </p:nvPr>
        </p:nvSpPr>
        <p:spPr/>
        <p:txBody>
          <a:bodyPr/>
          <a:lstStyle/>
          <a:p>
            <a:fld id="{AD93D90D-9563-41DA-8077-230F984E3464}" type="slidenum">
              <a:rPr lang="en-IN" smtClean="0"/>
              <a:t>334</a:t>
            </a:fld>
            <a:endParaRPr lang="en-IN"/>
          </a:p>
        </p:txBody>
      </p:sp>
    </p:spTree>
    <p:extLst>
      <p:ext uri="{BB962C8B-B14F-4D97-AF65-F5344CB8AC3E}">
        <p14:creationId xmlns:p14="http://schemas.microsoft.com/office/powerpoint/2010/main" val="1889364120"/>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100EE-B475-167C-1EA9-4C6F846C6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9DF5E-53E6-D098-C440-2D5EBC9C0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D165F-5D8A-808C-BF78-8E42EFADA4A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B31470-8721-B6E1-8E50-655E94E72B69}"/>
              </a:ext>
            </a:extLst>
          </p:cNvPr>
          <p:cNvSpPr>
            <a:spLocks noGrp="1"/>
          </p:cNvSpPr>
          <p:nvPr>
            <p:ph type="sldNum" sz="quarter" idx="5"/>
          </p:nvPr>
        </p:nvSpPr>
        <p:spPr/>
        <p:txBody>
          <a:bodyPr/>
          <a:lstStyle/>
          <a:p>
            <a:fld id="{AD93D90D-9563-41DA-8077-230F984E3464}" type="slidenum">
              <a:rPr lang="en-IN" smtClean="0"/>
              <a:t>335</a:t>
            </a:fld>
            <a:endParaRPr lang="en-IN"/>
          </a:p>
        </p:txBody>
      </p:sp>
    </p:spTree>
    <p:extLst>
      <p:ext uri="{BB962C8B-B14F-4D97-AF65-F5344CB8AC3E}">
        <p14:creationId xmlns:p14="http://schemas.microsoft.com/office/powerpoint/2010/main" val="1101359133"/>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E238F-FE82-8C22-4053-F49BCA1B4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8D6E5-84B7-B1C1-158E-F84C3B104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179DC-DB02-6734-8154-777F36C37C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E8CE95-DF9A-BB4E-4626-E64B46C46AB9}"/>
              </a:ext>
            </a:extLst>
          </p:cNvPr>
          <p:cNvSpPr>
            <a:spLocks noGrp="1"/>
          </p:cNvSpPr>
          <p:nvPr>
            <p:ph type="sldNum" sz="quarter" idx="5"/>
          </p:nvPr>
        </p:nvSpPr>
        <p:spPr/>
        <p:txBody>
          <a:bodyPr/>
          <a:lstStyle/>
          <a:p>
            <a:fld id="{AD93D90D-9563-41DA-8077-230F984E3464}" type="slidenum">
              <a:rPr lang="en-IN" smtClean="0"/>
              <a:t>336</a:t>
            </a:fld>
            <a:endParaRPr lang="en-IN"/>
          </a:p>
        </p:txBody>
      </p:sp>
    </p:spTree>
    <p:extLst>
      <p:ext uri="{BB962C8B-B14F-4D97-AF65-F5344CB8AC3E}">
        <p14:creationId xmlns:p14="http://schemas.microsoft.com/office/powerpoint/2010/main" val="2233378533"/>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1EC9C-8E6B-C782-4F29-2B4C665DB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05A52-F706-B9F2-6EF2-27AE56F5A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9E9AF-FCC0-E11C-5B21-0B04D06AF1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A52F3F-9DA5-AD2E-2779-F0C5A1A8136F}"/>
              </a:ext>
            </a:extLst>
          </p:cNvPr>
          <p:cNvSpPr>
            <a:spLocks noGrp="1"/>
          </p:cNvSpPr>
          <p:nvPr>
            <p:ph type="sldNum" sz="quarter" idx="5"/>
          </p:nvPr>
        </p:nvSpPr>
        <p:spPr/>
        <p:txBody>
          <a:bodyPr/>
          <a:lstStyle/>
          <a:p>
            <a:fld id="{AD93D90D-9563-41DA-8077-230F984E3464}" type="slidenum">
              <a:rPr lang="en-IN" smtClean="0"/>
              <a:t>337</a:t>
            </a:fld>
            <a:endParaRPr lang="en-IN"/>
          </a:p>
        </p:txBody>
      </p:sp>
    </p:spTree>
    <p:extLst>
      <p:ext uri="{BB962C8B-B14F-4D97-AF65-F5344CB8AC3E}">
        <p14:creationId xmlns:p14="http://schemas.microsoft.com/office/powerpoint/2010/main" val="596733700"/>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D09DB-A261-4584-9329-8C49FB0FD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47BC9-D2CE-671D-0612-2A15D717F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9CBA0-2670-3D75-871A-1A0402CEEC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7CA86D-EBE3-B073-DC64-814C7F6032F1}"/>
              </a:ext>
            </a:extLst>
          </p:cNvPr>
          <p:cNvSpPr>
            <a:spLocks noGrp="1"/>
          </p:cNvSpPr>
          <p:nvPr>
            <p:ph type="sldNum" sz="quarter" idx="5"/>
          </p:nvPr>
        </p:nvSpPr>
        <p:spPr/>
        <p:txBody>
          <a:bodyPr/>
          <a:lstStyle/>
          <a:p>
            <a:fld id="{AD93D90D-9563-41DA-8077-230F984E3464}" type="slidenum">
              <a:rPr lang="en-IN" smtClean="0"/>
              <a:t>338</a:t>
            </a:fld>
            <a:endParaRPr lang="en-IN"/>
          </a:p>
        </p:txBody>
      </p:sp>
    </p:spTree>
    <p:extLst>
      <p:ext uri="{BB962C8B-B14F-4D97-AF65-F5344CB8AC3E}">
        <p14:creationId xmlns:p14="http://schemas.microsoft.com/office/powerpoint/2010/main" val="2499027040"/>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46F8B-04C2-7441-39BA-57A653ACB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4D54F-0BCB-BB91-27A1-8098F4542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BB00E-0FC7-6651-E54F-1D44BC7FD6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ACB6A63-B58B-3B2F-730E-12412DA7EF12}"/>
              </a:ext>
            </a:extLst>
          </p:cNvPr>
          <p:cNvSpPr>
            <a:spLocks noGrp="1"/>
          </p:cNvSpPr>
          <p:nvPr>
            <p:ph type="sldNum" sz="quarter" idx="5"/>
          </p:nvPr>
        </p:nvSpPr>
        <p:spPr/>
        <p:txBody>
          <a:bodyPr/>
          <a:lstStyle/>
          <a:p>
            <a:fld id="{AD93D90D-9563-41DA-8077-230F984E3464}" type="slidenum">
              <a:rPr lang="en-IN" smtClean="0"/>
              <a:t>339</a:t>
            </a:fld>
            <a:endParaRPr lang="en-IN"/>
          </a:p>
        </p:txBody>
      </p:sp>
    </p:spTree>
    <p:extLst>
      <p:ext uri="{BB962C8B-B14F-4D97-AF65-F5344CB8AC3E}">
        <p14:creationId xmlns:p14="http://schemas.microsoft.com/office/powerpoint/2010/main" val="2691632959"/>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0A71B-E36B-72DE-5F6B-7ED596F0B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6E4A7-5C45-B75A-50D3-097FDACEC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1B03B-9A61-C02A-58E1-A77D7F74CD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C9EBF9-FAB4-716F-3AC5-347466B1ACD6}"/>
              </a:ext>
            </a:extLst>
          </p:cNvPr>
          <p:cNvSpPr>
            <a:spLocks noGrp="1"/>
          </p:cNvSpPr>
          <p:nvPr>
            <p:ph type="sldNum" sz="quarter" idx="5"/>
          </p:nvPr>
        </p:nvSpPr>
        <p:spPr/>
        <p:txBody>
          <a:bodyPr/>
          <a:lstStyle/>
          <a:p>
            <a:fld id="{AD93D90D-9563-41DA-8077-230F984E3464}" type="slidenum">
              <a:rPr lang="en-IN" smtClean="0"/>
              <a:t>340</a:t>
            </a:fld>
            <a:endParaRPr lang="en-IN"/>
          </a:p>
        </p:txBody>
      </p:sp>
    </p:spTree>
    <p:extLst>
      <p:ext uri="{BB962C8B-B14F-4D97-AF65-F5344CB8AC3E}">
        <p14:creationId xmlns:p14="http://schemas.microsoft.com/office/powerpoint/2010/main" val="219191743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66AF-783F-D44A-B808-12CB495D2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E5862-8698-64F8-4E31-8C692A5AB4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37E5B-9481-18D5-6287-D869F29762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71DEE0-DFFA-3F46-DB14-1631659D5862}"/>
              </a:ext>
            </a:extLst>
          </p:cNvPr>
          <p:cNvSpPr>
            <a:spLocks noGrp="1"/>
          </p:cNvSpPr>
          <p:nvPr>
            <p:ph type="sldNum" sz="quarter" idx="5"/>
          </p:nvPr>
        </p:nvSpPr>
        <p:spPr/>
        <p:txBody>
          <a:bodyPr/>
          <a:lstStyle/>
          <a:p>
            <a:fld id="{AD93D90D-9563-41DA-8077-230F984E3464}" type="slidenum">
              <a:rPr lang="en-IN" smtClean="0"/>
              <a:t>341</a:t>
            </a:fld>
            <a:endParaRPr lang="en-IN"/>
          </a:p>
        </p:txBody>
      </p:sp>
    </p:spTree>
    <p:extLst>
      <p:ext uri="{BB962C8B-B14F-4D97-AF65-F5344CB8AC3E}">
        <p14:creationId xmlns:p14="http://schemas.microsoft.com/office/powerpoint/2010/main" val="1386365848"/>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A5EA9-8E9B-7039-F107-5DD7A03E6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C0EB-43B6-9ED6-527D-5F3D4FCF0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202B6-FABE-D2D3-9A1A-E7AE8AA833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C82851-FAFF-265E-1D79-D37F35ECA5DF}"/>
              </a:ext>
            </a:extLst>
          </p:cNvPr>
          <p:cNvSpPr>
            <a:spLocks noGrp="1"/>
          </p:cNvSpPr>
          <p:nvPr>
            <p:ph type="sldNum" sz="quarter" idx="5"/>
          </p:nvPr>
        </p:nvSpPr>
        <p:spPr/>
        <p:txBody>
          <a:bodyPr/>
          <a:lstStyle/>
          <a:p>
            <a:fld id="{AD93D90D-9563-41DA-8077-230F984E3464}" type="slidenum">
              <a:rPr lang="en-IN" smtClean="0"/>
              <a:t>342</a:t>
            </a:fld>
            <a:endParaRPr lang="en-IN"/>
          </a:p>
        </p:txBody>
      </p:sp>
    </p:spTree>
    <p:extLst>
      <p:ext uri="{BB962C8B-B14F-4D97-AF65-F5344CB8AC3E}">
        <p14:creationId xmlns:p14="http://schemas.microsoft.com/office/powerpoint/2010/main" val="1867892610"/>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3AA34-020F-9E33-3A60-2FB51831E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A0F71-6E1C-723E-D827-1DC240CBC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5A511-9263-E87E-28E2-D90B52BA4FD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548C07-51C1-09C6-FB6F-35F5E2A2EFE3}"/>
              </a:ext>
            </a:extLst>
          </p:cNvPr>
          <p:cNvSpPr>
            <a:spLocks noGrp="1"/>
          </p:cNvSpPr>
          <p:nvPr>
            <p:ph type="sldNum" sz="quarter" idx="5"/>
          </p:nvPr>
        </p:nvSpPr>
        <p:spPr/>
        <p:txBody>
          <a:bodyPr/>
          <a:lstStyle/>
          <a:p>
            <a:fld id="{AD93D90D-9563-41DA-8077-230F984E3464}" type="slidenum">
              <a:rPr lang="en-IN" smtClean="0"/>
              <a:t>343</a:t>
            </a:fld>
            <a:endParaRPr lang="en-IN"/>
          </a:p>
        </p:txBody>
      </p:sp>
    </p:spTree>
    <p:extLst>
      <p:ext uri="{BB962C8B-B14F-4D97-AF65-F5344CB8AC3E}">
        <p14:creationId xmlns:p14="http://schemas.microsoft.com/office/powerpoint/2010/main" val="1458565718"/>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D2509-35B9-9FB0-F89A-A3F2E7465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D4F3D-77A0-BE9A-0FAE-00B8B540E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0BBAA-4BDA-A409-0D8B-75A6D04210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934DCC-5DCD-1616-C7DA-F619A8C8E372}"/>
              </a:ext>
            </a:extLst>
          </p:cNvPr>
          <p:cNvSpPr>
            <a:spLocks noGrp="1"/>
          </p:cNvSpPr>
          <p:nvPr>
            <p:ph type="sldNum" sz="quarter" idx="5"/>
          </p:nvPr>
        </p:nvSpPr>
        <p:spPr/>
        <p:txBody>
          <a:bodyPr/>
          <a:lstStyle/>
          <a:p>
            <a:fld id="{AD93D90D-9563-41DA-8077-230F984E3464}" type="slidenum">
              <a:rPr lang="en-IN" smtClean="0"/>
              <a:t>344</a:t>
            </a:fld>
            <a:endParaRPr lang="en-IN"/>
          </a:p>
        </p:txBody>
      </p:sp>
    </p:spTree>
    <p:extLst>
      <p:ext uri="{BB962C8B-B14F-4D97-AF65-F5344CB8AC3E}">
        <p14:creationId xmlns:p14="http://schemas.microsoft.com/office/powerpoint/2010/main" val="2221154868"/>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45639-A070-48DE-888D-881F0580D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3E805-A80F-7117-BD85-EEADD8F16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D38942-6AE2-9579-C3EF-7E89D14A69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737566-011D-7394-88D3-0D64B943410A}"/>
              </a:ext>
            </a:extLst>
          </p:cNvPr>
          <p:cNvSpPr>
            <a:spLocks noGrp="1"/>
          </p:cNvSpPr>
          <p:nvPr>
            <p:ph type="sldNum" sz="quarter" idx="5"/>
          </p:nvPr>
        </p:nvSpPr>
        <p:spPr/>
        <p:txBody>
          <a:bodyPr/>
          <a:lstStyle/>
          <a:p>
            <a:fld id="{AD93D90D-9563-41DA-8077-230F984E3464}" type="slidenum">
              <a:rPr lang="en-IN" smtClean="0"/>
              <a:t>345</a:t>
            </a:fld>
            <a:endParaRPr lang="en-IN"/>
          </a:p>
        </p:txBody>
      </p:sp>
    </p:spTree>
    <p:extLst>
      <p:ext uri="{BB962C8B-B14F-4D97-AF65-F5344CB8AC3E}">
        <p14:creationId xmlns:p14="http://schemas.microsoft.com/office/powerpoint/2010/main" val="1013104657"/>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5434-3695-D966-0F47-5E18A36E8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F5568-F40A-6694-2F9E-1095D9628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14193-B0FB-8834-B705-81AB96D4D99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ED7B572-1603-A4B3-04E7-6F03459824F1}"/>
              </a:ext>
            </a:extLst>
          </p:cNvPr>
          <p:cNvSpPr>
            <a:spLocks noGrp="1"/>
          </p:cNvSpPr>
          <p:nvPr>
            <p:ph type="sldNum" sz="quarter" idx="5"/>
          </p:nvPr>
        </p:nvSpPr>
        <p:spPr/>
        <p:txBody>
          <a:bodyPr/>
          <a:lstStyle/>
          <a:p>
            <a:fld id="{AD93D90D-9563-41DA-8077-230F984E3464}" type="slidenum">
              <a:rPr lang="en-IN" smtClean="0"/>
              <a:t>346</a:t>
            </a:fld>
            <a:endParaRPr lang="en-IN"/>
          </a:p>
        </p:txBody>
      </p:sp>
    </p:spTree>
    <p:extLst>
      <p:ext uri="{BB962C8B-B14F-4D97-AF65-F5344CB8AC3E}">
        <p14:creationId xmlns:p14="http://schemas.microsoft.com/office/powerpoint/2010/main" val="3794427577"/>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6C450-5975-E31D-02D0-CB2BAD604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6169C-4050-FB08-4E9A-8F8F39E26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5FF45A-F4A3-2078-1C6E-03AD2E6241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632085-B495-2F81-C32E-25D574741262}"/>
              </a:ext>
            </a:extLst>
          </p:cNvPr>
          <p:cNvSpPr>
            <a:spLocks noGrp="1"/>
          </p:cNvSpPr>
          <p:nvPr>
            <p:ph type="sldNum" sz="quarter" idx="5"/>
          </p:nvPr>
        </p:nvSpPr>
        <p:spPr/>
        <p:txBody>
          <a:bodyPr/>
          <a:lstStyle/>
          <a:p>
            <a:fld id="{AD93D90D-9563-41DA-8077-230F984E3464}" type="slidenum">
              <a:rPr lang="en-IN" smtClean="0"/>
              <a:t>347</a:t>
            </a:fld>
            <a:endParaRPr lang="en-IN"/>
          </a:p>
        </p:txBody>
      </p:sp>
    </p:spTree>
    <p:extLst>
      <p:ext uri="{BB962C8B-B14F-4D97-AF65-F5344CB8AC3E}">
        <p14:creationId xmlns:p14="http://schemas.microsoft.com/office/powerpoint/2010/main" val="3227644045"/>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30229-8C4B-7E86-EF07-9340AEFE3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992D4-56FB-4070-DE9F-E6FC233B3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325FE-BA11-E290-CB5B-81108056D7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DA357E-E1C6-1971-6851-8D2E9D26DD81}"/>
              </a:ext>
            </a:extLst>
          </p:cNvPr>
          <p:cNvSpPr>
            <a:spLocks noGrp="1"/>
          </p:cNvSpPr>
          <p:nvPr>
            <p:ph type="sldNum" sz="quarter" idx="5"/>
          </p:nvPr>
        </p:nvSpPr>
        <p:spPr/>
        <p:txBody>
          <a:bodyPr/>
          <a:lstStyle/>
          <a:p>
            <a:fld id="{AD93D90D-9563-41DA-8077-230F984E3464}" type="slidenum">
              <a:rPr lang="en-IN" smtClean="0"/>
              <a:t>348</a:t>
            </a:fld>
            <a:endParaRPr lang="en-IN"/>
          </a:p>
        </p:txBody>
      </p:sp>
    </p:spTree>
    <p:extLst>
      <p:ext uri="{BB962C8B-B14F-4D97-AF65-F5344CB8AC3E}">
        <p14:creationId xmlns:p14="http://schemas.microsoft.com/office/powerpoint/2010/main" val="2164038242"/>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6500-50AD-A8FE-556F-E77FD422A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9D261-3815-9ECF-729F-3C5D3522A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D11FD1-3563-8FA6-ECB6-F5C92A1381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D0044E1-1E3E-51B9-D169-883EE9D362CF}"/>
              </a:ext>
            </a:extLst>
          </p:cNvPr>
          <p:cNvSpPr>
            <a:spLocks noGrp="1"/>
          </p:cNvSpPr>
          <p:nvPr>
            <p:ph type="sldNum" sz="quarter" idx="5"/>
          </p:nvPr>
        </p:nvSpPr>
        <p:spPr/>
        <p:txBody>
          <a:bodyPr/>
          <a:lstStyle/>
          <a:p>
            <a:fld id="{AD93D90D-9563-41DA-8077-230F984E3464}" type="slidenum">
              <a:rPr lang="en-IN" smtClean="0"/>
              <a:t>349</a:t>
            </a:fld>
            <a:endParaRPr lang="en-IN"/>
          </a:p>
        </p:txBody>
      </p:sp>
    </p:spTree>
    <p:extLst>
      <p:ext uri="{BB962C8B-B14F-4D97-AF65-F5344CB8AC3E}">
        <p14:creationId xmlns:p14="http://schemas.microsoft.com/office/powerpoint/2010/main" val="2276609408"/>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07B3B-5411-8320-743E-F45497016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765F5-834B-3100-F37F-741CA4B3E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94A9A-7171-68B9-9376-08F4E183E2B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8F18D3-80F3-4189-5C44-ED60A3A52912}"/>
              </a:ext>
            </a:extLst>
          </p:cNvPr>
          <p:cNvSpPr>
            <a:spLocks noGrp="1"/>
          </p:cNvSpPr>
          <p:nvPr>
            <p:ph type="sldNum" sz="quarter" idx="5"/>
          </p:nvPr>
        </p:nvSpPr>
        <p:spPr/>
        <p:txBody>
          <a:bodyPr/>
          <a:lstStyle/>
          <a:p>
            <a:fld id="{AD93D90D-9563-41DA-8077-230F984E3464}" type="slidenum">
              <a:rPr lang="en-IN" smtClean="0"/>
              <a:t>350</a:t>
            </a:fld>
            <a:endParaRPr lang="en-IN"/>
          </a:p>
        </p:txBody>
      </p:sp>
    </p:spTree>
    <p:extLst>
      <p:ext uri="{BB962C8B-B14F-4D97-AF65-F5344CB8AC3E}">
        <p14:creationId xmlns:p14="http://schemas.microsoft.com/office/powerpoint/2010/main" val="2760616862"/>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45A4A-8C30-D099-0D24-A0058B1B9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02C61-8774-2363-A11D-CE31727DD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B46AF-4DF9-EDD3-11C8-E1C59F60654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9CFC33-C114-8189-BEBD-F5C06F279277}"/>
              </a:ext>
            </a:extLst>
          </p:cNvPr>
          <p:cNvSpPr>
            <a:spLocks noGrp="1"/>
          </p:cNvSpPr>
          <p:nvPr>
            <p:ph type="sldNum" sz="quarter" idx="5"/>
          </p:nvPr>
        </p:nvSpPr>
        <p:spPr/>
        <p:txBody>
          <a:bodyPr/>
          <a:lstStyle/>
          <a:p>
            <a:fld id="{AD93D90D-9563-41DA-8077-230F984E3464}" type="slidenum">
              <a:rPr lang="en-IN" smtClean="0"/>
              <a:t>351</a:t>
            </a:fld>
            <a:endParaRPr lang="en-IN"/>
          </a:p>
        </p:txBody>
      </p:sp>
    </p:spTree>
    <p:extLst>
      <p:ext uri="{BB962C8B-B14F-4D97-AF65-F5344CB8AC3E}">
        <p14:creationId xmlns:p14="http://schemas.microsoft.com/office/powerpoint/2010/main" val="125549743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5DE7-5907-2C6B-EB57-4647D4E55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E930E-244C-5EF6-A90A-0B0DBC67C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C3C68-EB00-96B8-BB7E-91A2A963DF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375DD7-D317-3565-CEDE-9EACF78DD01B}"/>
              </a:ext>
            </a:extLst>
          </p:cNvPr>
          <p:cNvSpPr>
            <a:spLocks noGrp="1"/>
          </p:cNvSpPr>
          <p:nvPr>
            <p:ph type="sldNum" sz="quarter" idx="5"/>
          </p:nvPr>
        </p:nvSpPr>
        <p:spPr/>
        <p:txBody>
          <a:bodyPr/>
          <a:lstStyle/>
          <a:p>
            <a:fld id="{AD93D90D-9563-41DA-8077-230F984E3464}" type="slidenum">
              <a:rPr lang="en-IN" smtClean="0"/>
              <a:t>352</a:t>
            </a:fld>
            <a:endParaRPr lang="en-IN"/>
          </a:p>
        </p:txBody>
      </p:sp>
    </p:spTree>
    <p:extLst>
      <p:ext uri="{BB962C8B-B14F-4D97-AF65-F5344CB8AC3E}">
        <p14:creationId xmlns:p14="http://schemas.microsoft.com/office/powerpoint/2010/main" val="896127100"/>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40890-BB0E-17A5-0867-947581037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EDE88-BAEE-12B8-6248-532D5E004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0BDFA-AEB5-714D-780B-9C997AEB5B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37C7D7-DB4C-3765-29D1-A9BF8F013E58}"/>
              </a:ext>
            </a:extLst>
          </p:cNvPr>
          <p:cNvSpPr>
            <a:spLocks noGrp="1"/>
          </p:cNvSpPr>
          <p:nvPr>
            <p:ph type="sldNum" sz="quarter" idx="5"/>
          </p:nvPr>
        </p:nvSpPr>
        <p:spPr/>
        <p:txBody>
          <a:bodyPr/>
          <a:lstStyle/>
          <a:p>
            <a:fld id="{AD93D90D-9563-41DA-8077-230F984E3464}" type="slidenum">
              <a:rPr lang="en-IN" smtClean="0"/>
              <a:t>353</a:t>
            </a:fld>
            <a:endParaRPr lang="en-IN"/>
          </a:p>
        </p:txBody>
      </p:sp>
    </p:spTree>
    <p:extLst>
      <p:ext uri="{BB962C8B-B14F-4D97-AF65-F5344CB8AC3E}">
        <p14:creationId xmlns:p14="http://schemas.microsoft.com/office/powerpoint/2010/main" val="4074260562"/>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C5A2-4EB1-B21F-1EA1-8495C42E8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006C3-CAC3-08F7-155F-94153FAEA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149CB-ADCC-35C2-1D5A-71DA2644E9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B7697A-E647-46FF-DE12-0D038A673C27}"/>
              </a:ext>
            </a:extLst>
          </p:cNvPr>
          <p:cNvSpPr>
            <a:spLocks noGrp="1"/>
          </p:cNvSpPr>
          <p:nvPr>
            <p:ph type="sldNum" sz="quarter" idx="5"/>
          </p:nvPr>
        </p:nvSpPr>
        <p:spPr/>
        <p:txBody>
          <a:bodyPr/>
          <a:lstStyle/>
          <a:p>
            <a:fld id="{AD93D90D-9563-41DA-8077-230F984E3464}" type="slidenum">
              <a:rPr lang="en-IN" smtClean="0"/>
              <a:t>354</a:t>
            </a:fld>
            <a:endParaRPr lang="en-IN"/>
          </a:p>
        </p:txBody>
      </p:sp>
    </p:spTree>
    <p:extLst>
      <p:ext uri="{BB962C8B-B14F-4D97-AF65-F5344CB8AC3E}">
        <p14:creationId xmlns:p14="http://schemas.microsoft.com/office/powerpoint/2010/main" val="159688917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66B5B-DA7D-6765-E2CC-363F3F3DE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CB885-10BC-A92F-D8C9-670482951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9DAE9A-2D8D-BDFB-3331-29744DEED3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825CF1-B0A9-3346-E5D4-F3B1629CCD7B}"/>
              </a:ext>
            </a:extLst>
          </p:cNvPr>
          <p:cNvSpPr>
            <a:spLocks noGrp="1"/>
          </p:cNvSpPr>
          <p:nvPr>
            <p:ph type="sldNum" sz="quarter" idx="5"/>
          </p:nvPr>
        </p:nvSpPr>
        <p:spPr/>
        <p:txBody>
          <a:bodyPr/>
          <a:lstStyle/>
          <a:p>
            <a:fld id="{AD93D90D-9563-41DA-8077-230F984E3464}" type="slidenum">
              <a:rPr lang="en-IN" smtClean="0"/>
              <a:t>355</a:t>
            </a:fld>
            <a:endParaRPr lang="en-IN"/>
          </a:p>
        </p:txBody>
      </p:sp>
    </p:spTree>
    <p:extLst>
      <p:ext uri="{BB962C8B-B14F-4D97-AF65-F5344CB8AC3E}">
        <p14:creationId xmlns:p14="http://schemas.microsoft.com/office/powerpoint/2010/main" val="1061229310"/>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EB27-AEFE-45CB-2CA3-8140BCEA6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49C27-F7DA-B512-4E7D-4E366C7D4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E1811-CBFE-6F45-E3D9-9250E30762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3C0BAA-0195-7112-600F-C8E2F1B9246A}"/>
              </a:ext>
            </a:extLst>
          </p:cNvPr>
          <p:cNvSpPr>
            <a:spLocks noGrp="1"/>
          </p:cNvSpPr>
          <p:nvPr>
            <p:ph type="sldNum" sz="quarter" idx="5"/>
          </p:nvPr>
        </p:nvSpPr>
        <p:spPr/>
        <p:txBody>
          <a:bodyPr/>
          <a:lstStyle/>
          <a:p>
            <a:fld id="{AD93D90D-9563-41DA-8077-230F984E3464}" type="slidenum">
              <a:rPr lang="en-IN" smtClean="0"/>
              <a:t>356</a:t>
            </a:fld>
            <a:endParaRPr lang="en-IN"/>
          </a:p>
        </p:txBody>
      </p:sp>
    </p:spTree>
    <p:extLst>
      <p:ext uri="{BB962C8B-B14F-4D97-AF65-F5344CB8AC3E}">
        <p14:creationId xmlns:p14="http://schemas.microsoft.com/office/powerpoint/2010/main" val="104610155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2186-3A68-F017-27BB-9CF029C10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A2D73-F7F6-F614-BE02-681B3F7CC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920C7-1113-3C6F-B6FC-8D763D0DA2A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8EEB00-F18C-1CAE-AFB0-69CEC5635740}"/>
              </a:ext>
            </a:extLst>
          </p:cNvPr>
          <p:cNvSpPr>
            <a:spLocks noGrp="1"/>
          </p:cNvSpPr>
          <p:nvPr>
            <p:ph type="sldNum" sz="quarter" idx="5"/>
          </p:nvPr>
        </p:nvSpPr>
        <p:spPr/>
        <p:txBody>
          <a:bodyPr/>
          <a:lstStyle/>
          <a:p>
            <a:fld id="{AD93D90D-9563-41DA-8077-230F984E3464}" type="slidenum">
              <a:rPr lang="en-IN" smtClean="0"/>
              <a:t>357</a:t>
            </a:fld>
            <a:endParaRPr lang="en-IN"/>
          </a:p>
        </p:txBody>
      </p:sp>
    </p:spTree>
    <p:extLst>
      <p:ext uri="{BB962C8B-B14F-4D97-AF65-F5344CB8AC3E}">
        <p14:creationId xmlns:p14="http://schemas.microsoft.com/office/powerpoint/2010/main" val="2165803395"/>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39609-6A01-B964-041C-58A56BC42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6A093-3819-4F33-FBC0-D51258410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AD358-A5ED-F923-374E-AAE777855A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1BA132-2CC4-312C-0F0E-DE74C1F7E9FE}"/>
              </a:ext>
            </a:extLst>
          </p:cNvPr>
          <p:cNvSpPr>
            <a:spLocks noGrp="1"/>
          </p:cNvSpPr>
          <p:nvPr>
            <p:ph type="sldNum" sz="quarter" idx="5"/>
          </p:nvPr>
        </p:nvSpPr>
        <p:spPr/>
        <p:txBody>
          <a:bodyPr/>
          <a:lstStyle/>
          <a:p>
            <a:fld id="{AD93D90D-9563-41DA-8077-230F984E3464}" type="slidenum">
              <a:rPr lang="en-IN" smtClean="0"/>
              <a:t>358</a:t>
            </a:fld>
            <a:endParaRPr lang="en-IN"/>
          </a:p>
        </p:txBody>
      </p:sp>
    </p:spTree>
    <p:extLst>
      <p:ext uri="{BB962C8B-B14F-4D97-AF65-F5344CB8AC3E}">
        <p14:creationId xmlns:p14="http://schemas.microsoft.com/office/powerpoint/2010/main" val="3277134232"/>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053E-4094-061E-3347-C51B531D6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43429-4202-4AB3-61AA-7A6EC60BC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ED159-A2B7-CF1F-7292-94C90E53CC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055355-4962-BE54-FD6C-3E5E536B8BF5}"/>
              </a:ext>
            </a:extLst>
          </p:cNvPr>
          <p:cNvSpPr>
            <a:spLocks noGrp="1"/>
          </p:cNvSpPr>
          <p:nvPr>
            <p:ph type="sldNum" sz="quarter" idx="5"/>
          </p:nvPr>
        </p:nvSpPr>
        <p:spPr/>
        <p:txBody>
          <a:bodyPr/>
          <a:lstStyle/>
          <a:p>
            <a:fld id="{AD93D90D-9563-41DA-8077-230F984E3464}" type="slidenum">
              <a:rPr lang="en-IN" smtClean="0"/>
              <a:t>359</a:t>
            </a:fld>
            <a:endParaRPr lang="en-IN"/>
          </a:p>
        </p:txBody>
      </p:sp>
    </p:spTree>
    <p:extLst>
      <p:ext uri="{BB962C8B-B14F-4D97-AF65-F5344CB8AC3E}">
        <p14:creationId xmlns:p14="http://schemas.microsoft.com/office/powerpoint/2010/main" val="367874499"/>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6C64C-D586-BF30-F40C-5FF0F2B05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94226-82E8-12AA-2A88-FFAEA51A3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917E4-D7FE-29B4-786C-16F2EF3051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53FB21-DB3A-57CE-1FFE-2583BFF76EF0}"/>
              </a:ext>
            </a:extLst>
          </p:cNvPr>
          <p:cNvSpPr>
            <a:spLocks noGrp="1"/>
          </p:cNvSpPr>
          <p:nvPr>
            <p:ph type="sldNum" sz="quarter" idx="5"/>
          </p:nvPr>
        </p:nvSpPr>
        <p:spPr/>
        <p:txBody>
          <a:bodyPr/>
          <a:lstStyle/>
          <a:p>
            <a:fld id="{AD93D90D-9563-41DA-8077-230F984E3464}" type="slidenum">
              <a:rPr lang="en-IN" smtClean="0"/>
              <a:t>360</a:t>
            </a:fld>
            <a:endParaRPr lang="en-IN"/>
          </a:p>
        </p:txBody>
      </p:sp>
    </p:spTree>
    <p:extLst>
      <p:ext uri="{BB962C8B-B14F-4D97-AF65-F5344CB8AC3E}">
        <p14:creationId xmlns:p14="http://schemas.microsoft.com/office/powerpoint/2010/main" val="2781539186"/>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F2DA-CA92-6673-0139-663ABBD31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FC48A-7628-3EA9-9701-FF72A6D08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25108-93E3-8572-754A-3027944EC4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990E60-A183-E541-595D-9685CC43C234}"/>
              </a:ext>
            </a:extLst>
          </p:cNvPr>
          <p:cNvSpPr>
            <a:spLocks noGrp="1"/>
          </p:cNvSpPr>
          <p:nvPr>
            <p:ph type="sldNum" sz="quarter" idx="5"/>
          </p:nvPr>
        </p:nvSpPr>
        <p:spPr/>
        <p:txBody>
          <a:bodyPr/>
          <a:lstStyle/>
          <a:p>
            <a:fld id="{AD93D90D-9563-41DA-8077-230F984E3464}" type="slidenum">
              <a:rPr lang="en-IN" smtClean="0"/>
              <a:t>361</a:t>
            </a:fld>
            <a:endParaRPr lang="en-IN"/>
          </a:p>
        </p:txBody>
      </p:sp>
    </p:spTree>
    <p:extLst>
      <p:ext uri="{BB962C8B-B14F-4D97-AF65-F5344CB8AC3E}">
        <p14:creationId xmlns:p14="http://schemas.microsoft.com/office/powerpoint/2010/main" val="3196371672"/>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C491-DA2E-23DF-A9CA-09DBAFA12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FB0B0-BAE4-57A8-AC91-0199FEF41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1B03DE-AEFB-58C6-8AF6-8FB5647424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A55A7D-3DBC-F435-1FE1-F0D3D0A18C4B}"/>
              </a:ext>
            </a:extLst>
          </p:cNvPr>
          <p:cNvSpPr>
            <a:spLocks noGrp="1"/>
          </p:cNvSpPr>
          <p:nvPr>
            <p:ph type="sldNum" sz="quarter" idx="5"/>
          </p:nvPr>
        </p:nvSpPr>
        <p:spPr/>
        <p:txBody>
          <a:bodyPr/>
          <a:lstStyle/>
          <a:p>
            <a:fld id="{AD93D90D-9563-41DA-8077-230F984E3464}" type="slidenum">
              <a:rPr lang="en-IN" smtClean="0"/>
              <a:t>362</a:t>
            </a:fld>
            <a:endParaRPr lang="en-IN"/>
          </a:p>
        </p:txBody>
      </p:sp>
    </p:spTree>
    <p:extLst>
      <p:ext uri="{BB962C8B-B14F-4D97-AF65-F5344CB8AC3E}">
        <p14:creationId xmlns:p14="http://schemas.microsoft.com/office/powerpoint/2010/main" val="3806272677"/>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C7C84-5D2D-5196-0FDA-F093896E7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9214C-67BA-4720-EEEF-F183C7949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27B77-FD4D-FED3-9D1E-B93DF8E238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F232A1-EE34-03D2-981A-ADF652283D35}"/>
              </a:ext>
            </a:extLst>
          </p:cNvPr>
          <p:cNvSpPr>
            <a:spLocks noGrp="1"/>
          </p:cNvSpPr>
          <p:nvPr>
            <p:ph type="sldNum" sz="quarter" idx="5"/>
          </p:nvPr>
        </p:nvSpPr>
        <p:spPr/>
        <p:txBody>
          <a:bodyPr/>
          <a:lstStyle/>
          <a:p>
            <a:fld id="{AD93D90D-9563-41DA-8077-230F984E3464}" type="slidenum">
              <a:rPr lang="en-IN" smtClean="0"/>
              <a:t>363</a:t>
            </a:fld>
            <a:endParaRPr lang="en-IN"/>
          </a:p>
        </p:txBody>
      </p:sp>
    </p:spTree>
    <p:extLst>
      <p:ext uri="{BB962C8B-B14F-4D97-AF65-F5344CB8AC3E}">
        <p14:creationId xmlns:p14="http://schemas.microsoft.com/office/powerpoint/2010/main" val="2289453845"/>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2206-2E71-5B34-41B5-DA647FAF4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F643E-D6E3-36E0-ACB3-EDDB7171B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3AF05-9703-1A7C-149F-D42FABA7BF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319CF3-FC18-F060-C0AF-9956CF552A34}"/>
              </a:ext>
            </a:extLst>
          </p:cNvPr>
          <p:cNvSpPr>
            <a:spLocks noGrp="1"/>
          </p:cNvSpPr>
          <p:nvPr>
            <p:ph type="sldNum" sz="quarter" idx="5"/>
          </p:nvPr>
        </p:nvSpPr>
        <p:spPr/>
        <p:txBody>
          <a:bodyPr/>
          <a:lstStyle/>
          <a:p>
            <a:fld id="{AD93D90D-9563-41DA-8077-230F984E3464}" type="slidenum">
              <a:rPr lang="en-IN" smtClean="0"/>
              <a:t>364</a:t>
            </a:fld>
            <a:endParaRPr lang="en-IN"/>
          </a:p>
        </p:txBody>
      </p:sp>
    </p:spTree>
    <p:extLst>
      <p:ext uri="{BB962C8B-B14F-4D97-AF65-F5344CB8AC3E}">
        <p14:creationId xmlns:p14="http://schemas.microsoft.com/office/powerpoint/2010/main" val="3931811242"/>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2736-2DD3-E57B-7E30-CA39E6F4F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5C3C9-5562-5958-47CB-9000F4DBF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D1513-DD9B-1149-F435-EB710CC601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B17584E-4BFC-EF4D-3EDE-95FCCB06C14E}"/>
              </a:ext>
            </a:extLst>
          </p:cNvPr>
          <p:cNvSpPr>
            <a:spLocks noGrp="1"/>
          </p:cNvSpPr>
          <p:nvPr>
            <p:ph type="sldNum" sz="quarter" idx="5"/>
          </p:nvPr>
        </p:nvSpPr>
        <p:spPr/>
        <p:txBody>
          <a:bodyPr/>
          <a:lstStyle/>
          <a:p>
            <a:fld id="{AD93D90D-9563-41DA-8077-230F984E3464}" type="slidenum">
              <a:rPr lang="en-IN" smtClean="0"/>
              <a:t>365</a:t>
            </a:fld>
            <a:endParaRPr lang="en-IN"/>
          </a:p>
        </p:txBody>
      </p:sp>
    </p:spTree>
    <p:extLst>
      <p:ext uri="{BB962C8B-B14F-4D97-AF65-F5344CB8AC3E}">
        <p14:creationId xmlns:p14="http://schemas.microsoft.com/office/powerpoint/2010/main" val="1532855266"/>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7313-7656-E498-2340-977487500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BC4A0-97F5-46E6-3A43-E57B69E8C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0A161-F233-E7E3-47AE-C2EFFD6D09F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DD5AE4-D0BD-FE19-E060-1264346F9820}"/>
              </a:ext>
            </a:extLst>
          </p:cNvPr>
          <p:cNvSpPr>
            <a:spLocks noGrp="1"/>
          </p:cNvSpPr>
          <p:nvPr>
            <p:ph type="sldNum" sz="quarter" idx="5"/>
          </p:nvPr>
        </p:nvSpPr>
        <p:spPr/>
        <p:txBody>
          <a:bodyPr/>
          <a:lstStyle/>
          <a:p>
            <a:fld id="{AD93D90D-9563-41DA-8077-230F984E3464}" type="slidenum">
              <a:rPr lang="en-IN" smtClean="0"/>
              <a:t>366</a:t>
            </a:fld>
            <a:endParaRPr lang="en-IN"/>
          </a:p>
        </p:txBody>
      </p:sp>
    </p:spTree>
    <p:extLst>
      <p:ext uri="{BB962C8B-B14F-4D97-AF65-F5344CB8AC3E}">
        <p14:creationId xmlns:p14="http://schemas.microsoft.com/office/powerpoint/2010/main" val="1366092319"/>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BAF44-B094-35ED-BA2A-2E27FF487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488B4-59A7-325A-54FB-A04FBCCD6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99021-C2BA-1C66-D555-75972F66F9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C5E9F0-45D1-C777-5478-B1F4FF97706D}"/>
              </a:ext>
            </a:extLst>
          </p:cNvPr>
          <p:cNvSpPr>
            <a:spLocks noGrp="1"/>
          </p:cNvSpPr>
          <p:nvPr>
            <p:ph type="sldNum" sz="quarter" idx="5"/>
          </p:nvPr>
        </p:nvSpPr>
        <p:spPr/>
        <p:txBody>
          <a:bodyPr/>
          <a:lstStyle/>
          <a:p>
            <a:fld id="{AD93D90D-9563-41DA-8077-230F984E3464}" type="slidenum">
              <a:rPr lang="en-IN" smtClean="0"/>
              <a:t>367</a:t>
            </a:fld>
            <a:endParaRPr lang="en-IN"/>
          </a:p>
        </p:txBody>
      </p:sp>
    </p:spTree>
    <p:extLst>
      <p:ext uri="{BB962C8B-B14F-4D97-AF65-F5344CB8AC3E}">
        <p14:creationId xmlns:p14="http://schemas.microsoft.com/office/powerpoint/2010/main" val="2966180568"/>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335B-B463-2B65-5184-9768420C7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90642-00CA-D00D-2703-C676E5648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BD9C4-29EC-2334-4DA2-A11C6F6A85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546AEC-F45C-F955-D1F3-16B8C38A1EB0}"/>
              </a:ext>
            </a:extLst>
          </p:cNvPr>
          <p:cNvSpPr>
            <a:spLocks noGrp="1"/>
          </p:cNvSpPr>
          <p:nvPr>
            <p:ph type="sldNum" sz="quarter" idx="5"/>
          </p:nvPr>
        </p:nvSpPr>
        <p:spPr/>
        <p:txBody>
          <a:bodyPr/>
          <a:lstStyle/>
          <a:p>
            <a:fld id="{AD93D90D-9563-41DA-8077-230F984E3464}" type="slidenum">
              <a:rPr lang="en-IN" smtClean="0"/>
              <a:t>368</a:t>
            </a:fld>
            <a:endParaRPr lang="en-IN"/>
          </a:p>
        </p:txBody>
      </p:sp>
    </p:spTree>
    <p:extLst>
      <p:ext uri="{BB962C8B-B14F-4D97-AF65-F5344CB8AC3E}">
        <p14:creationId xmlns:p14="http://schemas.microsoft.com/office/powerpoint/2010/main" val="1849324019"/>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131BA-37AE-E1A4-7A80-4E53AEA0F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93D58-3C42-4CBD-922D-DBDFAF088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372C8-8A2C-59C0-04A6-6A33A20A0A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2B334CB-66B0-805C-06EE-9EF97F676E89}"/>
              </a:ext>
            </a:extLst>
          </p:cNvPr>
          <p:cNvSpPr>
            <a:spLocks noGrp="1"/>
          </p:cNvSpPr>
          <p:nvPr>
            <p:ph type="sldNum" sz="quarter" idx="5"/>
          </p:nvPr>
        </p:nvSpPr>
        <p:spPr/>
        <p:txBody>
          <a:bodyPr/>
          <a:lstStyle/>
          <a:p>
            <a:fld id="{AD93D90D-9563-41DA-8077-230F984E3464}" type="slidenum">
              <a:rPr lang="en-IN" smtClean="0"/>
              <a:t>369</a:t>
            </a:fld>
            <a:endParaRPr lang="en-IN"/>
          </a:p>
        </p:txBody>
      </p:sp>
    </p:spTree>
    <p:extLst>
      <p:ext uri="{BB962C8B-B14F-4D97-AF65-F5344CB8AC3E}">
        <p14:creationId xmlns:p14="http://schemas.microsoft.com/office/powerpoint/2010/main" val="3215690312"/>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840A-A598-2DD6-1FBE-6B2ED26B2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21C4D1-7101-8B40-326E-E9E964FC4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306BA-8240-2846-5529-DDC57D4658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5A3CBD-3773-AF54-0247-CB0D80CF631E}"/>
              </a:ext>
            </a:extLst>
          </p:cNvPr>
          <p:cNvSpPr>
            <a:spLocks noGrp="1"/>
          </p:cNvSpPr>
          <p:nvPr>
            <p:ph type="sldNum" sz="quarter" idx="5"/>
          </p:nvPr>
        </p:nvSpPr>
        <p:spPr/>
        <p:txBody>
          <a:bodyPr/>
          <a:lstStyle/>
          <a:p>
            <a:fld id="{AD93D90D-9563-41DA-8077-230F984E3464}" type="slidenum">
              <a:rPr lang="en-IN" smtClean="0"/>
              <a:t>370</a:t>
            </a:fld>
            <a:endParaRPr lang="en-IN"/>
          </a:p>
        </p:txBody>
      </p:sp>
    </p:spTree>
    <p:extLst>
      <p:ext uri="{BB962C8B-B14F-4D97-AF65-F5344CB8AC3E}">
        <p14:creationId xmlns:p14="http://schemas.microsoft.com/office/powerpoint/2010/main" val="2338897553"/>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AA59-70CB-F7BF-01D0-66A0FA8C5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A43A1-BBFF-C664-6930-CE91079160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4F8BA-72D5-7B9F-53B5-D5C3A009D1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8A5CAD3-C57E-E362-716C-8E5A13A66A48}"/>
              </a:ext>
            </a:extLst>
          </p:cNvPr>
          <p:cNvSpPr>
            <a:spLocks noGrp="1"/>
          </p:cNvSpPr>
          <p:nvPr>
            <p:ph type="sldNum" sz="quarter" idx="5"/>
          </p:nvPr>
        </p:nvSpPr>
        <p:spPr/>
        <p:txBody>
          <a:bodyPr/>
          <a:lstStyle/>
          <a:p>
            <a:fld id="{AD93D90D-9563-41DA-8077-230F984E3464}" type="slidenum">
              <a:rPr lang="en-IN" smtClean="0"/>
              <a:t>371</a:t>
            </a:fld>
            <a:endParaRPr lang="en-IN"/>
          </a:p>
        </p:txBody>
      </p:sp>
    </p:spTree>
    <p:extLst>
      <p:ext uri="{BB962C8B-B14F-4D97-AF65-F5344CB8AC3E}">
        <p14:creationId xmlns:p14="http://schemas.microsoft.com/office/powerpoint/2010/main" val="2134097446"/>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056EB-5E34-AA47-6CE0-47FFED213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009C4-7EF8-67FE-4AC6-87F91B6AE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4183D-FC02-9766-F2AB-9AF015B1D0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A09A05-02C1-1570-BC9A-27917E1CFD53}"/>
              </a:ext>
            </a:extLst>
          </p:cNvPr>
          <p:cNvSpPr>
            <a:spLocks noGrp="1"/>
          </p:cNvSpPr>
          <p:nvPr>
            <p:ph type="sldNum" sz="quarter" idx="5"/>
          </p:nvPr>
        </p:nvSpPr>
        <p:spPr/>
        <p:txBody>
          <a:bodyPr/>
          <a:lstStyle/>
          <a:p>
            <a:fld id="{AD93D90D-9563-41DA-8077-230F984E3464}" type="slidenum">
              <a:rPr lang="en-IN" smtClean="0"/>
              <a:t>372</a:t>
            </a:fld>
            <a:endParaRPr lang="en-IN"/>
          </a:p>
        </p:txBody>
      </p:sp>
    </p:spTree>
    <p:extLst>
      <p:ext uri="{BB962C8B-B14F-4D97-AF65-F5344CB8AC3E}">
        <p14:creationId xmlns:p14="http://schemas.microsoft.com/office/powerpoint/2010/main" val="3508015749"/>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C9F9-E6BB-DC1C-2168-AF4A23870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339BE-F7BE-8AD9-3C34-23DB630C8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8B017-2AD7-663E-BBBD-E4B37C7206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84E62D7-347C-4750-7A24-82C5914BD4B0}"/>
              </a:ext>
            </a:extLst>
          </p:cNvPr>
          <p:cNvSpPr>
            <a:spLocks noGrp="1"/>
          </p:cNvSpPr>
          <p:nvPr>
            <p:ph type="sldNum" sz="quarter" idx="5"/>
          </p:nvPr>
        </p:nvSpPr>
        <p:spPr/>
        <p:txBody>
          <a:bodyPr/>
          <a:lstStyle/>
          <a:p>
            <a:fld id="{AD93D90D-9563-41DA-8077-230F984E3464}" type="slidenum">
              <a:rPr lang="en-IN" smtClean="0"/>
              <a:t>373</a:t>
            </a:fld>
            <a:endParaRPr lang="en-IN"/>
          </a:p>
        </p:txBody>
      </p:sp>
    </p:spTree>
    <p:extLst>
      <p:ext uri="{BB962C8B-B14F-4D97-AF65-F5344CB8AC3E}">
        <p14:creationId xmlns:p14="http://schemas.microsoft.com/office/powerpoint/2010/main" val="1451172208"/>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BA2F-5E3B-2965-EA97-586A44B55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3BFB5-4980-6089-62B8-E82BCA933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CBFCF-3DEA-9647-B41F-43E1865D2F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EE93AE-9DA6-FBFE-FFD0-0A8180972B0B}"/>
              </a:ext>
            </a:extLst>
          </p:cNvPr>
          <p:cNvSpPr>
            <a:spLocks noGrp="1"/>
          </p:cNvSpPr>
          <p:nvPr>
            <p:ph type="sldNum" sz="quarter" idx="5"/>
          </p:nvPr>
        </p:nvSpPr>
        <p:spPr/>
        <p:txBody>
          <a:bodyPr/>
          <a:lstStyle/>
          <a:p>
            <a:fld id="{AD93D90D-9563-41DA-8077-230F984E3464}" type="slidenum">
              <a:rPr lang="en-IN" smtClean="0"/>
              <a:t>374</a:t>
            </a:fld>
            <a:endParaRPr lang="en-IN"/>
          </a:p>
        </p:txBody>
      </p:sp>
    </p:spTree>
    <p:extLst>
      <p:ext uri="{BB962C8B-B14F-4D97-AF65-F5344CB8AC3E}">
        <p14:creationId xmlns:p14="http://schemas.microsoft.com/office/powerpoint/2010/main" val="779590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48B1CE-7850-48F9-8007-DB89FB19E79E}"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939988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48B1CE-7850-48F9-8007-DB89FB19E79E}"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216174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48B1CE-7850-48F9-8007-DB89FB19E79E}"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3005651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48B1CE-7850-48F9-8007-DB89FB19E79E}"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782998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48B1CE-7850-48F9-8007-DB89FB19E79E}" type="datetimeFigureOut">
              <a:rPr lang="en-IN" smtClean="0"/>
              <a:t>06-11-2024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470047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48B1CE-7850-48F9-8007-DB89FB19E79E}" type="datetimeFigureOut">
              <a:rPr lang="en-IN" smtClean="0"/>
              <a:t>06-11-2024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1245539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48B1CE-7850-48F9-8007-DB89FB19E79E}" type="datetimeFigureOut">
              <a:rPr lang="en-IN" smtClean="0"/>
              <a:t>06-11-2024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3430646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48B1CE-7850-48F9-8007-DB89FB19E79E}"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415832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48B1CE-7850-48F9-8007-DB89FB19E79E}"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1246898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48B1CE-7850-48F9-8007-DB89FB19E79E}"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1749107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48B1CE-7850-48F9-8007-DB89FB19E79E}"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FCDDC-47B8-466E-8EA7-D0B9B2D85CDE}" type="slidenum">
              <a:rPr lang="en-IN" smtClean="0"/>
              <a:t>‹#›</a:t>
            </a:fld>
            <a:endParaRPr lang="en-IN"/>
          </a:p>
        </p:txBody>
      </p:sp>
    </p:spTree>
    <p:extLst>
      <p:ext uri="{BB962C8B-B14F-4D97-AF65-F5344CB8AC3E}">
        <p14:creationId xmlns:p14="http://schemas.microsoft.com/office/powerpoint/2010/main" val="3880413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48B1CE-7850-48F9-8007-DB89FB19E79E}" type="datetimeFigureOut">
              <a:rPr lang="en-IN" smtClean="0"/>
              <a:t>06-11-2024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2FCDDC-47B8-466E-8EA7-D0B9B2D85CDE}" type="slidenum">
              <a:rPr lang="en-IN" smtClean="0"/>
              <a:t>‹#›</a:t>
            </a:fld>
            <a:endParaRPr lang="en-IN"/>
          </a:p>
        </p:txBody>
      </p:sp>
    </p:spTree>
    <p:extLst>
      <p:ext uri="{BB962C8B-B14F-4D97-AF65-F5344CB8AC3E}">
        <p14:creationId xmlns:p14="http://schemas.microsoft.com/office/powerpoint/2010/main" val="38739970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08.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1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41.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45.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51.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52.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53.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56.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57.xm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58.xml"/><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59.xml"/><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265.xml"/><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66.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69.xml"/><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70.xml"/><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71.xml"/><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72.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73.xml"/><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74.xml"/><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75.xml"/><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76.xml"/><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79.xml"/><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80.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81.xml"/><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82.xm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83.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84.xml"/><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85.xml"/><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286.xml"/><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298.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01.xml"/><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302.xml"/><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303.xml"/><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2" Type="http://schemas.openxmlformats.org/officeDocument/2006/relationships/notesSlide" Target="../notesSlides/notesSlide304.xml"/><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305.xml"/><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306.xml"/><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notesSlide" Target="../notesSlides/notesSlide307.xml"/><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308.xml"/><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309.xml"/><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10.xml"/><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11.xml"/><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notesSlide" Target="../notesSlides/notesSlide312.xml"/><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notesSlide" Target="../notesSlides/notesSlide313.xml"/><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314.xml"/><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315.xml"/><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16.xml"/><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17.xml"/><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318.xml"/><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319.xml"/><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320.xml"/><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321.xml"/><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22.xml"/><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323.xml"/><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24.xml"/><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25.xml"/><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326.xml"/><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27.xml"/><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28.xml"/><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9.xml"/><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30.xml"/><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2" Type="http://schemas.openxmlformats.org/officeDocument/2006/relationships/notesSlide" Target="../notesSlides/notesSlide331.xml"/><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332.xml"/><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333.xml"/><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334.xml"/><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5.xml"/><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36.xml"/><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337.xml"/><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338.xml"/><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39.xml"/><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40.xml"/><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41.xml"/><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42.xml"/><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2" Type="http://schemas.openxmlformats.org/officeDocument/2006/relationships/notesSlide" Target="../notesSlides/notesSlide343.xml"/><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344.xml"/><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45.xml"/><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46.xml"/><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347.xml"/><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48.xml"/><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349.xml"/><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50.xml"/><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351.xml"/><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52.xml"/><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53.xml"/><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54.xml"/><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355.xml"/><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356.xml"/><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357.xml"/><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358.xml"/><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359.xml"/><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60.xml"/><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361.xml"/><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362.xml"/><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63.xml"/><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364.xml"/><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365.xml"/><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366.xml"/><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3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71B58-A5E8-C30A-9732-D5EC06922D65}"/>
              </a:ext>
            </a:extLst>
          </p:cNvPr>
          <p:cNvSpPr>
            <a:spLocks noGrp="1"/>
          </p:cNvSpPr>
          <p:nvPr>
            <p:ph type="ctrTitle"/>
          </p:nvPr>
        </p:nvSpPr>
        <p:spPr/>
        <p:txBody>
          <a:bodyPr/>
          <a:lstStyle/>
          <a:p>
            <a:r>
              <a:rPr lang="en-IN" dirty="0"/>
              <a:t>Statistics for AI&amp;DS</a:t>
            </a:r>
          </a:p>
        </p:txBody>
      </p:sp>
      <p:sp>
        <p:nvSpPr>
          <p:cNvPr id="3" name="Subtitle 2">
            <a:extLst>
              <a:ext uri="{FF2B5EF4-FFF2-40B4-BE49-F238E27FC236}">
                <a16:creationId xmlns:a16="http://schemas.microsoft.com/office/drawing/2014/main" id="{87E46276-580E-4852-3940-FAB8A04F957C}"/>
              </a:ext>
            </a:extLst>
          </p:cNvPr>
          <p:cNvSpPr>
            <a:spLocks noGrp="1"/>
          </p:cNvSpPr>
          <p:nvPr>
            <p:ph type="subTitle" idx="1"/>
          </p:nvPr>
        </p:nvSpPr>
        <p:spPr/>
        <p:txBody>
          <a:bodyPr/>
          <a:lstStyle/>
          <a:p>
            <a:r>
              <a:rPr lang="en-IN" dirty="0"/>
              <a:t>By Naufil Kazi</a:t>
            </a:r>
          </a:p>
        </p:txBody>
      </p:sp>
    </p:spTree>
    <p:extLst>
      <p:ext uri="{BB962C8B-B14F-4D97-AF65-F5344CB8AC3E}">
        <p14:creationId xmlns:p14="http://schemas.microsoft.com/office/powerpoint/2010/main" val="1155265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Course Overview</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ormAutofit fontScale="70000" lnSpcReduction="20000"/>
          </a:bodyPr>
          <a:lstStyle/>
          <a:p>
            <a:pPr algn="just"/>
            <a:r>
              <a:rPr lang="en-US" dirty="0"/>
              <a:t>Prerequisite: C Programming</a:t>
            </a:r>
          </a:p>
          <a:p>
            <a:pPr algn="just"/>
            <a:r>
              <a:rPr lang="en-US" dirty="0"/>
              <a:t>Prerequisite: Discrete Structures and Graph Theory</a:t>
            </a:r>
          </a:p>
          <a:p>
            <a:pPr algn="just"/>
            <a:r>
              <a:rPr lang="en-US" dirty="0"/>
              <a:t>Course Objectives: The course aims</a:t>
            </a:r>
          </a:p>
          <a:p>
            <a:pPr lvl="1" algn="just"/>
            <a:r>
              <a:rPr lang="en-US" dirty="0"/>
              <a:t>To Perform exploratory analysis on the datasets</a:t>
            </a:r>
          </a:p>
          <a:p>
            <a:pPr lvl="1" algn="just"/>
            <a:r>
              <a:rPr lang="en-US" dirty="0"/>
              <a:t>To Understand the various distribution and sampling</a:t>
            </a:r>
          </a:p>
          <a:p>
            <a:pPr lvl="1" algn="just"/>
            <a:r>
              <a:rPr lang="en-US" dirty="0"/>
              <a:t>To Perform Hypothesis Testing on datasets</a:t>
            </a:r>
          </a:p>
          <a:p>
            <a:pPr lvl="1" algn="just"/>
            <a:r>
              <a:rPr lang="en-US" dirty="0"/>
              <a:t>To Explore different techniques for Summarizing Data</a:t>
            </a:r>
          </a:p>
          <a:p>
            <a:pPr lvl="1" algn="just"/>
            <a:r>
              <a:rPr lang="en-US" dirty="0"/>
              <a:t>To Perform The Analysis of Variance</a:t>
            </a:r>
          </a:p>
          <a:p>
            <a:pPr lvl="1" algn="just"/>
            <a:r>
              <a:rPr lang="en-US" dirty="0"/>
              <a:t>To Explore Linear Least Squares</a:t>
            </a:r>
          </a:p>
          <a:p>
            <a:pPr algn="just"/>
            <a:r>
              <a:rPr lang="en-US" dirty="0"/>
              <a:t>Course Outcomes: Learner will be able to</a:t>
            </a:r>
          </a:p>
          <a:p>
            <a:pPr lvl="1" algn="just"/>
            <a:r>
              <a:rPr lang="en-US" dirty="0"/>
              <a:t>Illustrate Exploratory Data Analysis</a:t>
            </a:r>
          </a:p>
          <a:p>
            <a:pPr lvl="1" algn="just"/>
            <a:r>
              <a:rPr lang="en-US" dirty="0"/>
              <a:t>Describe Data and Sampling Distributions</a:t>
            </a:r>
          </a:p>
          <a:p>
            <a:pPr lvl="1" algn="just"/>
            <a:r>
              <a:rPr lang="en-US" dirty="0"/>
              <a:t>Solve Statistical Experiments and Significance Testing</a:t>
            </a:r>
          </a:p>
          <a:p>
            <a:pPr lvl="1" algn="just"/>
            <a:r>
              <a:rPr lang="en-US" dirty="0"/>
              <a:t>Demonstrate Summarizing Data</a:t>
            </a:r>
          </a:p>
          <a:p>
            <a:pPr lvl="1" algn="just"/>
            <a:r>
              <a:rPr lang="en-US" dirty="0"/>
              <a:t>Interpret the Analysis of Variance</a:t>
            </a:r>
          </a:p>
          <a:p>
            <a:pPr lvl="1" algn="just"/>
            <a:r>
              <a:rPr lang="en-US" dirty="0"/>
              <a:t>Use Linear Least Squares</a:t>
            </a:r>
          </a:p>
        </p:txBody>
      </p:sp>
    </p:spTree>
    <p:extLst>
      <p:ext uri="{BB962C8B-B14F-4D97-AF65-F5344CB8AC3E}">
        <p14:creationId xmlns:p14="http://schemas.microsoft.com/office/powerpoint/2010/main" val="3108524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ormAutofit/>
          </a:bodyPr>
          <a:lstStyle/>
          <a:p>
            <a:pPr marL="514350" indent="-514350" algn="just">
              <a:buFont typeface="+mj-lt"/>
              <a:buAutoNum type="arabicPeriod"/>
            </a:pPr>
            <a:r>
              <a:rPr lang="en-US" dirty="0"/>
              <a:t>Exploratory Data Analysis</a:t>
            </a:r>
          </a:p>
          <a:p>
            <a:pPr marL="514350" indent="-514350" algn="just">
              <a:buFont typeface="+mj-lt"/>
              <a:buAutoNum type="arabicPeriod"/>
            </a:pPr>
            <a:r>
              <a:rPr lang="en-US" dirty="0"/>
              <a:t>Data and Sampling Distribution</a:t>
            </a:r>
          </a:p>
          <a:p>
            <a:pPr marL="514350" indent="-514350" algn="just">
              <a:buFont typeface="+mj-lt"/>
              <a:buAutoNum type="arabicPeriod"/>
            </a:pPr>
            <a:r>
              <a:rPr lang="en-US" dirty="0"/>
              <a:t>Statistical Experiments and Significance Testing</a:t>
            </a:r>
          </a:p>
          <a:p>
            <a:pPr marL="514350" indent="-514350" algn="just">
              <a:buFont typeface="+mj-lt"/>
              <a:buAutoNum type="arabicPeriod"/>
            </a:pPr>
            <a:r>
              <a:rPr lang="en-US" dirty="0"/>
              <a:t>Summarizing Data</a:t>
            </a:r>
          </a:p>
          <a:p>
            <a:pPr marL="514350" indent="-514350" algn="just">
              <a:buFont typeface="+mj-lt"/>
              <a:buAutoNum type="arabicPeriod"/>
            </a:pPr>
            <a:r>
              <a:rPr lang="en-US" dirty="0"/>
              <a:t>The Analysis of Variance</a:t>
            </a:r>
          </a:p>
          <a:p>
            <a:pPr marL="514350" indent="-514350" algn="just">
              <a:buFont typeface="+mj-lt"/>
              <a:buAutoNum type="arabicPeriod"/>
            </a:pPr>
            <a:r>
              <a:rPr lang="en-US" dirty="0"/>
              <a:t>Linear Least Squares</a:t>
            </a:r>
          </a:p>
        </p:txBody>
      </p:sp>
    </p:spTree>
    <p:extLst>
      <p:ext uri="{BB962C8B-B14F-4D97-AF65-F5344CB8AC3E}">
        <p14:creationId xmlns:p14="http://schemas.microsoft.com/office/powerpoint/2010/main" val="501143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Assessment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ormAutofit/>
          </a:bodyPr>
          <a:lstStyle/>
          <a:p>
            <a:pPr marL="514350" indent="-514350" algn="just">
              <a:buFont typeface="+mj-lt"/>
              <a:buAutoNum type="arabicPeriod"/>
            </a:pPr>
            <a:r>
              <a:rPr lang="en-US" dirty="0"/>
              <a:t>Internal Assessment: Assessment: Assessment consists of two class tests of 20 marks each. The first-class test is to be conducted when approx. 40% syllabus is completed and second class test when additional 40% syllabus is completed. Duration of each test shall be one hour. </a:t>
            </a:r>
          </a:p>
          <a:p>
            <a:pPr marL="514350" indent="-514350" algn="just">
              <a:buFont typeface="+mj-lt"/>
              <a:buAutoNum type="arabicPeriod"/>
            </a:pPr>
            <a:r>
              <a:rPr lang="en-US" dirty="0"/>
              <a:t>End Semester Theory Examination: </a:t>
            </a:r>
          </a:p>
          <a:p>
            <a:pPr marL="457200" lvl="1" indent="0" algn="just">
              <a:buNone/>
            </a:pPr>
            <a:r>
              <a:rPr lang="en-US" dirty="0"/>
              <a:t>1 Question paper will consist of 6 questions, each carrying 20 marks. </a:t>
            </a:r>
          </a:p>
          <a:p>
            <a:pPr marL="457200" lvl="1" indent="0" algn="just">
              <a:buNone/>
            </a:pPr>
            <a:r>
              <a:rPr lang="en-US" dirty="0"/>
              <a:t>2 The students need to solve a total of 4 questions. </a:t>
            </a:r>
          </a:p>
          <a:p>
            <a:pPr marL="457200" lvl="1" indent="0" algn="just">
              <a:buNone/>
            </a:pPr>
            <a:r>
              <a:rPr lang="en-US" dirty="0"/>
              <a:t>3 Question No.1 will be compulsory and based on the entire syllabus. </a:t>
            </a:r>
          </a:p>
          <a:p>
            <a:pPr marL="457200" lvl="1" indent="0" algn="just">
              <a:buNone/>
            </a:pPr>
            <a:r>
              <a:rPr lang="en-US" dirty="0"/>
              <a:t>4 Remaining question (Q.2 to Q.6) will be selected from all the modules.</a:t>
            </a:r>
          </a:p>
        </p:txBody>
      </p:sp>
    </p:spTree>
    <p:extLst>
      <p:ext uri="{BB962C8B-B14F-4D97-AF65-F5344CB8AC3E}">
        <p14:creationId xmlns:p14="http://schemas.microsoft.com/office/powerpoint/2010/main" val="2079127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Introduction to Structured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sz="4000" dirty="0"/>
              <a:t>Structured Data refers to data that is organized in a predefined manner, often in tabular format with rows and columns. It is typically stored in databases and is easily searchable by algorithms.</a:t>
            </a:r>
          </a:p>
        </p:txBody>
      </p:sp>
    </p:spTree>
    <p:extLst>
      <p:ext uri="{BB962C8B-B14F-4D97-AF65-F5344CB8AC3E}">
        <p14:creationId xmlns:p14="http://schemas.microsoft.com/office/powerpoint/2010/main" val="3602814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Introduction to Structured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fontScale="77500" lnSpcReduction="20000"/>
          </a:bodyPr>
          <a:lstStyle/>
          <a:p>
            <a:pPr marL="742950" indent="-742950" algn="just">
              <a:buFont typeface="+mj-lt"/>
              <a:buAutoNum type="arabicPeriod"/>
            </a:pPr>
            <a:r>
              <a:rPr lang="en-US" sz="4000" dirty="0"/>
              <a:t>Semi-Structured data</a:t>
            </a:r>
          </a:p>
          <a:p>
            <a:pPr marL="914400" lvl="2" indent="0" algn="just">
              <a:buNone/>
            </a:pPr>
            <a:r>
              <a:rPr lang="en-US" sz="2800" dirty="0"/>
              <a:t>Semi-structured data is information that does not reside in a relational database but that has some organizational properties that make it easier to analyze. With some processes, you can store them in the relation database (it could be very hard for some kind of semi-structured data), but Semi-structured exist to ease space. Example: XML data. </a:t>
            </a:r>
            <a:endParaRPr lang="en-US" sz="3200" dirty="0"/>
          </a:p>
          <a:p>
            <a:pPr marL="742950" indent="-742950" algn="just">
              <a:buFont typeface="+mj-lt"/>
              <a:buAutoNum type="arabicPeriod"/>
            </a:pPr>
            <a:r>
              <a:rPr lang="en-US" sz="4000" dirty="0"/>
              <a:t>Unstructured data</a:t>
            </a:r>
          </a:p>
          <a:p>
            <a:pPr marL="914400" lvl="2" indent="0" algn="just">
              <a:buNone/>
            </a:pPr>
            <a:r>
              <a:rPr lang="en-US" sz="3200" dirty="0"/>
              <a:t>Unstructured data is a data which is not organized in a predefined manner or does not have a predefined data model, thus it is not a good fit for a mainstream relational database. So for Unstructured data, there are alternative platforms for storing and managing, it is increasingly prevalent in IT systems and is used by organizations in a variety of business intelligence and analytics applications. Example: Word, PDF, Text, Media logs. </a:t>
            </a:r>
          </a:p>
        </p:txBody>
      </p:sp>
    </p:spTree>
    <p:extLst>
      <p:ext uri="{BB962C8B-B14F-4D97-AF65-F5344CB8AC3E}">
        <p14:creationId xmlns:p14="http://schemas.microsoft.com/office/powerpoint/2010/main" val="2601790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Elements of Structured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fontScale="92500" lnSpcReduction="20000"/>
          </a:bodyPr>
          <a:lstStyle/>
          <a:p>
            <a:pPr marL="742950" indent="-742950" algn="just">
              <a:buFont typeface="+mj-lt"/>
              <a:buAutoNum type="arabicPeriod"/>
            </a:pPr>
            <a:r>
              <a:rPr lang="en-US" sz="4000" dirty="0"/>
              <a:t>Data Types</a:t>
            </a:r>
          </a:p>
          <a:p>
            <a:pPr marL="1200150" lvl="1" indent="-742950" algn="just">
              <a:buFont typeface="+mj-lt"/>
              <a:buAutoNum type="arabicPeriod"/>
            </a:pPr>
            <a:r>
              <a:rPr lang="en-US" sz="3600" dirty="0"/>
              <a:t>Numerical Data: Quantitative data that can be measured and assigned a number. Examples include integers, floats, and doubles.</a:t>
            </a:r>
          </a:p>
          <a:p>
            <a:pPr marL="1200150" lvl="1" indent="-742950" algn="just">
              <a:buFont typeface="+mj-lt"/>
              <a:buAutoNum type="arabicPeriod"/>
            </a:pPr>
            <a:r>
              <a:rPr lang="en-US" sz="3600" dirty="0"/>
              <a:t>Categorical Data: Qualitative data that represents categories or groups. Examples include strings and </a:t>
            </a:r>
            <a:r>
              <a:rPr lang="en-US" sz="3600" dirty="0" err="1"/>
              <a:t>enums</a:t>
            </a:r>
            <a:r>
              <a:rPr lang="en-US" sz="3600" dirty="0"/>
              <a:t>.</a:t>
            </a:r>
          </a:p>
          <a:p>
            <a:pPr marL="1200150" lvl="1" indent="-742950" algn="just">
              <a:buFont typeface="+mj-lt"/>
              <a:buAutoNum type="arabicPeriod"/>
            </a:pPr>
            <a:r>
              <a:rPr lang="en-US" sz="3600" dirty="0"/>
              <a:t>Date and Time: Data types that represent dates and times. Examples include timestamps, dates, and intervals.</a:t>
            </a:r>
            <a:endParaRPr lang="en-US" sz="2800" dirty="0"/>
          </a:p>
        </p:txBody>
      </p:sp>
    </p:spTree>
    <p:extLst>
      <p:ext uri="{BB962C8B-B14F-4D97-AF65-F5344CB8AC3E}">
        <p14:creationId xmlns:p14="http://schemas.microsoft.com/office/powerpoint/2010/main" val="180674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Elements of Structured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fontScale="70000" lnSpcReduction="20000"/>
          </a:bodyPr>
          <a:lstStyle/>
          <a:p>
            <a:pPr marL="742950" indent="-742950" algn="just">
              <a:buFont typeface="+mj-lt"/>
              <a:buAutoNum type="arabicPeriod" startAt="2"/>
            </a:pPr>
            <a:r>
              <a:rPr lang="en-US" sz="4000" dirty="0"/>
              <a:t>Attributes (Columns)</a:t>
            </a:r>
          </a:p>
          <a:p>
            <a:pPr marL="1200150" lvl="1" indent="-742950" algn="just">
              <a:buFont typeface="+mj-lt"/>
              <a:buAutoNum type="arabicPeriod"/>
            </a:pPr>
            <a:r>
              <a:rPr lang="en-US" sz="3600" dirty="0"/>
              <a:t>Attribute Names: The names given to columns in a dataset.</a:t>
            </a:r>
          </a:p>
          <a:p>
            <a:pPr marL="1200150" lvl="1" indent="-742950" algn="just">
              <a:buFont typeface="+mj-lt"/>
              <a:buAutoNum type="arabicPeriod"/>
            </a:pPr>
            <a:r>
              <a:rPr lang="en-US" sz="3600" dirty="0"/>
              <a:t>Attribute Values: The actual data points stored under each column.</a:t>
            </a:r>
          </a:p>
          <a:p>
            <a:pPr marL="742950" indent="-742950" algn="just">
              <a:buFont typeface="+mj-lt"/>
              <a:buAutoNum type="arabicPeriod" startAt="2"/>
            </a:pPr>
            <a:r>
              <a:rPr lang="en-US" sz="4000" dirty="0"/>
              <a:t>Records (Rows)</a:t>
            </a:r>
          </a:p>
          <a:p>
            <a:pPr marL="1200150" lvl="1" indent="-742950" algn="just">
              <a:buFont typeface="+mj-lt"/>
              <a:buAutoNum type="arabicPeriod"/>
            </a:pPr>
            <a:r>
              <a:rPr lang="en-US" sz="3600" dirty="0"/>
              <a:t>Record ID: A unique identifier for each row in a dataset.</a:t>
            </a:r>
          </a:p>
          <a:p>
            <a:pPr marL="1200150" lvl="1" indent="-742950" algn="just">
              <a:buFont typeface="+mj-lt"/>
              <a:buAutoNum type="arabicPeriod"/>
            </a:pPr>
            <a:r>
              <a:rPr lang="en-US" sz="3600" dirty="0"/>
              <a:t>Record Values: The actual data points stored in each row.</a:t>
            </a:r>
          </a:p>
          <a:p>
            <a:pPr marL="742950" indent="-742950" algn="just">
              <a:buFont typeface="+mj-lt"/>
              <a:buAutoNum type="arabicPeriod" startAt="2"/>
            </a:pPr>
            <a:r>
              <a:rPr lang="en-US" sz="4000" dirty="0"/>
              <a:t>Metadata</a:t>
            </a:r>
          </a:p>
          <a:p>
            <a:pPr marL="1200150" lvl="1" indent="-742950" algn="just">
              <a:buFont typeface="+mj-lt"/>
              <a:buAutoNum type="arabicPeriod"/>
            </a:pPr>
            <a:r>
              <a:rPr lang="en-US" sz="3600" dirty="0"/>
              <a:t>Schema: Defines the structure of the data, including the data types and constraints for each column.</a:t>
            </a:r>
          </a:p>
          <a:p>
            <a:pPr marL="1200150" lvl="1" indent="-742950" algn="just">
              <a:buFont typeface="+mj-lt"/>
              <a:buAutoNum type="arabicPeriod"/>
            </a:pPr>
            <a:r>
              <a:rPr lang="en-US" sz="3600" dirty="0"/>
              <a:t>Indexes: Structures that improve the speed of data retrieval operations.</a:t>
            </a:r>
            <a:endParaRPr lang="en-US" dirty="0"/>
          </a:p>
        </p:txBody>
      </p:sp>
    </p:spTree>
    <p:extLst>
      <p:ext uri="{BB962C8B-B14F-4D97-AF65-F5344CB8AC3E}">
        <p14:creationId xmlns:p14="http://schemas.microsoft.com/office/powerpoint/2010/main" val="1656389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Rectangular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fontScale="92500" lnSpcReduction="10000"/>
          </a:bodyPr>
          <a:lstStyle/>
          <a:p>
            <a:pPr algn="just"/>
            <a:r>
              <a:rPr lang="en-US" b="1" dirty="0"/>
              <a:t>Rectangular Data</a:t>
            </a:r>
            <a:r>
              <a:rPr lang="en-US" dirty="0"/>
              <a:t> refers to data organized in a table with rows and columns. Each column represents a variable, and each row represents a record.</a:t>
            </a:r>
          </a:p>
          <a:p>
            <a:pPr algn="just">
              <a:buFont typeface="+mj-lt"/>
              <a:buAutoNum type="arabicPeriod"/>
            </a:pPr>
            <a:r>
              <a:rPr lang="en-US" b="1" dirty="0"/>
              <a:t>Examples:</a:t>
            </a:r>
            <a:endParaRPr lang="en-US" dirty="0"/>
          </a:p>
          <a:p>
            <a:pPr marL="742950" lvl="1" indent="-285750" algn="just">
              <a:buFont typeface="+mj-lt"/>
              <a:buAutoNum type="arabicPeriod"/>
            </a:pPr>
            <a:r>
              <a:rPr lang="en-US" b="1" dirty="0"/>
              <a:t>Spreadsheets:</a:t>
            </a:r>
            <a:r>
              <a:rPr lang="en-US" dirty="0"/>
              <a:t> Excel, Google Sheets</a:t>
            </a:r>
          </a:p>
          <a:p>
            <a:pPr marL="742950" lvl="1" indent="-285750" algn="just">
              <a:buFont typeface="+mj-lt"/>
              <a:buAutoNum type="arabicPeriod"/>
            </a:pPr>
            <a:r>
              <a:rPr lang="en-US" b="1" dirty="0"/>
              <a:t>Databases:</a:t>
            </a:r>
            <a:r>
              <a:rPr lang="en-US" dirty="0"/>
              <a:t> SQL tables</a:t>
            </a:r>
          </a:p>
          <a:p>
            <a:pPr marL="742950" lvl="1" indent="-285750" algn="just">
              <a:buFont typeface="+mj-lt"/>
              <a:buAutoNum type="arabicPeriod"/>
            </a:pPr>
            <a:r>
              <a:rPr lang="en-US" b="1" dirty="0"/>
              <a:t>Data Frames:</a:t>
            </a:r>
            <a:r>
              <a:rPr lang="en-US" dirty="0"/>
              <a:t> Used in programming languages like R and Python (Pandas)</a:t>
            </a:r>
          </a:p>
          <a:p>
            <a:pPr algn="just">
              <a:buFont typeface="+mj-lt"/>
              <a:buAutoNum type="arabicPeriod"/>
            </a:pPr>
            <a:r>
              <a:rPr lang="en-US" b="1" dirty="0"/>
              <a:t>Characteristics:</a:t>
            </a:r>
            <a:endParaRPr lang="en-US" dirty="0"/>
          </a:p>
          <a:p>
            <a:pPr marL="742950" lvl="1" indent="-285750" algn="just">
              <a:buFont typeface="+mj-lt"/>
              <a:buAutoNum type="arabicPeriod"/>
            </a:pPr>
            <a:r>
              <a:rPr lang="en-US" b="1" dirty="0"/>
              <a:t>Homogeneous Columns:</a:t>
            </a:r>
            <a:r>
              <a:rPr lang="en-US" dirty="0"/>
              <a:t> Each column contains data of the same type.</a:t>
            </a:r>
          </a:p>
          <a:p>
            <a:pPr marL="742950" lvl="1" indent="-285750" algn="just">
              <a:buFont typeface="+mj-lt"/>
              <a:buAutoNum type="arabicPeriod"/>
            </a:pPr>
            <a:r>
              <a:rPr lang="en-US" b="1" dirty="0"/>
              <a:t>Fixed Number of Columns:</a:t>
            </a:r>
            <a:r>
              <a:rPr lang="en-US" dirty="0"/>
              <a:t> The number of columns is defined by the schema.</a:t>
            </a:r>
          </a:p>
          <a:p>
            <a:pPr marL="742950" lvl="1" indent="-285750" algn="just">
              <a:buFont typeface="+mj-lt"/>
              <a:buAutoNum type="arabicPeriod"/>
            </a:pPr>
            <a:r>
              <a:rPr lang="en-US" b="1" dirty="0"/>
              <a:t>Variable Number of Rows:</a:t>
            </a:r>
            <a:r>
              <a:rPr lang="en-US" dirty="0"/>
              <a:t> The number of rows can vary as records are added or removed.</a:t>
            </a:r>
          </a:p>
        </p:txBody>
      </p:sp>
    </p:spTree>
    <p:extLst>
      <p:ext uri="{BB962C8B-B14F-4D97-AF65-F5344CB8AC3E}">
        <p14:creationId xmlns:p14="http://schemas.microsoft.com/office/powerpoint/2010/main" val="2710068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Data Frames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fontScale="92500" lnSpcReduction="20000"/>
          </a:bodyPr>
          <a:lstStyle/>
          <a:p>
            <a:pPr algn="just"/>
            <a:r>
              <a:rPr lang="en-US" b="1" dirty="0"/>
              <a:t>Data Frames</a:t>
            </a:r>
            <a:r>
              <a:rPr lang="en-US" dirty="0"/>
              <a:t> are two-dimensional, size-mutable, and potentially heterogeneous tabular data structures with labeled axes (rows and columns). They are widely used in data manipulation and analysis.</a:t>
            </a:r>
          </a:p>
          <a:p>
            <a:pPr algn="just">
              <a:buFont typeface="+mj-lt"/>
              <a:buAutoNum type="arabicPeriod"/>
            </a:pPr>
            <a:r>
              <a:rPr lang="en-US" b="1" dirty="0"/>
              <a:t>Key Features:</a:t>
            </a:r>
            <a:endParaRPr lang="en-US" dirty="0"/>
          </a:p>
          <a:p>
            <a:pPr marL="742950" lvl="1" indent="-285750" algn="just">
              <a:buFont typeface="+mj-lt"/>
              <a:buAutoNum type="arabicPeriod"/>
            </a:pPr>
            <a:r>
              <a:rPr lang="en-US" b="1" dirty="0"/>
              <a:t>Labeled Axes:</a:t>
            </a:r>
            <a:r>
              <a:rPr lang="en-US" dirty="0"/>
              <a:t> Both rows and columns are labeled.</a:t>
            </a:r>
          </a:p>
          <a:p>
            <a:pPr marL="742950" lvl="1" indent="-285750" algn="just">
              <a:buFont typeface="+mj-lt"/>
              <a:buAutoNum type="arabicPeriod"/>
            </a:pPr>
            <a:r>
              <a:rPr lang="en-US" b="1" dirty="0"/>
              <a:t>Heterogeneous Data:</a:t>
            </a:r>
            <a:r>
              <a:rPr lang="en-US" dirty="0"/>
              <a:t> Columns can contain different types of data (numerical, categorical, etc.).</a:t>
            </a:r>
          </a:p>
          <a:p>
            <a:pPr marL="742950" lvl="1" indent="-285750" algn="just">
              <a:buFont typeface="+mj-lt"/>
              <a:buAutoNum type="arabicPeriod"/>
            </a:pPr>
            <a:r>
              <a:rPr lang="en-US" b="1" dirty="0"/>
              <a:t>Size-Mutable:</a:t>
            </a:r>
            <a:r>
              <a:rPr lang="en-US" dirty="0"/>
              <a:t> Rows and columns can be added or removed.</a:t>
            </a:r>
          </a:p>
          <a:p>
            <a:pPr algn="just">
              <a:buFont typeface="+mj-lt"/>
              <a:buAutoNum type="arabicPeriod"/>
            </a:pPr>
            <a:r>
              <a:rPr lang="en-US" b="1" dirty="0"/>
              <a:t>Common Operations:</a:t>
            </a:r>
            <a:endParaRPr lang="en-US" dirty="0"/>
          </a:p>
          <a:p>
            <a:pPr marL="742950" lvl="1" indent="-285750" algn="just">
              <a:buFont typeface="+mj-lt"/>
              <a:buAutoNum type="arabicPeriod"/>
            </a:pPr>
            <a:r>
              <a:rPr lang="en-US" b="1" dirty="0"/>
              <a:t>Indexing:</a:t>
            </a:r>
            <a:r>
              <a:rPr lang="en-US" dirty="0"/>
              <a:t> Accessing specific rows or columns using labels or positions.</a:t>
            </a:r>
          </a:p>
          <a:p>
            <a:pPr marL="742950" lvl="1" indent="-285750" algn="just">
              <a:buFont typeface="+mj-lt"/>
              <a:buAutoNum type="arabicPeriod"/>
            </a:pPr>
            <a:r>
              <a:rPr lang="en-US" b="1" dirty="0"/>
              <a:t>Filtering:</a:t>
            </a:r>
            <a:r>
              <a:rPr lang="en-US" dirty="0"/>
              <a:t> </a:t>
            </a:r>
            <a:r>
              <a:rPr lang="en-US" dirty="0" err="1"/>
              <a:t>Subsetting</a:t>
            </a:r>
            <a:r>
              <a:rPr lang="en-US" dirty="0"/>
              <a:t> the data based on conditions.</a:t>
            </a:r>
          </a:p>
          <a:p>
            <a:pPr marL="742950" lvl="1" indent="-285750" algn="just">
              <a:buFont typeface="+mj-lt"/>
              <a:buAutoNum type="arabicPeriod"/>
            </a:pPr>
            <a:r>
              <a:rPr lang="en-US" b="1" dirty="0"/>
              <a:t>Aggregation:</a:t>
            </a:r>
            <a:r>
              <a:rPr lang="en-US" dirty="0"/>
              <a:t> Summarizing data using functions like sum, mean, count, etc.</a:t>
            </a:r>
          </a:p>
          <a:p>
            <a:pPr marL="742950" lvl="1" indent="-285750" algn="just">
              <a:buFont typeface="+mj-lt"/>
              <a:buAutoNum type="arabicPeriod"/>
            </a:pPr>
            <a:r>
              <a:rPr lang="en-US" b="1" dirty="0"/>
              <a:t>Merging:</a:t>
            </a:r>
            <a:r>
              <a:rPr lang="en-US" dirty="0"/>
              <a:t> Combining multiple data frames.</a:t>
            </a:r>
          </a:p>
        </p:txBody>
      </p:sp>
    </p:spTree>
    <p:extLst>
      <p:ext uri="{BB962C8B-B14F-4D97-AF65-F5344CB8AC3E}">
        <p14:creationId xmlns:p14="http://schemas.microsoft.com/office/powerpoint/2010/main" val="3121392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Indexes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fontScale="92500" lnSpcReduction="20000"/>
          </a:bodyPr>
          <a:lstStyle/>
          <a:p>
            <a:pPr algn="just"/>
            <a:r>
              <a:rPr lang="en-US" b="1" dirty="0"/>
              <a:t>Indexes</a:t>
            </a:r>
            <a:r>
              <a:rPr lang="en-US" dirty="0"/>
              <a:t> are data structures that improve the speed of data retrieval operations on a data frame or database table. They allow quick lookup of rows based on column values.</a:t>
            </a:r>
          </a:p>
          <a:p>
            <a:pPr algn="just">
              <a:buFont typeface="+mj-lt"/>
              <a:buAutoNum type="arabicPeriod"/>
            </a:pPr>
            <a:r>
              <a:rPr lang="en-US" b="1" dirty="0"/>
              <a:t>Types of Indexes:</a:t>
            </a:r>
            <a:endParaRPr lang="en-US" dirty="0"/>
          </a:p>
          <a:p>
            <a:pPr marL="742950" lvl="1" indent="-285750" algn="just">
              <a:buFont typeface="+mj-lt"/>
              <a:buAutoNum type="arabicPeriod"/>
            </a:pPr>
            <a:r>
              <a:rPr lang="en-US" b="1" dirty="0"/>
              <a:t>Primary Index:</a:t>
            </a:r>
            <a:r>
              <a:rPr lang="en-US" dirty="0"/>
              <a:t> Unique identifier for each row (e.g., primary key in SQL).</a:t>
            </a:r>
          </a:p>
          <a:p>
            <a:pPr marL="742950" lvl="1" indent="-285750" algn="just">
              <a:buFont typeface="+mj-lt"/>
              <a:buAutoNum type="arabicPeriod"/>
            </a:pPr>
            <a:r>
              <a:rPr lang="en-US" b="1" dirty="0"/>
              <a:t>Secondary Index:</a:t>
            </a:r>
            <a:r>
              <a:rPr lang="en-US" dirty="0"/>
              <a:t> Additional indexes on other columns to speed up queries.</a:t>
            </a:r>
          </a:p>
          <a:p>
            <a:pPr algn="just">
              <a:buFont typeface="+mj-lt"/>
              <a:buAutoNum type="arabicPeriod"/>
            </a:pPr>
            <a:r>
              <a:rPr lang="en-US" b="1" dirty="0"/>
              <a:t>Benefits:</a:t>
            </a:r>
            <a:endParaRPr lang="en-US" dirty="0"/>
          </a:p>
          <a:p>
            <a:pPr marL="742950" lvl="1" indent="-285750" algn="just">
              <a:buFont typeface="+mj-lt"/>
              <a:buAutoNum type="arabicPeriod"/>
            </a:pPr>
            <a:r>
              <a:rPr lang="en-US" b="1" dirty="0"/>
              <a:t>Faster Query Performance:</a:t>
            </a:r>
            <a:r>
              <a:rPr lang="en-US" dirty="0"/>
              <a:t> Significantly reduces the time to retrieve data.</a:t>
            </a:r>
          </a:p>
          <a:p>
            <a:pPr marL="742950" lvl="1" indent="-285750" algn="just">
              <a:buFont typeface="+mj-lt"/>
              <a:buAutoNum type="arabicPeriod"/>
            </a:pPr>
            <a:r>
              <a:rPr lang="en-US" b="1" dirty="0"/>
              <a:t>Efficient Sorting and Filtering:</a:t>
            </a:r>
            <a:r>
              <a:rPr lang="en-US" dirty="0"/>
              <a:t> Allows quick sorting and filtering of data.</a:t>
            </a:r>
          </a:p>
          <a:p>
            <a:pPr algn="just">
              <a:buFont typeface="+mj-lt"/>
              <a:buAutoNum type="arabicPeriod"/>
            </a:pPr>
            <a:r>
              <a:rPr lang="en-US" b="1" dirty="0"/>
              <a:t>Drawbacks:</a:t>
            </a:r>
            <a:endParaRPr lang="en-US" dirty="0"/>
          </a:p>
          <a:p>
            <a:pPr marL="742950" lvl="1" indent="-285750" algn="just">
              <a:buFont typeface="+mj-lt"/>
              <a:buAutoNum type="arabicPeriod"/>
            </a:pPr>
            <a:r>
              <a:rPr lang="en-US" b="1" dirty="0"/>
              <a:t>Storage Overhead:</a:t>
            </a:r>
            <a:r>
              <a:rPr lang="en-US" dirty="0"/>
              <a:t> Indexes require additional storage space.</a:t>
            </a:r>
          </a:p>
          <a:p>
            <a:pPr marL="742950" lvl="1" indent="-285750" algn="just">
              <a:buFont typeface="+mj-lt"/>
              <a:buAutoNum type="arabicPeriod"/>
            </a:pPr>
            <a:r>
              <a:rPr lang="en-US" b="1" dirty="0"/>
              <a:t>Update Overhead:</a:t>
            </a:r>
            <a:r>
              <a:rPr lang="en-US" dirty="0"/>
              <a:t> Maintaining indexes can slow down insert, update, and delete operations.</a:t>
            </a:r>
          </a:p>
        </p:txBody>
      </p:sp>
    </p:spTree>
    <p:extLst>
      <p:ext uri="{BB962C8B-B14F-4D97-AF65-F5344CB8AC3E}">
        <p14:creationId xmlns:p14="http://schemas.microsoft.com/office/powerpoint/2010/main" val="4109131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Nonrectangular Data Structures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Nonrectangular Data Structures</a:t>
            </a:r>
            <a:r>
              <a:rPr lang="en-US" dirty="0"/>
              <a:t> are data structures that do not fit neatly into a table with rows and columns. They are often used to represent more complex relationships and data formats.</a:t>
            </a:r>
          </a:p>
          <a:p>
            <a:pPr algn="just">
              <a:buFont typeface="+mj-lt"/>
              <a:buAutoNum type="arabicPeriod"/>
            </a:pPr>
            <a:r>
              <a:rPr lang="en-US" b="1" dirty="0"/>
              <a:t>Examples:</a:t>
            </a:r>
            <a:endParaRPr lang="en-US" dirty="0"/>
          </a:p>
          <a:p>
            <a:pPr marL="742950" lvl="1" indent="-285750" algn="just">
              <a:buFont typeface="+mj-lt"/>
              <a:buAutoNum type="arabicPeriod"/>
            </a:pPr>
            <a:r>
              <a:rPr lang="en-US" b="1" dirty="0"/>
              <a:t>Hierarchical Data:</a:t>
            </a:r>
            <a:r>
              <a:rPr lang="en-US" dirty="0"/>
              <a:t> Data organized in a tree-like structure (e.g., XML, JSON).</a:t>
            </a:r>
          </a:p>
          <a:p>
            <a:pPr marL="742950" lvl="1" indent="-285750" algn="just">
              <a:buFont typeface="+mj-lt"/>
              <a:buAutoNum type="arabicPeriod"/>
            </a:pPr>
            <a:r>
              <a:rPr lang="en-US" b="1" dirty="0"/>
              <a:t>Graph Data:</a:t>
            </a:r>
            <a:r>
              <a:rPr lang="en-US" dirty="0"/>
              <a:t> Data representing nodes and edges (e.g., social networks, road maps).</a:t>
            </a:r>
          </a:p>
          <a:p>
            <a:pPr marL="742950" lvl="1" indent="-285750" algn="just">
              <a:buFont typeface="+mj-lt"/>
              <a:buAutoNum type="arabicPeriod"/>
            </a:pPr>
            <a:r>
              <a:rPr lang="en-US" b="1" dirty="0"/>
              <a:t>Sparse Matrices:</a:t>
            </a:r>
            <a:r>
              <a:rPr lang="en-US" dirty="0"/>
              <a:t> Matrices with a large number of zero elements (e.g., term-document matrices).</a:t>
            </a:r>
          </a:p>
        </p:txBody>
      </p:sp>
    </p:spTree>
    <p:extLst>
      <p:ext uri="{BB962C8B-B14F-4D97-AF65-F5344CB8AC3E}">
        <p14:creationId xmlns:p14="http://schemas.microsoft.com/office/powerpoint/2010/main" val="3735561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Assignment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b="1" dirty="0"/>
              <a:t>Find a dataset online (e.g., from Kaggle) and load it into a data frame. Identify and describe the structure of the data (columns, data types, missing values, etc.).</a:t>
            </a:r>
            <a:endParaRPr lang="en-US" dirty="0"/>
          </a:p>
        </p:txBody>
      </p:sp>
    </p:spTree>
    <p:extLst>
      <p:ext uri="{BB962C8B-B14F-4D97-AF65-F5344CB8AC3E}">
        <p14:creationId xmlns:p14="http://schemas.microsoft.com/office/powerpoint/2010/main" val="5163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Measures of Central Tendency</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b="1" dirty="0"/>
              <a:t>Measures of central tendency</a:t>
            </a:r>
            <a:r>
              <a:rPr lang="en-US" dirty="0"/>
              <a:t> are statistical metrics that describe the center or typical value of a dataset. The most common measures are the mean and median, which summarize data with a single representative value. These measures are crucial for understanding the general behavior of data.</a:t>
            </a:r>
          </a:p>
        </p:txBody>
      </p:sp>
    </p:spTree>
    <p:extLst>
      <p:ext uri="{BB962C8B-B14F-4D97-AF65-F5344CB8AC3E}">
        <p14:creationId xmlns:p14="http://schemas.microsoft.com/office/powerpoint/2010/main" val="64256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Mean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The mean (or average)</a:t>
            </a:r>
            <a:r>
              <a:rPr lang="en-US" dirty="0"/>
              <a:t> is the sum of all values in a dataset divided by the number of values. It is one of the most common measures of central tendency.</a:t>
            </a:r>
          </a:p>
          <a:p>
            <a:pPr algn="just"/>
            <a:endParaRPr lang="en-US" dirty="0"/>
          </a:p>
        </p:txBody>
      </p:sp>
      <p:pic>
        <p:nvPicPr>
          <p:cNvPr id="5" name="Picture 4">
            <a:extLst>
              <a:ext uri="{FF2B5EF4-FFF2-40B4-BE49-F238E27FC236}">
                <a16:creationId xmlns:a16="http://schemas.microsoft.com/office/drawing/2014/main" id="{67815969-98F5-0F7C-CC19-49AB2F7B4046}"/>
              </a:ext>
            </a:extLst>
          </p:cNvPr>
          <p:cNvPicPr>
            <a:picLocks noChangeAspect="1"/>
          </p:cNvPicPr>
          <p:nvPr/>
        </p:nvPicPr>
        <p:blipFill>
          <a:blip r:embed="rId3"/>
          <a:stretch>
            <a:fillRect/>
          </a:stretch>
        </p:blipFill>
        <p:spPr>
          <a:xfrm>
            <a:off x="3484732" y="3117297"/>
            <a:ext cx="5222535" cy="3059666"/>
          </a:xfrm>
          <a:prstGeom prst="rect">
            <a:avLst/>
          </a:prstGeom>
        </p:spPr>
      </p:pic>
    </p:spTree>
    <p:extLst>
      <p:ext uri="{BB962C8B-B14F-4D97-AF65-F5344CB8AC3E}">
        <p14:creationId xmlns:p14="http://schemas.microsoft.com/office/powerpoint/2010/main" val="4248115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Median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The median</a:t>
            </a:r>
            <a:r>
              <a:rPr lang="en-US" dirty="0"/>
              <a:t> is the middle value of a dataset when it is ordered from smallest to largest. If the dataset has an even number of values, the median is the average of the two middle values.</a:t>
            </a:r>
          </a:p>
          <a:p>
            <a:pPr algn="just"/>
            <a:r>
              <a:rPr lang="en-US" b="1" dirty="0"/>
              <a:t>Finding the Median</a:t>
            </a:r>
          </a:p>
          <a:p>
            <a:pPr lvl="1" algn="just">
              <a:buFont typeface="+mj-lt"/>
              <a:buAutoNum type="arabicPeriod"/>
            </a:pPr>
            <a:r>
              <a:rPr lang="en-US" b="1" dirty="0"/>
              <a:t>Order the data</a:t>
            </a:r>
            <a:r>
              <a:rPr lang="en-US" dirty="0"/>
              <a:t> from smallest to largest.</a:t>
            </a:r>
          </a:p>
          <a:p>
            <a:pPr lvl="1" algn="just">
              <a:buFont typeface="+mj-lt"/>
              <a:buAutoNum type="arabicPeriod"/>
            </a:pPr>
            <a:r>
              <a:rPr lang="en-US" b="1" dirty="0"/>
              <a:t>Identify the middle value.</a:t>
            </a:r>
            <a:endParaRPr lang="en-US" dirty="0"/>
          </a:p>
          <a:p>
            <a:pPr marL="1200150" lvl="2" indent="-285750" algn="just">
              <a:buFont typeface="+mj-lt"/>
              <a:buAutoNum type="arabicPeriod"/>
            </a:pPr>
            <a:r>
              <a:rPr lang="en-US" dirty="0"/>
              <a:t>For an odd number of values: The median is the middle value.</a:t>
            </a:r>
          </a:p>
          <a:p>
            <a:pPr marL="1200150" lvl="2" indent="-285750" algn="just">
              <a:buFont typeface="+mj-lt"/>
              <a:buAutoNum type="arabicPeriod"/>
            </a:pPr>
            <a:r>
              <a:rPr lang="en-US" dirty="0"/>
              <a:t>For an even number of values: The median is the average of the two middle values.</a:t>
            </a:r>
          </a:p>
        </p:txBody>
      </p:sp>
    </p:spTree>
    <p:extLst>
      <p:ext uri="{BB962C8B-B14F-4D97-AF65-F5344CB8AC3E}">
        <p14:creationId xmlns:p14="http://schemas.microsoft.com/office/powerpoint/2010/main" val="1109499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Mode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dirty="0"/>
              <a:t>The </a:t>
            </a:r>
            <a:r>
              <a:rPr lang="en-US" b="1" dirty="0"/>
              <a:t>mode</a:t>
            </a:r>
            <a:r>
              <a:rPr lang="en-US" dirty="0"/>
              <a:t> is the value that appears most frequently in a data set. A data set can have more than one mode if multiple values occur with the same highest frequency, and if no value repeats, the data set has no mode.</a:t>
            </a:r>
          </a:p>
        </p:txBody>
      </p:sp>
    </p:spTree>
    <p:extLst>
      <p:ext uri="{BB962C8B-B14F-4D97-AF65-F5344CB8AC3E}">
        <p14:creationId xmlns:p14="http://schemas.microsoft.com/office/powerpoint/2010/main" val="100957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Comparison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Mean</a:t>
            </a:r>
            <a:r>
              <a:rPr kumimoji="0" lang="en-US" altLang="en-US" sz="2800" b="0" i="0" u="none" strike="noStrike" cap="none" normalizeH="0" baseline="0" dirty="0">
                <a:ln>
                  <a:noFill/>
                </a:ln>
                <a:solidFill>
                  <a:schemeClr val="tx1"/>
                </a:solidFill>
                <a:effectLst/>
                <a:latin typeface="Arial" panose="020B0604020202020204" pitchFamily="34" charset="0"/>
              </a:rPr>
              <a:t>: Best used for data sets without outliers. Provides a general idea of the data set but can be skewed by extreme values.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Median</a:t>
            </a:r>
            <a:r>
              <a:rPr kumimoji="0" lang="en-US" altLang="en-US" sz="2800" b="0" i="0" u="none" strike="noStrike" cap="none" normalizeH="0" baseline="0" dirty="0">
                <a:ln>
                  <a:noFill/>
                </a:ln>
                <a:solidFill>
                  <a:schemeClr val="tx1"/>
                </a:solidFill>
                <a:effectLst/>
                <a:latin typeface="Arial" panose="020B0604020202020204" pitchFamily="34" charset="0"/>
              </a:rPr>
              <a:t>: Best used for skewed data sets or those with outliers. Gives a better representation of the data set's central tendency when outliers are present.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Mode</a:t>
            </a:r>
            <a:r>
              <a:rPr kumimoji="0" lang="en-US" altLang="en-US" sz="2800" b="0" i="0" u="none" strike="noStrike" cap="none" normalizeH="0" baseline="0" dirty="0">
                <a:ln>
                  <a:noFill/>
                </a:ln>
                <a:solidFill>
                  <a:schemeClr val="tx1"/>
                </a:solidFill>
                <a:effectLst/>
                <a:latin typeface="Arial" panose="020B0604020202020204" pitchFamily="34" charset="0"/>
              </a:rPr>
              <a:t>: Best used for categorical data or to identify the most common value. Provides insight into the frequency of specific values. </a:t>
            </a:r>
          </a:p>
        </p:txBody>
      </p:sp>
    </p:spTree>
    <p:extLst>
      <p:ext uri="{BB962C8B-B14F-4D97-AF65-F5344CB8AC3E}">
        <p14:creationId xmlns:p14="http://schemas.microsoft.com/office/powerpoint/2010/main" val="4240555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Robust Estimates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lang="en-US" b="1" dirty="0"/>
              <a:t>Robust estimates</a:t>
            </a:r>
            <a:r>
              <a:rPr lang="en-US" dirty="0"/>
              <a:t> are statistical measures that are resistant to outliers and provide a more reliable central tendency for skewed or non-normal distributions. Common robust estimates include the trimmed mean and the median absolute deviation (MAD).</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5264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Trimmed Mean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The trimmed mean</a:t>
            </a:r>
            <a:r>
              <a:rPr lang="en-US" dirty="0"/>
              <a:t> is calculated by removing a specified percentage of the smallest and largest values from the dataset before computing the mean. This reduces the influence of outliers.</a:t>
            </a:r>
          </a:p>
          <a:p>
            <a:pPr algn="just"/>
            <a:r>
              <a:rPr lang="en-US" b="1" dirty="0"/>
              <a:t>Example</a:t>
            </a:r>
          </a:p>
          <a:p>
            <a:pPr lvl="1" algn="just"/>
            <a:r>
              <a:rPr lang="en-US" dirty="0"/>
              <a:t>For the dataset: 1, 3, 5, 7, 9, 100</a:t>
            </a:r>
          </a:p>
          <a:p>
            <a:pPr lvl="1" algn="just"/>
            <a:r>
              <a:rPr lang="en-US" dirty="0"/>
              <a:t>With 20% trimming, remove 1 and 100.</a:t>
            </a:r>
          </a:p>
          <a:p>
            <a:pPr lvl="1" algn="just"/>
            <a:r>
              <a:rPr lang="en-US" dirty="0"/>
              <a:t>Remaining values: 3, 5, 7, 9</a:t>
            </a:r>
          </a:p>
          <a:p>
            <a:pPr lvl="1" algn="just"/>
            <a:r>
              <a:rPr lang="en-US" dirty="0"/>
              <a:t>Trimmed Mean=6</a:t>
            </a:r>
          </a:p>
        </p:txBody>
      </p:sp>
    </p:spTree>
    <p:extLst>
      <p:ext uri="{BB962C8B-B14F-4D97-AF65-F5344CB8AC3E}">
        <p14:creationId xmlns:p14="http://schemas.microsoft.com/office/powerpoint/2010/main" val="4080222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Median Absolute Deviation (MAD)</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MAD</a:t>
            </a:r>
            <a:r>
              <a:rPr lang="en-US" dirty="0"/>
              <a:t> measures the variability of a dataset by calculating the median of the absolute deviations from the dataset's median. It is a robust measure of variability.</a:t>
            </a:r>
          </a:p>
          <a:p>
            <a:pPr algn="just"/>
            <a:endParaRPr lang="en-US" dirty="0"/>
          </a:p>
        </p:txBody>
      </p:sp>
      <p:pic>
        <p:nvPicPr>
          <p:cNvPr id="5" name="Picture 4">
            <a:extLst>
              <a:ext uri="{FF2B5EF4-FFF2-40B4-BE49-F238E27FC236}">
                <a16:creationId xmlns:a16="http://schemas.microsoft.com/office/drawing/2014/main" id="{1CD98899-5E17-F7F2-3CA0-E6F73312F507}"/>
              </a:ext>
            </a:extLst>
          </p:cNvPr>
          <p:cNvPicPr>
            <a:picLocks noChangeAspect="1"/>
          </p:cNvPicPr>
          <p:nvPr/>
        </p:nvPicPr>
        <p:blipFill>
          <a:blip r:embed="rId3"/>
          <a:stretch>
            <a:fillRect/>
          </a:stretch>
        </p:blipFill>
        <p:spPr>
          <a:xfrm>
            <a:off x="3952611" y="3092221"/>
            <a:ext cx="4286778" cy="3084742"/>
          </a:xfrm>
          <a:prstGeom prst="rect">
            <a:avLst/>
          </a:prstGeom>
        </p:spPr>
      </p:pic>
    </p:spTree>
    <p:extLst>
      <p:ext uri="{BB962C8B-B14F-4D97-AF65-F5344CB8AC3E}">
        <p14:creationId xmlns:p14="http://schemas.microsoft.com/office/powerpoint/2010/main" val="3160111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Standard Deviation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Standard Deviation (SD)</a:t>
            </a:r>
            <a:r>
              <a:rPr lang="en-US" dirty="0"/>
              <a:t> measures the average distance of each data point from the mean. It quantifies the amount of variation or dispersion in a dataset.</a:t>
            </a:r>
          </a:p>
        </p:txBody>
      </p:sp>
      <p:grpSp>
        <p:nvGrpSpPr>
          <p:cNvPr id="8" name="Group 7">
            <a:extLst>
              <a:ext uri="{FF2B5EF4-FFF2-40B4-BE49-F238E27FC236}">
                <a16:creationId xmlns:a16="http://schemas.microsoft.com/office/drawing/2014/main" id="{591245F2-849E-B630-184D-BC3F00AFBDAE}"/>
              </a:ext>
            </a:extLst>
          </p:cNvPr>
          <p:cNvGrpSpPr/>
          <p:nvPr/>
        </p:nvGrpSpPr>
        <p:grpSpPr>
          <a:xfrm>
            <a:off x="2551477" y="3103337"/>
            <a:ext cx="7089046" cy="3073626"/>
            <a:chOff x="3420979" y="3110662"/>
            <a:chExt cx="7247901" cy="3142501"/>
          </a:xfrm>
        </p:grpSpPr>
        <p:pic>
          <p:nvPicPr>
            <p:cNvPr id="5" name="Picture 4">
              <a:extLst>
                <a:ext uri="{FF2B5EF4-FFF2-40B4-BE49-F238E27FC236}">
                  <a16:creationId xmlns:a16="http://schemas.microsoft.com/office/drawing/2014/main" id="{330227F8-5F7D-5255-EF01-89C8F6F3B01A}"/>
                </a:ext>
              </a:extLst>
            </p:cNvPr>
            <p:cNvPicPr>
              <a:picLocks noChangeAspect="1"/>
            </p:cNvPicPr>
            <p:nvPr/>
          </p:nvPicPr>
          <p:blipFill>
            <a:blip r:embed="rId3"/>
            <a:stretch>
              <a:fillRect/>
            </a:stretch>
          </p:blipFill>
          <p:spPr>
            <a:xfrm>
              <a:off x="3420979" y="3110662"/>
              <a:ext cx="2675021" cy="3142501"/>
            </a:xfrm>
            <a:prstGeom prst="rect">
              <a:avLst/>
            </a:prstGeom>
          </p:spPr>
        </p:pic>
        <p:pic>
          <p:nvPicPr>
            <p:cNvPr id="7" name="Picture 6">
              <a:extLst>
                <a:ext uri="{FF2B5EF4-FFF2-40B4-BE49-F238E27FC236}">
                  <a16:creationId xmlns:a16="http://schemas.microsoft.com/office/drawing/2014/main" id="{BE1F6205-780E-4A97-A6F4-1927BF5E204F}"/>
                </a:ext>
              </a:extLst>
            </p:cNvPr>
            <p:cNvPicPr>
              <a:picLocks noChangeAspect="1"/>
            </p:cNvPicPr>
            <p:nvPr/>
          </p:nvPicPr>
          <p:blipFill>
            <a:blip r:embed="rId4"/>
            <a:stretch>
              <a:fillRect/>
            </a:stretch>
          </p:blipFill>
          <p:spPr>
            <a:xfrm>
              <a:off x="6096000" y="3110662"/>
              <a:ext cx="4572880" cy="3142501"/>
            </a:xfrm>
            <a:prstGeom prst="rect">
              <a:avLst/>
            </a:prstGeom>
          </p:spPr>
        </p:pic>
      </p:grpSp>
    </p:spTree>
    <p:extLst>
      <p:ext uri="{BB962C8B-B14F-4D97-AF65-F5344CB8AC3E}">
        <p14:creationId xmlns:p14="http://schemas.microsoft.com/office/powerpoint/2010/main" val="4171903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dirty="0"/>
              <a:t>For the dataset: 2, 4, 4, 4, 5, 5, 7, 9</a:t>
            </a:r>
          </a:p>
        </p:txBody>
      </p:sp>
      <p:pic>
        <p:nvPicPr>
          <p:cNvPr id="6" name="Picture 5">
            <a:extLst>
              <a:ext uri="{FF2B5EF4-FFF2-40B4-BE49-F238E27FC236}">
                <a16:creationId xmlns:a16="http://schemas.microsoft.com/office/drawing/2014/main" id="{286132D4-B0B0-B073-A8B0-86B85CDDB374}"/>
              </a:ext>
            </a:extLst>
          </p:cNvPr>
          <p:cNvPicPr>
            <a:picLocks noChangeAspect="1"/>
          </p:cNvPicPr>
          <p:nvPr/>
        </p:nvPicPr>
        <p:blipFill>
          <a:blip r:embed="rId3"/>
          <a:stretch>
            <a:fillRect/>
          </a:stretch>
        </p:blipFill>
        <p:spPr>
          <a:xfrm>
            <a:off x="1015950" y="2336093"/>
            <a:ext cx="10160100" cy="3840870"/>
          </a:xfrm>
          <a:prstGeom prst="rect">
            <a:avLst/>
          </a:prstGeom>
        </p:spPr>
      </p:pic>
    </p:spTree>
    <p:extLst>
      <p:ext uri="{BB962C8B-B14F-4D97-AF65-F5344CB8AC3E}">
        <p14:creationId xmlns:p14="http://schemas.microsoft.com/office/powerpoint/2010/main" val="3398399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Variance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US" b="1" dirty="0"/>
              <a:t>Variance</a:t>
            </a:r>
            <a:r>
              <a:rPr lang="en-US" dirty="0"/>
              <a:t> is the average of the squared deviations from the mean. It provides a measure of how much the data points differ from the mean.</a:t>
            </a:r>
          </a:p>
        </p:txBody>
      </p:sp>
      <p:grpSp>
        <p:nvGrpSpPr>
          <p:cNvPr id="9" name="Group 8">
            <a:extLst>
              <a:ext uri="{FF2B5EF4-FFF2-40B4-BE49-F238E27FC236}">
                <a16:creationId xmlns:a16="http://schemas.microsoft.com/office/drawing/2014/main" id="{8DBA75C3-9AE6-F000-1019-46F2E23CF631}"/>
              </a:ext>
            </a:extLst>
          </p:cNvPr>
          <p:cNvGrpSpPr/>
          <p:nvPr/>
        </p:nvGrpSpPr>
        <p:grpSpPr>
          <a:xfrm>
            <a:off x="463838" y="3647764"/>
            <a:ext cx="11264323" cy="2845111"/>
            <a:chOff x="501369" y="3651146"/>
            <a:chExt cx="11264323" cy="2845111"/>
          </a:xfrm>
        </p:grpSpPr>
        <p:pic>
          <p:nvPicPr>
            <p:cNvPr id="5" name="Picture 4">
              <a:extLst>
                <a:ext uri="{FF2B5EF4-FFF2-40B4-BE49-F238E27FC236}">
                  <a16:creationId xmlns:a16="http://schemas.microsoft.com/office/drawing/2014/main" id="{DD3A688E-0EB2-C087-A005-89E6CFCDEFB9}"/>
                </a:ext>
              </a:extLst>
            </p:cNvPr>
            <p:cNvPicPr>
              <a:picLocks noChangeAspect="1"/>
            </p:cNvPicPr>
            <p:nvPr/>
          </p:nvPicPr>
          <p:blipFill>
            <a:blip r:embed="rId3"/>
            <a:stretch>
              <a:fillRect/>
            </a:stretch>
          </p:blipFill>
          <p:spPr>
            <a:xfrm>
              <a:off x="501369" y="3651146"/>
              <a:ext cx="2180496" cy="2841729"/>
            </a:xfrm>
            <a:prstGeom prst="rect">
              <a:avLst/>
            </a:prstGeom>
          </p:spPr>
        </p:pic>
        <p:pic>
          <p:nvPicPr>
            <p:cNvPr id="8" name="Picture 7">
              <a:extLst>
                <a:ext uri="{FF2B5EF4-FFF2-40B4-BE49-F238E27FC236}">
                  <a16:creationId xmlns:a16="http://schemas.microsoft.com/office/drawing/2014/main" id="{BBD38EDA-9AD3-F3CF-152E-85BC084419D4}"/>
                </a:ext>
              </a:extLst>
            </p:cNvPr>
            <p:cNvPicPr>
              <a:picLocks noChangeAspect="1"/>
            </p:cNvPicPr>
            <p:nvPr/>
          </p:nvPicPr>
          <p:blipFill>
            <a:blip r:embed="rId4"/>
            <a:stretch>
              <a:fillRect/>
            </a:stretch>
          </p:blipFill>
          <p:spPr>
            <a:xfrm>
              <a:off x="2681865" y="3653751"/>
              <a:ext cx="9083827" cy="2842506"/>
            </a:xfrm>
            <a:prstGeom prst="rect">
              <a:avLst/>
            </a:prstGeom>
          </p:spPr>
        </p:pic>
      </p:grpSp>
    </p:spTree>
    <p:extLst>
      <p:ext uri="{BB962C8B-B14F-4D97-AF65-F5344CB8AC3E}">
        <p14:creationId xmlns:p14="http://schemas.microsoft.com/office/powerpoint/2010/main" val="4275783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Coefficient of Variation (CV)</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algn="just"/>
            <a:r>
              <a:rPr lang="en-IN" b="1" dirty="0"/>
              <a:t>Coefficient of Variation (CV)</a:t>
            </a:r>
            <a:r>
              <a:rPr lang="en-IN" dirty="0"/>
              <a:t> is the ratio of the standard deviation to the mean, expressed as a percentage. It measures relative variability.</a:t>
            </a:r>
          </a:p>
        </p:txBody>
      </p:sp>
      <p:pic>
        <p:nvPicPr>
          <p:cNvPr id="5" name="Picture 4">
            <a:extLst>
              <a:ext uri="{FF2B5EF4-FFF2-40B4-BE49-F238E27FC236}">
                <a16:creationId xmlns:a16="http://schemas.microsoft.com/office/drawing/2014/main" id="{1C2B5B7D-FA52-594E-EBBA-1FA046352D87}"/>
              </a:ext>
            </a:extLst>
          </p:cNvPr>
          <p:cNvPicPr>
            <a:picLocks noChangeAspect="1"/>
          </p:cNvPicPr>
          <p:nvPr/>
        </p:nvPicPr>
        <p:blipFill>
          <a:blip r:embed="rId3"/>
          <a:stretch>
            <a:fillRect/>
          </a:stretch>
        </p:blipFill>
        <p:spPr>
          <a:xfrm>
            <a:off x="3858780" y="2763086"/>
            <a:ext cx="4474440" cy="3729789"/>
          </a:xfrm>
          <a:prstGeom prst="rect">
            <a:avLst/>
          </a:prstGeom>
        </p:spPr>
      </p:pic>
    </p:spTree>
    <p:extLst>
      <p:ext uri="{BB962C8B-B14F-4D97-AF65-F5344CB8AC3E}">
        <p14:creationId xmlns:p14="http://schemas.microsoft.com/office/powerpoint/2010/main" val="2633698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Percentiles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b="1" dirty="0"/>
              <a:t>Percentiles</a:t>
            </a:r>
            <a:r>
              <a:rPr lang="en-US" dirty="0"/>
              <a:t> are measures that divide a dataset into 100 equal parts. Each percentile represents the value below which a given percentage of observations in a dataset fall. Percentiles are used to understand the distribution of data and identify outliers.</a:t>
            </a:r>
          </a:p>
        </p:txBody>
      </p:sp>
    </p:spTree>
    <p:extLst>
      <p:ext uri="{BB962C8B-B14F-4D97-AF65-F5344CB8AC3E}">
        <p14:creationId xmlns:p14="http://schemas.microsoft.com/office/powerpoint/2010/main" val="551993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Percentiles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Percentile Rank (p):</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 value below which a given percentage of observations fall. For example, the 25th percentile is the value below which 25% of the observations may be found.</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Quartiles:</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Special types of percentiles that divide the data into four equal parts:</a:t>
            </a:r>
          </a:p>
          <a:p>
            <a:pPr marL="457200" lvl="1" indent="0" algn="just" eaLnBrk="0" fontAlgn="base" hangingPunct="0">
              <a:lnSpc>
                <a:spcPct val="100000"/>
              </a:lnSpc>
              <a:spcBef>
                <a:spcPct val="0"/>
              </a:spcBef>
              <a:spcAft>
                <a:spcPct val="0"/>
              </a:spcAft>
              <a:buFontTx/>
              <a:buChar char="•"/>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Q1 (First Quartile):</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25th percentile</a:t>
            </a:r>
          </a:p>
          <a:p>
            <a:pPr marL="457200" lvl="1" indent="0" algn="just" eaLnBrk="0" fontAlgn="base" hangingPunct="0">
              <a:lnSpc>
                <a:spcPct val="100000"/>
              </a:lnSpc>
              <a:spcBef>
                <a:spcPct val="0"/>
              </a:spcBef>
              <a:spcAft>
                <a:spcPct val="0"/>
              </a:spcAft>
              <a:buFontTx/>
              <a:buChar char="•"/>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Q2 (Second Quartile, Median):</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50th percentile</a:t>
            </a:r>
          </a:p>
          <a:p>
            <a:pPr marL="457200" lvl="1" indent="0" algn="just" eaLnBrk="0" fontAlgn="base" hangingPunct="0">
              <a:lnSpc>
                <a:spcPct val="100000"/>
              </a:lnSpc>
              <a:spcBef>
                <a:spcPct val="0"/>
              </a:spcBef>
              <a:spcAft>
                <a:spcPct val="0"/>
              </a:spcAft>
              <a:buFontTx/>
              <a:buChar char="•"/>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Q3 (Third Quartile):</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75th percentile</a:t>
            </a:r>
          </a:p>
          <a:p>
            <a:pPr marL="457200" lvl="1" indent="0" algn="just" eaLnBrk="0" fontAlgn="base" hangingPunct="0">
              <a:lnSpc>
                <a:spcPct val="100000"/>
              </a:lnSpc>
              <a:spcBef>
                <a:spcPct val="0"/>
              </a:spcBef>
              <a:spcAft>
                <a:spcPct val="0"/>
              </a:spcAft>
              <a:buFontTx/>
              <a:buChar char="•"/>
              <a:defRPr/>
            </a:pPr>
            <a:endPar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Interquartile Range (IQR):</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The range between the first quartile (Q1) and the third quartile (Q3). </a:t>
            </a:r>
          </a:p>
          <a:p>
            <a:pPr marL="457200" lvl="1" indent="0" algn="just" eaLnBrk="0" fontAlgn="base" hangingPunct="0">
              <a:lnSpc>
                <a:spcPct val="100000"/>
              </a:lnSpc>
              <a:spcBef>
                <a:spcPct val="0"/>
              </a:spcBef>
              <a:spcAft>
                <a:spcPct val="0"/>
              </a:spcAft>
              <a:buFontTx/>
              <a:buChar char="•"/>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IQR=Q3−Q1 </a:t>
            </a:r>
          </a:p>
        </p:txBody>
      </p:sp>
    </p:spTree>
    <p:extLst>
      <p:ext uri="{BB962C8B-B14F-4D97-AF65-F5344CB8AC3E}">
        <p14:creationId xmlns:p14="http://schemas.microsoft.com/office/powerpoint/2010/main" val="1188475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Calculating Percentiles</a:t>
            </a:r>
          </a:p>
        </p:txBody>
      </p:sp>
      <p:pic>
        <p:nvPicPr>
          <p:cNvPr id="21" name="Picture 20">
            <a:extLst>
              <a:ext uri="{FF2B5EF4-FFF2-40B4-BE49-F238E27FC236}">
                <a16:creationId xmlns:a16="http://schemas.microsoft.com/office/drawing/2014/main" id="{2577DAD3-7319-C127-6110-AA208AE3598F}"/>
              </a:ext>
            </a:extLst>
          </p:cNvPr>
          <p:cNvPicPr>
            <a:picLocks noChangeAspect="1"/>
          </p:cNvPicPr>
          <p:nvPr/>
        </p:nvPicPr>
        <p:blipFill>
          <a:blip r:embed="rId3"/>
          <a:stretch>
            <a:fillRect/>
          </a:stretch>
        </p:blipFill>
        <p:spPr>
          <a:xfrm>
            <a:off x="2933426" y="1409527"/>
            <a:ext cx="6325148" cy="1760373"/>
          </a:xfrm>
          <a:prstGeom prst="rect">
            <a:avLst/>
          </a:prstGeom>
        </p:spPr>
      </p:pic>
      <p:grpSp>
        <p:nvGrpSpPr>
          <p:cNvPr id="24" name="Group 23">
            <a:extLst>
              <a:ext uri="{FF2B5EF4-FFF2-40B4-BE49-F238E27FC236}">
                <a16:creationId xmlns:a16="http://schemas.microsoft.com/office/drawing/2014/main" id="{C90E5059-5B26-C0DA-1831-F6726C09CD84}"/>
              </a:ext>
            </a:extLst>
          </p:cNvPr>
          <p:cNvGrpSpPr/>
          <p:nvPr/>
        </p:nvGrpSpPr>
        <p:grpSpPr>
          <a:xfrm>
            <a:off x="1469459" y="3169900"/>
            <a:ext cx="9253081" cy="2400508"/>
            <a:chOff x="1209557" y="2788279"/>
            <a:chExt cx="9253081" cy="2400508"/>
          </a:xfrm>
        </p:grpSpPr>
        <p:pic>
          <p:nvPicPr>
            <p:cNvPr id="20" name="Content Placeholder 18">
              <a:extLst>
                <a:ext uri="{FF2B5EF4-FFF2-40B4-BE49-F238E27FC236}">
                  <a16:creationId xmlns:a16="http://schemas.microsoft.com/office/drawing/2014/main" id="{CA4405E7-301F-B32C-B184-0DF6FA30B1AC}"/>
                </a:ext>
              </a:extLst>
            </p:cNvPr>
            <p:cNvPicPr>
              <a:picLocks noChangeAspect="1"/>
            </p:cNvPicPr>
            <p:nvPr/>
          </p:nvPicPr>
          <p:blipFill>
            <a:blip r:embed="rId4"/>
            <a:stretch>
              <a:fillRect/>
            </a:stretch>
          </p:blipFill>
          <p:spPr>
            <a:xfrm>
              <a:off x="6096000" y="2788279"/>
              <a:ext cx="4366638" cy="2400508"/>
            </a:xfrm>
            <a:prstGeom prst="rect">
              <a:avLst/>
            </a:prstGeom>
          </p:spPr>
        </p:pic>
        <p:pic>
          <p:nvPicPr>
            <p:cNvPr id="22" name="Picture 21">
              <a:extLst>
                <a:ext uri="{FF2B5EF4-FFF2-40B4-BE49-F238E27FC236}">
                  <a16:creationId xmlns:a16="http://schemas.microsoft.com/office/drawing/2014/main" id="{95FB608D-77A4-39FD-D8E6-978747C01C52}"/>
                </a:ext>
              </a:extLst>
            </p:cNvPr>
            <p:cNvPicPr>
              <a:picLocks noChangeAspect="1"/>
            </p:cNvPicPr>
            <p:nvPr/>
          </p:nvPicPr>
          <p:blipFill>
            <a:blip r:embed="rId5"/>
            <a:stretch>
              <a:fillRect/>
            </a:stretch>
          </p:blipFill>
          <p:spPr>
            <a:xfrm>
              <a:off x="1209557" y="2788279"/>
              <a:ext cx="4886443" cy="2400508"/>
            </a:xfrm>
            <a:prstGeom prst="rect">
              <a:avLst/>
            </a:prstGeom>
          </p:spPr>
        </p:pic>
      </p:grpSp>
      <p:pic>
        <p:nvPicPr>
          <p:cNvPr id="23" name="Picture 22">
            <a:extLst>
              <a:ext uri="{FF2B5EF4-FFF2-40B4-BE49-F238E27FC236}">
                <a16:creationId xmlns:a16="http://schemas.microsoft.com/office/drawing/2014/main" id="{C900B7CE-A1F3-E9BD-261B-D46F86BFE1A7}"/>
              </a:ext>
            </a:extLst>
          </p:cNvPr>
          <p:cNvPicPr>
            <a:picLocks noChangeAspect="1"/>
          </p:cNvPicPr>
          <p:nvPr/>
        </p:nvPicPr>
        <p:blipFill>
          <a:blip r:embed="rId6"/>
          <a:stretch>
            <a:fillRect/>
          </a:stretch>
        </p:blipFill>
        <p:spPr>
          <a:xfrm>
            <a:off x="4850022" y="5570408"/>
            <a:ext cx="2491956" cy="1120237"/>
          </a:xfrm>
          <a:prstGeom prst="rect">
            <a:avLst/>
          </a:prstGeom>
        </p:spPr>
      </p:pic>
    </p:spTree>
    <p:extLst>
      <p:ext uri="{BB962C8B-B14F-4D97-AF65-F5344CB8AC3E}">
        <p14:creationId xmlns:p14="http://schemas.microsoft.com/office/powerpoint/2010/main" val="976696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Assignment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lnSpc>
                <a:spcPct val="107000"/>
              </a:lnSpc>
              <a:spcAft>
                <a:spcPts val="800"/>
              </a:spcAft>
              <a:buSzPts val="1000"/>
              <a:buNone/>
              <a:tabLst>
                <a:tab pos="914400" algn="l"/>
              </a:tabLst>
            </a:pP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Calculate the mean, median, and standard deviation for numerical columns in your dataset. Compare the results and discuss any outliers or interesting findings.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1415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Boxplots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lnSpc>
                <a:spcPct val="107000"/>
              </a:lnSpc>
              <a:spcAft>
                <a:spcPts val="800"/>
              </a:spcAft>
              <a:buSzPts val="1000"/>
              <a:buNone/>
              <a:tabLst>
                <a:tab pos="914400" algn="l"/>
              </a:tabLst>
            </a:pPr>
            <a:r>
              <a:rPr lang="en-US" sz="3200" b="1" dirty="0"/>
              <a:t>Boxplots</a:t>
            </a:r>
            <a:r>
              <a:rPr lang="en-US" sz="3200" dirty="0"/>
              <a:t> (or box-and-whisker plots) are graphical representations of the distribution of a dataset that display the dataset’s five-number summary: minimum, first quartile (Q1), median (Q2), third quartile (Q3), and maximum.</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6407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Components of a Boxplot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Box:</a:t>
            </a:r>
            <a:r>
              <a:rPr kumimoji="0" lang="en-US" altLang="en-US" sz="2400" b="0" i="0" u="none" strike="noStrike" cap="none" normalizeH="0" baseline="0" dirty="0">
                <a:ln>
                  <a:noFill/>
                </a:ln>
                <a:solidFill>
                  <a:schemeClr val="tx1"/>
                </a:solidFill>
                <a:effectLst/>
              </a:rPr>
              <a:t> Represents the interquartile range (IQR), spanning from Q1 to Q3.</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Median Line:</a:t>
            </a:r>
            <a:r>
              <a:rPr kumimoji="0" lang="en-US" altLang="en-US" sz="2400" b="0" i="0" u="none" strike="noStrike" cap="none" normalizeH="0" baseline="0" dirty="0">
                <a:ln>
                  <a:noFill/>
                </a:ln>
                <a:solidFill>
                  <a:schemeClr val="tx1"/>
                </a:solidFill>
                <a:effectLst/>
              </a:rPr>
              <a:t> A line inside the box representing the median (Q2).</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Whiskers:</a:t>
            </a:r>
            <a:r>
              <a:rPr kumimoji="0" lang="en-US" altLang="en-US" sz="2400" b="0" i="0" u="none" strike="noStrike" cap="none" normalizeH="0" baseline="0" dirty="0">
                <a:ln>
                  <a:noFill/>
                </a:ln>
                <a:solidFill>
                  <a:schemeClr val="tx1"/>
                </a:solidFill>
                <a:effectLst/>
              </a:rPr>
              <a:t> Lines extending from the box to the smallest and largest values within 1.5 times the IQR from Q1 and Q3, respectively.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Outliers:</a:t>
            </a:r>
            <a:r>
              <a:rPr kumimoji="0" lang="en-US" altLang="en-US" sz="2400" b="0" i="0" u="none" strike="noStrike" cap="none" normalizeH="0" baseline="0" dirty="0">
                <a:ln>
                  <a:noFill/>
                </a:ln>
                <a:solidFill>
                  <a:schemeClr val="tx1"/>
                </a:solidFill>
                <a:effectLst/>
              </a:rPr>
              <a:t> Points outside the whiskers, indicating potential outliers. </a:t>
            </a:r>
          </a:p>
        </p:txBody>
      </p:sp>
    </p:spTree>
    <p:extLst>
      <p:ext uri="{BB962C8B-B14F-4D97-AF65-F5344CB8AC3E}">
        <p14:creationId xmlns:p14="http://schemas.microsoft.com/office/powerpoint/2010/main" val="1415464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Constructing a Boxplot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IN" dirty="0"/>
              <a:t>Calculate Q1(25</a:t>
            </a:r>
            <a:r>
              <a:rPr lang="en-IN" baseline="30000" dirty="0"/>
              <a:t>th</a:t>
            </a:r>
            <a:r>
              <a:rPr lang="en-IN" dirty="0"/>
              <a:t> Percentile), Median (Q2), and Q3(75</a:t>
            </a:r>
            <a:r>
              <a:rPr lang="en-IN" baseline="30000" dirty="0"/>
              <a:t>th</a:t>
            </a:r>
            <a:r>
              <a:rPr lang="en-IN" dirty="0"/>
              <a:t> Percentile)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IN"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IN" dirty="0"/>
              <a:t>Determine the IQR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IN"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IN" dirty="0"/>
              <a:t>Calculate the Whiskers</a:t>
            </a: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Lower whisker: Q1−1.5×IQR</a:t>
            </a:r>
          </a:p>
          <a:p>
            <a:pPr marL="457200" lvl="1" indent="0"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Upper whisker: Q3+1.5×IQR</a:t>
            </a:r>
          </a:p>
          <a:p>
            <a:pPr marL="457200" lvl="1" indent="0" eaLnBrk="0" fontAlgn="base" hangingPunct="0">
              <a:lnSpc>
                <a:spcPct val="100000"/>
              </a:lnSpc>
              <a:spcBef>
                <a:spcPct val="0"/>
              </a:spcBef>
              <a:spcAft>
                <a:spcPct val="0"/>
              </a:spcAft>
              <a:buFontTx/>
              <a:buChar char="•"/>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indent="0" eaLnBrk="0" fontAlgn="base" hangingPunct="0">
              <a:lnSpc>
                <a:spcPct val="100000"/>
              </a:lnSpc>
              <a:spcBef>
                <a:spcPct val="0"/>
              </a:spcBef>
              <a:spcAft>
                <a:spcPct val="0"/>
              </a:spcAft>
              <a:buFontTx/>
              <a:buChar char="•"/>
              <a:defRPr/>
            </a:pPr>
            <a:r>
              <a:rPr lang="en-IN" dirty="0"/>
              <a:t>Identify Outliers</a:t>
            </a:r>
          </a:p>
          <a:p>
            <a:pPr marL="457200" lvl="1" indent="0" eaLnBrk="0" fontAlgn="base" hangingPunct="0">
              <a:lnSpc>
                <a:spcPct val="100000"/>
              </a:lnSpc>
              <a:spcBef>
                <a:spcPct val="0"/>
              </a:spcBef>
              <a:spcAft>
                <a:spcPct val="0"/>
              </a:spcAft>
              <a:buFontTx/>
              <a:buChar char="•"/>
              <a:defRPr/>
            </a:pPr>
            <a:r>
              <a:rPr lang="en-US" dirty="0"/>
              <a:t>Data points beyond the whiskers.</a:t>
            </a:r>
            <a:endParaRPr lang="en-IN" dirty="0"/>
          </a:p>
          <a:p>
            <a:pPr marL="0" indent="0" eaLnBrk="0" fontAlgn="base" hangingPunct="0">
              <a:lnSpc>
                <a:spcPct val="100000"/>
              </a:lnSpc>
              <a:spcBef>
                <a:spcPct val="0"/>
              </a:spcBef>
              <a:spcAft>
                <a:spcPct val="0"/>
              </a:spcAft>
              <a:buFontTx/>
              <a:buChar char="•"/>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99634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Interpretation of Boxplots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Central Tendency:</a:t>
            </a:r>
            <a:r>
              <a:rPr kumimoji="0" lang="en-US" altLang="en-US" sz="2400" b="0" i="0" u="none" strike="noStrike" kern="1200" cap="none" spc="0" normalizeH="0" baseline="0" noProof="0" dirty="0">
                <a:ln>
                  <a:noFill/>
                </a:ln>
                <a:solidFill>
                  <a:prstClr val="white"/>
                </a:solidFill>
                <a:effectLst/>
                <a:uLnTx/>
                <a:uFillTx/>
                <a:ea typeface="+mn-ea"/>
                <a:cs typeface="+mn-cs"/>
              </a:rPr>
              <a:t> The median line inside the box shows the central value.</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Spread:</a:t>
            </a:r>
            <a:r>
              <a:rPr kumimoji="0" lang="en-US" altLang="en-US" sz="2400" b="0" i="0" u="none" strike="noStrike" kern="1200" cap="none" spc="0" normalizeH="0" baseline="0" noProof="0" dirty="0">
                <a:ln>
                  <a:noFill/>
                </a:ln>
                <a:solidFill>
                  <a:prstClr val="white"/>
                </a:solidFill>
                <a:effectLst/>
                <a:uLnTx/>
                <a:uFillTx/>
                <a:ea typeface="+mn-ea"/>
                <a:cs typeface="+mn-cs"/>
              </a:rPr>
              <a:t> The length of the box (IQR) indicates the spread of the middle 50% of the data.</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Symmetry:</a:t>
            </a:r>
            <a:r>
              <a:rPr kumimoji="0" lang="en-US" altLang="en-US" sz="2400" b="0" i="0" u="none" strike="noStrike" kern="1200" cap="none" spc="0" normalizeH="0" baseline="0" noProof="0" dirty="0">
                <a:ln>
                  <a:noFill/>
                </a:ln>
                <a:solidFill>
                  <a:prstClr val="white"/>
                </a:solidFill>
                <a:effectLst/>
                <a:uLnTx/>
                <a:uFillTx/>
                <a:ea typeface="+mn-ea"/>
                <a:cs typeface="+mn-cs"/>
              </a:rPr>
              <a:t> If the median is centered in the box and the whiskers are roughly equal, the data is symmetrically distributed.</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Skewness:</a:t>
            </a:r>
            <a:r>
              <a:rPr kumimoji="0" lang="en-US" altLang="en-US" sz="2400" b="0" i="0" u="none" strike="noStrike" kern="1200" cap="none" spc="0" normalizeH="0" baseline="0" noProof="0" dirty="0">
                <a:ln>
                  <a:noFill/>
                </a:ln>
                <a:solidFill>
                  <a:prstClr val="white"/>
                </a:solidFill>
                <a:effectLst/>
                <a:uLnTx/>
                <a:uFillTx/>
                <a:ea typeface="+mn-ea"/>
                <a:cs typeface="+mn-cs"/>
              </a:rPr>
              <a:t> If the median is closer to Q1 or Q3, or if one whisker is longer, the data is skewed.</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Outliers:</a:t>
            </a:r>
            <a:r>
              <a:rPr kumimoji="0" lang="en-US" altLang="en-US" sz="2400" b="0" i="0" u="none" strike="noStrike" kern="1200" cap="none" spc="0" normalizeH="0" baseline="0" noProof="0" dirty="0">
                <a:ln>
                  <a:noFill/>
                </a:ln>
                <a:solidFill>
                  <a:prstClr val="white"/>
                </a:solidFill>
                <a:effectLst/>
                <a:uLnTx/>
                <a:uFillTx/>
                <a:ea typeface="+mn-ea"/>
                <a:cs typeface="+mn-cs"/>
              </a:rPr>
              <a:t> Points outside the whiskers suggest outliers that may need further investigation. </a:t>
            </a:r>
          </a:p>
        </p:txBody>
      </p:sp>
    </p:spTree>
    <p:extLst>
      <p:ext uri="{BB962C8B-B14F-4D97-AF65-F5344CB8AC3E}">
        <p14:creationId xmlns:p14="http://schemas.microsoft.com/office/powerpoint/2010/main" val="4191471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 of Boxplot</a:t>
            </a:r>
            <a:endParaRPr lang="en-IN" dirty="0"/>
          </a:p>
        </p:txBody>
      </p:sp>
      <p:pic>
        <p:nvPicPr>
          <p:cNvPr id="3076" name="Picture 4" descr="first box and whisker plot example ">
            <a:extLst>
              <a:ext uri="{FF2B5EF4-FFF2-40B4-BE49-F238E27FC236}">
                <a16:creationId xmlns:a16="http://schemas.microsoft.com/office/drawing/2014/main" id="{A517FADE-5993-8016-BD28-0A7664800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5121" y="1690688"/>
            <a:ext cx="5241758" cy="4822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443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Suppose you have the math test results for a class of 15 students. Here are the results:</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dirty="0"/>
          </a:p>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91  95  54  69  80  85  88  73  71  70  66  90  86  84  73</a:t>
            </a:r>
          </a:p>
        </p:txBody>
      </p:sp>
    </p:spTree>
    <p:extLst>
      <p:ext uri="{BB962C8B-B14F-4D97-AF65-F5344CB8AC3E}">
        <p14:creationId xmlns:p14="http://schemas.microsoft.com/office/powerpoint/2010/main" val="1639210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Step 1: Order the data points from least to greatest.</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dirty="0"/>
          </a:p>
          <a:p>
            <a:pPr marL="457200" lvl="1" indent="0" algn="just" eaLnBrk="0" fontAlgn="base" hangingPunct="0">
              <a:lnSpc>
                <a:spcPct val="100000"/>
              </a:lnSpc>
              <a:spcBef>
                <a:spcPct val="0"/>
              </a:spcBef>
              <a:spcAft>
                <a:spcPct val="0"/>
              </a:spcAft>
              <a:buFontTx/>
              <a:buChar char="•"/>
            </a:pPr>
            <a:r>
              <a:rPr lang="en-US" dirty="0"/>
              <a:t>54  66  69  70  71  73  73  80  84  85  86  88  90  91  95</a:t>
            </a:r>
          </a:p>
          <a:p>
            <a:pPr marL="457200" lvl="1" indent="0" algn="just" eaLnBrk="0" fontAlgn="base" hangingPunct="0">
              <a:lnSpc>
                <a:spcPct val="100000"/>
              </a:lnSpc>
              <a:spcBef>
                <a:spcPct val="0"/>
              </a:spcBef>
              <a:spcAft>
                <a:spcPct val="0"/>
              </a:spcAft>
              <a:buFontTx/>
              <a:buChar char="•"/>
            </a:pPr>
            <a:endParaRPr lang="en-US" dirty="0"/>
          </a:p>
          <a:p>
            <a:pPr marL="0" indent="0" algn="just" eaLnBrk="0" fontAlgn="base" hangingPunct="0">
              <a:lnSpc>
                <a:spcPct val="100000"/>
              </a:lnSpc>
              <a:spcBef>
                <a:spcPct val="0"/>
              </a:spcBef>
              <a:spcAft>
                <a:spcPct val="0"/>
              </a:spcAft>
              <a:buFontTx/>
              <a:buChar char="•"/>
            </a:pPr>
            <a:r>
              <a:rPr lang="en-US" dirty="0"/>
              <a:t>Step 2: Find the median of the data</a:t>
            </a:r>
          </a:p>
          <a:p>
            <a:pPr marL="457200" lvl="1" indent="0" algn="just" eaLnBrk="0" fontAlgn="base" hangingPunct="0">
              <a:lnSpc>
                <a:spcPct val="100000"/>
              </a:lnSpc>
              <a:spcBef>
                <a:spcPct val="0"/>
              </a:spcBef>
              <a:spcAft>
                <a:spcPct val="0"/>
              </a:spcAft>
              <a:buFontTx/>
              <a:buChar char="•"/>
            </a:pPr>
            <a:r>
              <a:rPr lang="en-US" dirty="0"/>
              <a:t>This is an odd set of data – you have 15 data points. It means the middle point is 80 as there are 7 data points above it and 7 numbers below.</a:t>
            </a:r>
          </a:p>
        </p:txBody>
      </p:sp>
    </p:spTree>
    <p:extLst>
      <p:ext uri="{BB962C8B-B14F-4D97-AF65-F5344CB8AC3E}">
        <p14:creationId xmlns:p14="http://schemas.microsoft.com/office/powerpoint/2010/main" val="3881471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Step 3: Find the middle points of the two halves divided by the median (find the upper and lower quartiles).</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dirty="0"/>
          </a:p>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Step 4: Find the extreme values.</a:t>
            </a:r>
          </a:p>
        </p:txBody>
      </p:sp>
    </p:spTree>
    <p:extLst>
      <p:ext uri="{BB962C8B-B14F-4D97-AF65-F5344CB8AC3E}">
        <p14:creationId xmlns:p14="http://schemas.microsoft.com/office/powerpoint/2010/main" val="2793453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lang="en-US" dirty="0"/>
              <a:t>We can determine that the five-number summary for the class of students is 54, 70, 80, 88, 95.</a:t>
            </a:r>
          </a:p>
        </p:txBody>
      </p:sp>
    </p:spTree>
    <p:extLst>
      <p:ext uri="{BB962C8B-B14F-4D97-AF65-F5344CB8AC3E}">
        <p14:creationId xmlns:p14="http://schemas.microsoft.com/office/powerpoint/2010/main" val="2203812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1</a:t>
            </a:r>
          </a:p>
        </p:txBody>
      </p:sp>
      <p:pic>
        <p:nvPicPr>
          <p:cNvPr id="4098" name="Picture 2" descr="second box and whisker plot example 1">
            <a:extLst>
              <a:ext uri="{FF2B5EF4-FFF2-40B4-BE49-F238E27FC236}">
                <a16:creationId xmlns:a16="http://schemas.microsoft.com/office/drawing/2014/main" id="{C43B73CA-9424-7A33-E84B-9A9CEAAC3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734" y="2207376"/>
            <a:ext cx="9388531" cy="3379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00422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1: Interpretation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eaLnBrk="0" fontAlgn="base" hangingPunct="0">
              <a:lnSpc>
                <a:spcPct val="100000"/>
              </a:lnSpc>
              <a:spcBef>
                <a:spcPct val="0"/>
              </a:spcBef>
              <a:spcAft>
                <a:spcPct val="0"/>
              </a:spcAft>
            </a:pPr>
            <a:r>
              <a:rPr lang="en-US" sz="3200" dirty="0"/>
              <a:t>The box and whisker plot shows that 50% of the students have scores between 70 and 88 points.</a:t>
            </a:r>
          </a:p>
          <a:p>
            <a:pPr algn="just" eaLnBrk="0" fontAlgn="base" hangingPunct="0">
              <a:lnSpc>
                <a:spcPct val="100000"/>
              </a:lnSpc>
              <a:spcBef>
                <a:spcPct val="0"/>
              </a:spcBef>
              <a:spcAft>
                <a:spcPct val="0"/>
              </a:spcAft>
            </a:pPr>
            <a:endParaRPr lang="en-US" sz="3200" dirty="0"/>
          </a:p>
          <a:p>
            <a:pPr algn="just" eaLnBrk="0" fontAlgn="base" hangingPunct="0">
              <a:lnSpc>
                <a:spcPct val="100000"/>
              </a:lnSpc>
              <a:spcBef>
                <a:spcPct val="0"/>
              </a:spcBef>
              <a:spcAft>
                <a:spcPct val="0"/>
              </a:spcAft>
            </a:pPr>
            <a:r>
              <a:rPr lang="en-US" sz="3200" dirty="0"/>
              <a:t>In addition, 75% scored lower than 88 points, and 50% have test results above 80. So, if you have test results somewhere in the lower whisker, you may need to study more.</a:t>
            </a:r>
          </a:p>
        </p:txBody>
      </p:sp>
    </p:spTree>
    <p:extLst>
      <p:ext uri="{BB962C8B-B14F-4D97-AF65-F5344CB8AC3E}">
        <p14:creationId xmlns:p14="http://schemas.microsoft.com/office/powerpoint/2010/main" val="2839892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2</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10000"/>
          </a:bodyPr>
          <a:lstStyle/>
          <a:p>
            <a:pPr algn="just" eaLnBrk="0" fontAlgn="base" hangingPunct="0">
              <a:lnSpc>
                <a:spcPct val="100000"/>
              </a:lnSpc>
              <a:spcBef>
                <a:spcPct val="0"/>
              </a:spcBef>
              <a:spcAft>
                <a:spcPct val="0"/>
              </a:spcAft>
            </a:pPr>
            <a:r>
              <a:rPr lang="en-US" sz="3200" dirty="0"/>
              <a:t>Suppose an IT company has two stores that sell computers. The company recorded the number of sales each store made each month. In the past 12 months, we have the following numbers of sold computers:</a:t>
            </a:r>
          </a:p>
          <a:p>
            <a:pPr algn="just" eaLnBrk="0" fontAlgn="base" hangingPunct="0">
              <a:lnSpc>
                <a:spcPct val="100000"/>
              </a:lnSpc>
              <a:spcBef>
                <a:spcPct val="0"/>
              </a:spcBef>
              <a:spcAft>
                <a:spcPct val="0"/>
              </a:spcAft>
            </a:pPr>
            <a:endParaRPr lang="en-US" sz="3200" dirty="0"/>
          </a:p>
          <a:p>
            <a:pPr algn="just" eaLnBrk="0" fontAlgn="base" hangingPunct="0">
              <a:lnSpc>
                <a:spcPct val="100000"/>
              </a:lnSpc>
              <a:spcBef>
                <a:spcPct val="0"/>
              </a:spcBef>
              <a:spcAft>
                <a:spcPct val="0"/>
              </a:spcAft>
            </a:pPr>
            <a:r>
              <a:rPr lang="en-US" sz="3200" dirty="0"/>
              <a:t>Store 1:</a:t>
            </a:r>
          </a:p>
          <a:p>
            <a:pPr algn="just" eaLnBrk="0" fontAlgn="base" hangingPunct="0">
              <a:lnSpc>
                <a:spcPct val="100000"/>
              </a:lnSpc>
              <a:spcBef>
                <a:spcPct val="0"/>
              </a:spcBef>
              <a:spcAft>
                <a:spcPct val="0"/>
              </a:spcAft>
            </a:pPr>
            <a:endParaRPr lang="en-US" sz="3200" dirty="0"/>
          </a:p>
          <a:p>
            <a:pPr lvl="1" algn="just" eaLnBrk="0" fontAlgn="base" hangingPunct="0">
              <a:lnSpc>
                <a:spcPct val="100000"/>
              </a:lnSpc>
              <a:spcBef>
                <a:spcPct val="0"/>
              </a:spcBef>
              <a:spcAft>
                <a:spcPct val="0"/>
              </a:spcAft>
            </a:pPr>
            <a:r>
              <a:rPr lang="en-US" sz="2800" dirty="0"/>
              <a:t>350, 460, 20, 160, 580, 250, 210, 120, 200, 510, 290, 380.</a:t>
            </a:r>
          </a:p>
          <a:p>
            <a:pPr algn="just" eaLnBrk="0" fontAlgn="base" hangingPunct="0">
              <a:lnSpc>
                <a:spcPct val="100000"/>
              </a:lnSpc>
              <a:spcBef>
                <a:spcPct val="0"/>
              </a:spcBef>
              <a:spcAft>
                <a:spcPct val="0"/>
              </a:spcAft>
            </a:pPr>
            <a:endParaRPr lang="en-US" sz="3200" dirty="0"/>
          </a:p>
          <a:p>
            <a:pPr algn="just" eaLnBrk="0" fontAlgn="base" hangingPunct="0">
              <a:lnSpc>
                <a:spcPct val="100000"/>
              </a:lnSpc>
              <a:spcBef>
                <a:spcPct val="0"/>
              </a:spcBef>
              <a:spcAft>
                <a:spcPct val="0"/>
              </a:spcAft>
            </a:pPr>
            <a:r>
              <a:rPr lang="en-US" sz="3200" dirty="0"/>
              <a:t>Store 2:</a:t>
            </a:r>
          </a:p>
          <a:p>
            <a:pPr algn="just" eaLnBrk="0" fontAlgn="base" hangingPunct="0">
              <a:lnSpc>
                <a:spcPct val="100000"/>
              </a:lnSpc>
              <a:spcBef>
                <a:spcPct val="0"/>
              </a:spcBef>
              <a:spcAft>
                <a:spcPct val="0"/>
              </a:spcAft>
            </a:pPr>
            <a:endParaRPr lang="en-US" sz="3200" dirty="0"/>
          </a:p>
          <a:p>
            <a:pPr lvl="1" algn="just" eaLnBrk="0" fontAlgn="base" hangingPunct="0">
              <a:lnSpc>
                <a:spcPct val="100000"/>
              </a:lnSpc>
              <a:spcBef>
                <a:spcPct val="0"/>
              </a:spcBef>
              <a:spcAft>
                <a:spcPct val="0"/>
              </a:spcAft>
            </a:pPr>
            <a:r>
              <a:rPr lang="en-US" sz="2800" dirty="0"/>
              <a:t>520, 180, 260, 380, 80, 500, 630, 420, 210, 70, 440, 140.</a:t>
            </a:r>
          </a:p>
        </p:txBody>
      </p:sp>
    </p:spTree>
    <p:extLst>
      <p:ext uri="{BB962C8B-B14F-4D97-AF65-F5344CB8AC3E}">
        <p14:creationId xmlns:p14="http://schemas.microsoft.com/office/powerpoint/2010/main" val="477632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2</a:t>
            </a:r>
          </a:p>
        </p:txBody>
      </p:sp>
      <p:pic>
        <p:nvPicPr>
          <p:cNvPr id="5122" name="Picture 2" descr="comparative double box and whisker plot examples">
            <a:extLst>
              <a:ext uri="{FF2B5EF4-FFF2-40B4-BE49-F238E27FC236}">
                <a16:creationId xmlns:a16="http://schemas.microsoft.com/office/drawing/2014/main" id="{9A6F38C9-6D7A-FE3E-2929-A2E62A22E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336" y="1690688"/>
            <a:ext cx="9847328" cy="4316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34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 2: Interpretation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eaLnBrk="0" fontAlgn="base" hangingPunct="0">
              <a:lnSpc>
                <a:spcPct val="100000"/>
              </a:lnSpc>
              <a:spcBef>
                <a:spcPct val="0"/>
              </a:spcBef>
              <a:spcAft>
                <a:spcPct val="0"/>
              </a:spcAft>
            </a:pPr>
            <a:r>
              <a:rPr lang="en-US" sz="3200" dirty="0"/>
              <a:t>Store 2’s highest and lowest sales are both higher than Store 1’s relevant sales.</a:t>
            </a:r>
          </a:p>
          <a:p>
            <a:pPr algn="just" eaLnBrk="0" fontAlgn="base" hangingPunct="0">
              <a:lnSpc>
                <a:spcPct val="100000"/>
              </a:lnSpc>
              <a:spcBef>
                <a:spcPct val="0"/>
              </a:spcBef>
              <a:spcAft>
                <a:spcPct val="0"/>
              </a:spcAft>
            </a:pPr>
            <a:endParaRPr lang="en-US" sz="3200" dirty="0"/>
          </a:p>
          <a:p>
            <a:pPr algn="just" eaLnBrk="0" fontAlgn="base" hangingPunct="0">
              <a:lnSpc>
                <a:spcPct val="100000"/>
              </a:lnSpc>
              <a:spcBef>
                <a:spcPct val="0"/>
              </a:spcBef>
              <a:spcAft>
                <a:spcPct val="0"/>
              </a:spcAft>
            </a:pPr>
            <a:r>
              <a:rPr lang="en-US" sz="3200" dirty="0"/>
              <a:t>In addition, Store 2’s median sales value is higher than Store 1’s. Also, Store 2’s interquartile range is larger.</a:t>
            </a:r>
          </a:p>
          <a:p>
            <a:pPr algn="just" eaLnBrk="0" fontAlgn="base" hangingPunct="0">
              <a:lnSpc>
                <a:spcPct val="100000"/>
              </a:lnSpc>
              <a:spcBef>
                <a:spcPct val="0"/>
              </a:spcBef>
              <a:spcAft>
                <a:spcPct val="0"/>
              </a:spcAft>
            </a:pPr>
            <a:endParaRPr lang="en-US" sz="3200" dirty="0"/>
          </a:p>
          <a:p>
            <a:pPr algn="just" eaLnBrk="0" fontAlgn="base" hangingPunct="0">
              <a:lnSpc>
                <a:spcPct val="100000"/>
              </a:lnSpc>
              <a:spcBef>
                <a:spcPct val="0"/>
              </a:spcBef>
              <a:spcAft>
                <a:spcPct val="0"/>
              </a:spcAft>
            </a:pPr>
            <a:r>
              <a:rPr lang="en-US" sz="3200" dirty="0"/>
              <a:t>These results tell us that Store 2 consistently sells more computers than Store 1.</a:t>
            </a:r>
            <a:endParaRPr lang="en-US" sz="2800" dirty="0"/>
          </a:p>
        </p:txBody>
      </p:sp>
    </p:spTree>
    <p:extLst>
      <p:ext uri="{BB962C8B-B14F-4D97-AF65-F5344CB8AC3E}">
        <p14:creationId xmlns:p14="http://schemas.microsoft.com/office/powerpoint/2010/main" val="809493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Frequency Tables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eaLnBrk="0" fontAlgn="base" hangingPunct="0">
              <a:lnSpc>
                <a:spcPct val="100000"/>
              </a:lnSpc>
              <a:spcBef>
                <a:spcPct val="0"/>
              </a:spcBef>
              <a:spcAft>
                <a:spcPct val="0"/>
              </a:spcAft>
              <a:buNone/>
            </a:pPr>
            <a:r>
              <a:rPr lang="en-US" sz="3200" dirty="0"/>
              <a:t>A frequency table is a tabular representation of data that shows the number of occurrences (frequency) of each unique value in the dataset.</a:t>
            </a:r>
            <a:endParaRPr lang="en-US" sz="2800" dirty="0"/>
          </a:p>
        </p:txBody>
      </p:sp>
    </p:spTree>
    <p:extLst>
      <p:ext uri="{BB962C8B-B14F-4D97-AF65-F5344CB8AC3E}">
        <p14:creationId xmlns:p14="http://schemas.microsoft.com/office/powerpoint/2010/main" val="345780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Components of a Frequency Table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Categories or Intervals:</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The unique values or range of values (bins) in the dataset.</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Frequency:</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The number of occurrences of each category or interval.</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Relative Frequency:</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The proportion of the total number of observations that fall into each category or interval.</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Cumulative Frequency:</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The sum of frequencies for all categories up to a given category or interval. </a:t>
            </a:r>
          </a:p>
        </p:txBody>
      </p:sp>
    </p:spTree>
    <p:extLst>
      <p:ext uri="{BB962C8B-B14F-4D97-AF65-F5344CB8AC3E}">
        <p14:creationId xmlns:p14="http://schemas.microsoft.com/office/powerpoint/2010/main" val="17466979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Creating a Frequency Table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buFont typeface="+mj-lt"/>
              <a:buAutoNum type="arabicPeriod"/>
            </a:pPr>
            <a:r>
              <a:rPr lang="en-US" b="1" dirty="0"/>
              <a:t>Collect the Data:</a:t>
            </a:r>
            <a:r>
              <a:rPr lang="en-US" dirty="0"/>
              <a:t> Obtain the dataset.</a:t>
            </a:r>
          </a:p>
          <a:p>
            <a:pPr>
              <a:buFont typeface="+mj-lt"/>
              <a:buAutoNum type="arabicPeriod"/>
            </a:pPr>
            <a:endParaRPr lang="en-US" dirty="0"/>
          </a:p>
          <a:p>
            <a:pPr>
              <a:buFont typeface="+mj-lt"/>
              <a:buAutoNum type="arabicPeriod"/>
            </a:pPr>
            <a:r>
              <a:rPr lang="en-US" b="1" dirty="0"/>
              <a:t>Organize the Data:</a:t>
            </a:r>
            <a:r>
              <a:rPr lang="en-US" dirty="0"/>
              <a:t> List the unique values or define intervals (bins).</a:t>
            </a:r>
          </a:p>
          <a:p>
            <a:pPr>
              <a:buFont typeface="+mj-lt"/>
              <a:buAutoNum type="arabicPeriod"/>
            </a:pPr>
            <a:endParaRPr lang="en-US" dirty="0"/>
          </a:p>
          <a:p>
            <a:pPr>
              <a:buFont typeface="+mj-lt"/>
              <a:buAutoNum type="arabicPeriod"/>
            </a:pPr>
            <a:r>
              <a:rPr lang="en-US" b="1" dirty="0"/>
              <a:t>Count the Frequencies:</a:t>
            </a:r>
            <a:r>
              <a:rPr lang="en-US" dirty="0"/>
              <a:t> Count the number of occurrences for each value or interval.</a:t>
            </a:r>
          </a:p>
        </p:txBody>
      </p:sp>
    </p:spTree>
    <p:extLst>
      <p:ext uri="{BB962C8B-B14F-4D97-AF65-F5344CB8AC3E}">
        <p14:creationId xmlns:p14="http://schemas.microsoft.com/office/powerpoint/2010/main" val="214538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t">
            <a:normAutofit/>
          </a:bodyPr>
          <a:lstStyle/>
          <a:p>
            <a:pPr marL="0" indent="0" algn="ctr">
              <a:buNone/>
            </a:pPr>
            <a:r>
              <a:rPr lang="fi-FI" dirty="0"/>
              <a:t>Dataset: 3, 5, 7, 7, 8, 8, 8, 10, 12</a:t>
            </a:r>
            <a:endParaRPr lang="en-US" dirty="0"/>
          </a:p>
        </p:txBody>
      </p:sp>
      <p:graphicFrame>
        <p:nvGraphicFramePr>
          <p:cNvPr id="4" name="Table 3">
            <a:extLst>
              <a:ext uri="{FF2B5EF4-FFF2-40B4-BE49-F238E27FC236}">
                <a16:creationId xmlns:a16="http://schemas.microsoft.com/office/drawing/2014/main" id="{2A1E0BD0-2A17-C352-52CF-D4AB553FD5FA}"/>
              </a:ext>
            </a:extLst>
          </p:cNvPr>
          <p:cNvGraphicFramePr>
            <a:graphicFrameLocks noGrp="1"/>
          </p:cNvGraphicFramePr>
          <p:nvPr>
            <p:extLst>
              <p:ext uri="{D42A27DB-BD31-4B8C-83A1-F6EECF244321}">
                <p14:modId xmlns:p14="http://schemas.microsoft.com/office/powerpoint/2010/main" val="1292565352"/>
              </p:ext>
            </p:extLst>
          </p:nvPr>
        </p:nvGraphicFramePr>
        <p:xfrm>
          <a:off x="838200" y="2606792"/>
          <a:ext cx="10515600" cy="3566160"/>
        </p:xfrm>
        <a:graphic>
          <a:graphicData uri="http://schemas.openxmlformats.org/drawingml/2006/table">
            <a:tbl>
              <a:tblPr/>
              <a:tblGrid>
                <a:gridCol w="2628900">
                  <a:extLst>
                    <a:ext uri="{9D8B030D-6E8A-4147-A177-3AD203B41FA5}">
                      <a16:colId xmlns:a16="http://schemas.microsoft.com/office/drawing/2014/main" val="2125635703"/>
                    </a:ext>
                  </a:extLst>
                </a:gridCol>
                <a:gridCol w="2628900">
                  <a:extLst>
                    <a:ext uri="{9D8B030D-6E8A-4147-A177-3AD203B41FA5}">
                      <a16:colId xmlns:a16="http://schemas.microsoft.com/office/drawing/2014/main" val="2683003045"/>
                    </a:ext>
                  </a:extLst>
                </a:gridCol>
                <a:gridCol w="2628900">
                  <a:extLst>
                    <a:ext uri="{9D8B030D-6E8A-4147-A177-3AD203B41FA5}">
                      <a16:colId xmlns:a16="http://schemas.microsoft.com/office/drawing/2014/main" val="831777509"/>
                    </a:ext>
                  </a:extLst>
                </a:gridCol>
                <a:gridCol w="2628900">
                  <a:extLst>
                    <a:ext uri="{9D8B030D-6E8A-4147-A177-3AD203B41FA5}">
                      <a16:colId xmlns:a16="http://schemas.microsoft.com/office/drawing/2014/main" val="1394508019"/>
                    </a:ext>
                  </a:extLst>
                </a:gridCol>
              </a:tblGrid>
              <a:tr h="0">
                <a:tc>
                  <a:txBody>
                    <a:bodyPr/>
                    <a:lstStyle/>
                    <a:p>
                      <a:r>
                        <a:rPr lang="en-IN" sz="2400"/>
                        <a:t>Value</a:t>
                      </a:r>
                    </a:p>
                  </a:txBody>
                  <a:tcPr anchor="ctr">
                    <a:lnL>
                      <a:noFill/>
                    </a:lnL>
                    <a:lnR>
                      <a:noFill/>
                    </a:lnR>
                    <a:lnT>
                      <a:noFill/>
                    </a:lnT>
                    <a:lnB>
                      <a:noFill/>
                    </a:lnB>
                    <a:noFill/>
                  </a:tcPr>
                </a:tc>
                <a:tc>
                  <a:txBody>
                    <a:bodyPr/>
                    <a:lstStyle/>
                    <a:p>
                      <a:r>
                        <a:rPr lang="en-IN" sz="2400"/>
                        <a:t>Frequency</a:t>
                      </a:r>
                    </a:p>
                  </a:txBody>
                  <a:tcPr anchor="ctr">
                    <a:lnL>
                      <a:noFill/>
                    </a:lnL>
                    <a:lnR>
                      <a:noFill/>
                    </a:lnR>
                    <a:lnT>
                      <a:noFill/>
                    </a:lnT>
                    <a:lnB>
                      <a:noFill/>
                    </a:lnB>
                    <a:noFill/>
                  </a:tcPr>
                </a:tc>
                <a:tc>
                  <a:txBody>
                    <a:bodyPr/>
                    <a:lstStyle/>
                    <a:p>
                      <a:r>
                        <a:rPr lang="en-IN" sz="2400"/>
                        <a:t>Relative Frequency</a:t>
                      </a:r>
                    </a:p>
                  </a:txBody>
                  <a:tcPr anchor="ctr">
                    <a:lnL>
                      <a:noFill/>
                    </a:lnL>
                    <a:lnR>
                      <a:noFill/>
                    </a:lnR>
                    <a:lnT>
                      <a:noFill/>
                    </a:lnT>
                    <a:lnB>
                      <a:noFill/>
                    </a:lnB>
                    <a:noFill/>
                  </a:tcPr>
                </a:tc>
                <a:tc>
                  <a:txBody>
                    <a:bodyPr/>
                    <a:lstStyle/>
                    <a:p>
                      <a:r>
                        <a:rPr lang="en-IN" sz="2400"/>
                        <a:t>Cumulative Frequency</a:t>
                      </a:r>
                    </a:p>
                  </a:txBody>
                  <a:tcPr anchor="ctr">
                    <a:lnL>
                      <a:noFill/>
                    </a:lnL>
                    <a:lnR>
                      <a:noFill/>
                    </a:lnR>
                    <a:lnT>
                      <a:noFill/>
                    </a:lnT>
                    <a:lnB>
                      <a:noFill/>
                    </a:lnB>
                    <a:noFill/>
                  </a:tcPr>
                </a:tc>
                <a:extLst>
                  <a:ext uri="{0D108BD9-81ED-4DB2-BD59-A6C34878D82A}">
                    <a16:rowId xmlns:a16="http://schemas.microsoft.com/office/drawing/2014/main" val="3438738032"/>
                  </a:ext>
                </a:extLst>
              </a:tr>
              <a:tr h="0">
                <a:tc>
                  <a:txBody>
                    <a:bodyPr/>
                    <a:lstStyle/>
                    <a:p>
                      <a:r>
                        <a:rPr lang="en-IN" sz="2400"/>
                        <a:t>3</a:t>
                      </a:r>
                    </a:p>
                  </a:txBody>
                  <a:tcPr anchor="ctr">
                    <a:lnL>
                      <a:noFill/>
                    </a:lnL>
                    <a:lnR>
                      <a:noFill/>
                    </a:lnR>
                    <a:lnT>
                      <a:noFill/>
                    </a:lnT>
                    <a:lnB>
                      <a:noFill/>
                    </a:lnB>
                    <a:noFill/>
                  </a:tcPr>
                </a:tc>
                <a:tc>
                  <a:txBody>
                    <a:bodyPr/>
                    <a:lstStyle/>
                    <a:p>
                      <a:r>
                        <a:rPr lang="en-IN" sz="2400"/>
                        <a:t>1</a:t>
                      </a:r>
                    </a:p>
                  </a:txBody>
                  <a:tcPr anchor="ctr">
                    <a:lnL>
                      <a:noFill/>
                    </a:lnL>
                    <a:lnR>
                      <a:noFill/>
                    </a:lnR>
                    <a:lnT>
                      <a:noFill/>
                    </a:lnT>
                    <a:lnB>
                      <a:noFill/>
                    </a:lnB>
                    <a:noFill/>
                  </a:tcPr>
                </a:tc>
                <a:tc>
                  <a:txBody>
                    <a:bodyPr/>
                    <a:lstStyle/>
                    <a:p>
                      <a:r>
                        <a:rPr lang="en-IN" sz="2400"/>
                        <a:t>1/9 ≈ 0.11</a:t>
                      </a:r>
                    </a:p>
                  </a:txBody>
                  <a:tcPr anchor="ctr">
                    <a:lnL>
                      <a:noFill/>
                    </a:lnL>
                    <a:lnR>
                      <a:noFill/>
                    </a:lnR>
                    <a:lnT>
                      <a:noFill/>
                    </a:lnT>
                    <a:lnB>
                      <a:noFill/>
                    </a:lnB>
                    <a:noFill/>
                  </a:tcPr>
                </a:tc>
                <a:tc>
                  <a:txBody>
                    <a:bodyPr/>
                    <a:lstStyle/>
                    <a:p>
                      <a:r>
                        <a:rPr lang="en-IN" sz="2400"/>
                        <a:t>1</a:t>
                      </a:r>
                    </a:p>
                  </a:txBody>
                  <a:tcPr anchor="ctr">
                    <a:lnL>
                      <a:noFill/>
                    </a:lnL>
                    <a:lnR>
                      <a:noFill/>
                    </a:lnR>
                    <a:lnT>
                      <a:noFill/>
                    </a:lnT>
                    <a:lnB>
                      <a:noFill/>
                    </a:lnB>
                    <a:noFill/>
                  </a:tcPr>
                </a:tc>
                <a:extLst>
                  <a:ext uri="{0D108BD9-81ED-4DB2-BD59-A6C34878D82A}">
                    <a16:rowId xmlns:a16="http://schemas.microsoft.com/office/drawing/2014/main" val="1096405261"/>
                  </a:ext>
                </a:extLst>
              </a:tr>
              <a:tr h="0">
                <a:tc>
                  <a:txBody>
                    <a:bodyPr/>
                    <a:lstStyle/>
                    <a:p>
                      <a:r>
                        <a:rPr lang="en-IN" sz="2400"/>
                        <a:t>5</a:t>
                      </a:r>
                    </a:p>
                  </a:txBody>
                  <a:tcPr anchor="ctr">
                    <a:lnL>
                      <a:noFill/>
                    </a:lnL>
                    <a:lnR>
                      <a:noFill/>
                    </a:lnR>
                    <a:lnT>
                      <a:noFill/>
                    </a:lnT>
                    <a:lnB>
                      <a:noFill/>
                    </a:lnB>
                    <a:noFill/>
                  </a:tcPr>
                </a:tc>
                <a:tc>
                  <a:txBody>
                    <a:bodyPr/>
                    <a:lstStyle/>
                    <a:p>
                      <a:r>
                        <a:rPr lang="en-IN" sz="2400"/>
                        <a:t>1</a:t>
                      </a:r>
                    </a:p>
                  </a:txBody>
                  <a:tcPr anchor="ctr">
                    <a:lnL>
                      <a:noFill/>
                    </a:lnL>
                    <a:lnR>
                      <a:noFill/>
                    </a:lnR>
                    <a:lnT>
                      <a:noFill/>
                    </a:lnT>
                    <a:lnB>
                      <a:noFill/>
                    </a:lnB>
                    <a:noFill/>
                  </a:tcPr>
                </a:tc>
                <a:tc>
                  <a:txBody>
                    <a:bodyPr/>
                    <a:lstStyle/>
                    <a:p>
                      <a:r>
                        <a:rPr lang="en-IN" sz="2400"/>
                        <a:t>1/9 ≈ 0.11</a:t>
                      </a:r>
                    </a:p>
                  </a:txBody>
                  <a:tcPr anchor="ctr">
                    <a:lnL>
                      <a:noFill/>
                    </a:lnL>
                    <a:lnR>
                      <a:noFill/>
                    </a:lnR>
                    <a:lnT>
                      <a:noFill/>
                    </a:lnT>
                    <a:lnB>
                      <a:noFill/>
                    </a:lnB>
                    <a:noFill/>
                  </a:tcPr>
                </a:tc>
                <a:tc>
                  <a:txBody>
                    <a:bodyPr/>
                    <a:lstStyle/>
                    <a:p>
                      <a:r>
                        <a:rPr lang="en-IN" sz="2400"/>
                        <a:t>2</a:t>
                      </a:r>
                    </a:p>
                  </a:txBody>
                  <a:tcPr anchor="ctr">
                    <a:lnL>
                      <a:noFill/>
                    </a:lnL>
                    <a:lnR>
                      <a:noFill/>
                    </a:lnR>
                    <a:lnT>
                      <a:noFill/>
                    </a:lnT>
                    <a:lnB>
                      <a:noFill/>
                    </a:lnB>
                    <a:noFill/>
                  </a:tcPr>
                </a:tc>
                <a:extLst>
                  <a:ext uri="{0D108BD9-81ED-4DB2-BD59-A6C34878D82A}">
                    <a16:rowId xmlns:a16="http://schemas.microsoft.com/office/drawing/2014/main" val="2701602754"/>
                  </a:ext>
                </a:extLst>
              </a:tr>
              <a:tr h="0">
                <a:tc>
                  <a:txBody>
                    <a:bodyPr/>
                    <a:lstStyle/>
                    <a:p>
                      <a:r>
                        <a:rPr lang="en-IN" sz="2400"/>
                        <a:t>7</a:t>
                      </a:r>
                    </a:p>
                  </a:txBody>
                  <a:tcPr anchor="ctr">
                    <a:lnL>
                      <a:noFill/>
                    </a:lnL>
                    <a:lnR>
                      <a:noFill/>
                    </a:lnR>
                    <a:lnT>
                      <a:noFill/>
                    </a:lnT>
                    <a:lnB>
                      <a:noFill/>
                    </a:lnB>
                    <a:noFill/>
                  </a:tcPr>
                </a:tc>
                <a:tc>
                  <a:txBody>
                    <a:bodyPr/>
                    <a:lstStyle/>
                    <a:p>
                      <a:r>
                        <a:rPr lang="en-IN" sz="2400"/>
                        <a:t>2</a:t>
                      </a:r>
                    </a:p>
                  </a:txBody>
                  <a:tcPr anchor="ctr">
                    <a:lnL>
                      <a:noFill/>
                    </a:lnL>
                    <a:lnR>
                      <a:noFill/>
                    </a:lnR>
                    <a:lnT>
                      <a:noFill/>
                    </a:lnT>
                    <a:lnB>
                      <a:noFill/>
                    </a:lnB>
                    <a:noFill/>
                  </a:tcPr>
                </a:tc>
                <a:tc>
                  <a:txBody>
                    <a:bodyPr/>
                    <a:lstStyle/>
                    <a:p>
                      <a:r>
                        <a:rPr lang="en-IN" sz="2400"/>
                        <a:t>2/9 ≈ 0.22</a:t>
                      </a:r>
                    </a:p>
                  </a:txBody>
                  <a:tcPr anchor="ctr">
                    <a:lnL>
                      <a:noFill/>
                    </a:lnL>
                    <a:lnR>
                      <a:noFill/>
                    </a:lnR>
                    <a:lnT>
                      <a:noFill/>
                    </a:lnT>
                    <a:lnB>
                      <a:noFill/>
                    </a:lnB>
                    <a:noFill/>
                  </a:tcPr>
                </a:tc>
                <a:tc>
                  <a:txBody>
                    <a:bodyPr/>
                    <a:lstStyle/>
                    <a:p>
                      <a:r>
                        <a:rPr lang="en-IN" sz="2400"/>
                        <a:t>4</a:t>
                      </a:r>
                    </a:p>
                  </a:txBody>
                  <a:tcPr anchor="ctr">
                    <a:lnL>
                      <a:noFill/>
                    </a:lnL>
                    <a:lnR>
                      <a:noFill/>
                    </a:lnR>
                    <a:lnT>
                      <a:noFill/>
                    </a:lnT>
                    <a:lnB>
                      <a:noFill/>
                    </a:lnB>
                    <a:noFill/>
                  </a:tcPr>
                </a:tc>
                <a:extLst>
                  <a:ext uri="{0D108BD9-81ED-4DB2-BD59-A6C34878D82A}">
                    <a16:rowId xmlns:a16="http://schemas.microsoft.com/office/drawing/2014/main" val="2166645345"/>
                  </a:ext>
                </a:extLst>
              </a:tr>
              <a:tr h="0">
                <a:tc>
                  <a:txBody>
                    <a:bodyPr/>
                    <a:lstStyle/>
                    <a:p>
                      <a:r>
                        <a:rPr lang="en-IN" sz="2400"/>
                        <a:t>8</a:t>
                      </a:r>
                    </a:p>
                  </a:txBody>
                  <a:tcPr anchor="ctr">
                    <a:lnL>
                      <a:noFill/>
                    </a:lnL>
                    <a:lnR>
                      <a:noFill/>
                    </a:lnR>
                    <a:lnT>
                      <a:noFill/>
                    </a:lnT>
                    <a:lnB>
                      <a:noFill/>
                    </a:lnB>
                    <a:noFill/>
                  </a:tcPr>
                </a:tc>
                <a:tc>
                  <a:txBody>
                    <a:bodyPr/>
                    <a:lstStyle/>
                    <a:p>
                      <a:r>
                        <a:rPr lang="en-IN" sz="2400"/>
                        <a:t>3</a:t>
                      </a:r>
                    </a:p>
                  </a:txBody>
                  <a:tcPr anchor="ctr">
                    <a:lnL>
                      <a:noFill/>
                    </a:lnL>
                    <a:lnR>
                      <a:noFill/>
                    </a:lnR>
                    <a:lnT>
                      <a:noFill/>
                    </a:lnT>
                    <a:lnB>
                      <a:noFill/>
                    </a:lnB>
                    <a:noFill/>
                  </a:tcPr>
                </a:tc>
                <a:tc>
                  <a:txBody>
                    <a:bodyPr/>
                    <a:lstStyle/>
                    <a:p>
                      <a:r>
                        <a:rPr lang="en-IN" sz="2400"/>
                        <a:t>3/9 ≈ 0.33</a:t>
                      </a:r>
                    </a:p>
                  </a:txBody>
                  <a:tcPr anchor="ctr">
                    <a:lnL>
                      <a:noFill/>
                    </a:lnL>
                    <a:lnR>
                      <a:noFill/>
                    </a:lnR>
                    <a:lnT>
                      <a:noFill/>
                    </a:lnT>
                    <a:lnB>
                      <a:noFill/>
                    </a:lnB>
                    <a:noFill/>
                  </a:tcPr>
                </a:tc>
                <a:tc>
                  <a:txBody>
                    <a:bodyPr/>
                    <a:lstStyle/>
                    <a:p>
                      <a:r>
                        <a:rPr lang="en-IN" sz="2400"/>
                        <a:t>7</a:t>
                      </a:r>
                    </a:p>
                  </a:txBody>
                  <a:tcPr anchor="ctr">
                    <a:lnL>
                      <a:noFill/>
                    </a:lnL>
                    <a:lnR>
                      <a:noFill/>
                    </a:lnR>
                    <a:lnT>
                      <a:noFill/>
                    </a:lnT>
                    <a:lnB>
                      <a:noFill/>
                    </a:lnB>
                    <a:noFill/>
                  </a:tcPr>
                </a:tc>
                <a:extLst>
                  <a:ext uri="{0D108BD9-81ED-4DB2-BD59-A6C34878D82A}">
                    <a16:rowId xmlns:a16="http://schemas.microsoft.com/office/drawing/2014/main" val="3454667061"/>
                  </a:ext>
                </a:extLst>
              </a:tr>
              <a:tr h="0">
                <a:tc>
                  <a:txBody>
                    <a:bodyPr/>
                    <a:lstStyle/>
                    <a:p>
                      <a:r>
                        <a:rPr lang="en-IN" sz="2400"/>
                        <a:t>10</a:t>
                      </a:r>
                    </a:p>
                  </a:txBody>
                  <a:tcPr anchor="ctr">
                    <a:lnL>
                      <a:noFill/>
                    </a:lnL>
                    <a:lnR>
                      <a:noFill/>
                    </a:lnR>
                    <a:lnT>
                      <a:noFill/>
                    </a:lnT>
                    <a:lnB>
                      <a:noFill/>
                    </a:lnB>
                    <a:noFill/>
                  </a:tcPr>
                </a:tc>
                <a:tc>
                  <a:txBody>
                    <a:bodyPr/>
                    <a:lstStyle/>
                    <a:p>
                      <a:r>
                        <a:rPr lang="en-IN" sz="2400"/>
                        <a:t>1</a:t>
                      </a:r>
                    </a:p>
                  </a:txBody>
                  <a:tcPr anchor="ctr">
                    <a:lnL>
                      <a:noFill/>
                    </a:lnL>
                    <a:lnR>
                      <a:noFill/>
                    </a:lnR>
                    <a:lnT>
                      <a:noFill/>
                    </a:lnT>
                    <a:lnB>
                      <a:noFill/>
                    </a:lnB>
                    <a:noFill/>
                  </a:tcPr>
                </a:tc>
                <a:tc>
                  <a:txBody>
                    <a:bodyPr/>
                    <a:lstStyle/>
                    <a:p>
                      <a:r>
                        <a:rPr lang="en-IN" sz="2400"/>
                        <a:t>1/9 ≈ 0.11</a:t>
                      </a:r>
                    </a:p>
                  </a:txBody>
                  <a:tcPr anchor="ctr">
                    <a:lnL>
                      <a:noFill/>
                    </a:lnL>
                    <a:lnR>
                      <a:noFill/>
                    </a:lnR>
                    <a:lnT>
                      <a:noFill/>
                    </a:lnT>
                    <a:lnB>
                      <a:noFill/>
                    </a:lnB>
                    <a:noFill/>
                  </a:tcPr>
                </a:tc>
                <a:tc>
                  <a:txBody>
                    <a:bodyPr/>
                    <a:lstStyle/>
                    <a:p>
                      <a:r>
                        <a:rPr lang="en-IN" sz="2400"/>
                        <a:t>8</a:t>
                      </a:r>
                    </a:p>
                  </a:txBody>
                  <a:tcPr anchor="ctr">
                    <a:lnL>
                      <a:noFill/>
                    </a:lnL>
                    <a:lnR>
                      <a:noFill/>
                    </a:lnR>
                    <a:lnT>
                      <a:noFill/>
                    </a:lnT>
                    <a:lnB>
                      <a:noFill/>
                    </a:lnB>
                    <a:noFill/>
                  </a:tcPr>
                </a:tc>
                <a:extLst>
                  <a:ext uri="{0D108BD9-81ED-4DB2-BD59-A6C34878D82A}">
                    <a16:rowId xmlns:a16="http://schemas.microsoft.com/office/drawing/2014/main" val="2256780012"/>
                  </a:ext>
                </a:extLst>
              </a:tr>
              <a:tr h="0">
                <a:tc>
                  <a:txBody>
                    <a:bodyPr/>
                    <a:lstStyle/>
                    <a:p>
                      <a:r>
                        <a:rPr lang="en-IN" sz="2400" dirty="0"/>
                        <a:t>12</a:t>
                      </a:r>
                    </a:p>
                  </a:txBody>
                  <a:tcPr anchor="ctr">
                    <a:lnL>
                      <a:noFill/>
                    </a:lnL>
                    <a:lnR>
                      <a:noFill/>
                    </a:lnR>
                    <a:lnT>
                      <a:noFill/>
                    </a:lnT>
                    <a:lnB>
                      <a:noFill/>
                    </a:lnB>
                    <a:noFill/>
                  </a:tcPr>
                </a:tc>
                <a:tc>
                  <a:txBody>
                    <a:bodyPr/>
                    <a:lstStyle/>
                    <a:p>
                      <a:r>
                        <a:rPr lang="en-IN" sz="2400"/>
                        <a:t>1</a:t>
                      </a:r>
                    </a:p>
                  </a:txBody>
                  <a:tcPr anchor="ctr">
                    <a:lnL>
                      <a:noFill/>
                    </a:lnL>
                    <a:lnR>
                      <a:noFill/>
                    </a:lnR>
                    <a:lnT>
                      <a:noFill/>
                    </a:lnT>
                    <a:lnB>
                      <a:noFill/>
                    </a:lnB>
                    <a:noFill/>
                  </a:tcPr>
                </a:tc>
                <a:tc>
                  <a:txBody>
                    <a:bodyPr/>
                    <a:lstStyle/>
                    <a:p>
                      <a:r>
                        <a:rPr lang="en-IN" sz="2400"/>
                        <a:t>1/9 ≈ 0.11</a:t>
                      </a:r>
                    </a:p>
                  </a:txBody>
                  <a:tcPr anchor="ctr">
                    <a:lnL>
                      <a:noFill/>
                    </a:lnL>
                    <a:lnR>
                      <a:noFill/>
                    </a:lnR>
                    <a:lnT>
                      <a:noFill/>
                    </a:lnT>
                    <a:lnB>
                      <a:noFill/>
                    </a:lnB>
                    <a:noFill/>
                  </a:tcPr>
                </a:tc>
                <a:tc>
                  <a:txBody>
                    <a:bodyPr/>
                    <a:lstStyle/>
                    <a:p>
                      <a:r>
                        <a:rPr lang="en-IN" sz="2400" dirty="0"/>
                        <a:t>9</a:t>
                      </a:r>
                    </a:p>
                  </a:txBody>
                  <a:tcPr anchor="ctr">
                    <a:lnL>
                      <a:noFill/>
                    </a:lnL>
                    <a:lnR>
                      <a:noFill/>
                    </a:lnR>
                    <a:lnT>
                      <a:noFill/>
                    </a:lnT>
                    <a:lnB>
                      <a:noFill/>
                    </a:lnB>
                    <a:noFill/>
                  </a:tcPr>
                </a:tc>
                <a:extLst>
                  <a:ext uri="{0D108BD9-81ED-4DB2-BD59-A6C34878D82A}">
                    <a16:rowId xmlns:a16="http://schemas.microsoft.com/office/drawing/2014/main" val="401513342"/>
                  </a:ext>
                </a:extLst>
              </a:tr>
            </a:tbl>
          </a:graphicData>
        </a:graphic>
      </p:graphicFrame>
    </p:spTree>
    <p:extLst>
      <p:ext uri="{BB962C8B-B14F-4D97-AF65-F5344CB8AC3E}">
        <p14:creationId xmlns:p14="http://schemas.microsoft.com/office/powerpoint/2010/main" val="2580454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and Applications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Detailed Distribution:</a:t>
            </a:r>
            <a:r>
              <a:rPr kumimoji="0" lang="en-US" altLang="en-US" sz="2400" b="0" i="0" u="none" strike="noStrike" kern="1200" cap="none" spc="0" normalizeH="0" baseline="0" noProof="0" dirty="0">
                <a:ln>
                  <a:noFill/>
                </a:ln>
                <a:solidFill>
                  <a:prstClr val="white"/>
                </a:solidFill>
                <a:effectLst/>
                <a:uLnTx/>
                <a:uFillTx/>
                <a:ea typeface="+mn-ea"/>
                <a:cs typeface="+mn-cs"/>
              </a:rPr>
              <a:t> Provides an exact count of occurrences for each value.</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Cumulative Analysis:</a:t>
            </a:r>
            <a:r>
              <a:rPr kumimoji="0" lang="en-US" altLang="en-US" sz="2400" b="0" i="0" u="none" strike="noStrike" kern="1200" cap="none" spc="0" normalizeH="0" baseline="0" noProof="0" dirty="0">
                <a:ln>
                  <a:noFill/>
                </a:ln>
                <a:solidFill>
                  <a:prstClr val="white"/>
                </a:solidFill>
                <a:effectLst/>
                <a:uLnTx/>
                <a:uFillTx/>
                <a:ea typeface="+mn-ea"/>
                <a:cs typeface="+mn-cs"/>
              </a:rPr>
              <a:t> Helps in understanding the cumulative distribution.</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ea typeface="+mn-ea"/>
                <a:cs typeface="+mn-cs"/>
              </a:rPr>
              <a:t>Relative Frequencies:</a:t>
            </a:r>
            <a:r>
              <a:rPr kumimoji="0" lang="en-US" altLang="en-US" sz="2400" b="0" i="0" u="none" strike="noStrike" kern="1200" cap="none" spc="0" normalizeH="0" baseline="0" noProof="0" dirty="0">
                <a:ln>
                  <a:noFill/>
                </a:ln>
                <a:solidFill>
                  <a:prstClr val="white"/>
                </a:solidFill>
                <a:effectLst/>
                <a:uLnTx/>
                <a:uFillTx/>
                <a:ea typeface="+mn-ea"/>
                <a:cs typeface="+mn-cs"/>
              </a:rPr>
              <a:t> Useful for comparing distributions of different sizes. </a:t>
            </a:r>
          </a:p>
        </p:txBody>
      </p:sp>
    </p:spTree>
    <p:extLst>
      <p:ext uri="{BB962C8B-B14F-4D97-AF65-F5344CB8AC3E}">
        <p14:creationId xmlns:p14="http://schemas.microsoft.com/office/powerpoint/2010/main" val="31705278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Histograms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eaLnBrk="0" fontAlgn="base" hangingPunct="0">
              <a:lnSpc>
                <a:spcPct val="100000"/>
              </a:lnSpc>
              <a:spcBef>
                <a:spcPct val="0"/>
              </a:spcBef>
              <a:spcAft>
                <a:spcPct val="0"/>
              </a:spcAft>
              <a:buNone/>
              <a:defRPr/>
            </a:pPr>
            <a:r>
              <a:rPr kumimoji="0" lang="en-US" altLang="en-US" b="1" i="0" u="none" strike="noStrike" kern="1200" cap="none" spc="0" normalizeH="0" baseline="0" noProof="0" dirty="0">
                <a:ln>
                  <a:noFill/>
                </a:ln>
                <a:solidFill>
                  <a:prstClr val="white"/>
                </a:solidFill>
                <a:effectLst/>
                <a:uLnTx/>
                <a:uFillTx/>
                <a:ea typeface="+mn-ea"/>
                <a:cs typeface="+mn-cs"/>
              </a:rPr>
              <a:t>A histogram is a graphical representation of the distribution of numerical data. It displays data using bars of different heights, where each bar represents an interval (bin) and the height corresponds to the frequency of values within that interval.</a:t>
            </a:r>
            <a:endParaRPr kumimoji="0" lang="en-US" altLang="en-US" b="0" i="0" u="none" strike="noStrike" kern="1200" cap="none" spc="0" normalizeH="0" baseline="0" noProof="0" dirty="0">
              <a:ln>
                <a:noFill/>
              </a:ln>
              <a:solidFill>
                <a:prstClr val="white"/>
              </a:solidFill>
              <a:effectLst/>
              <a:uLnTx/>
              <a:uFillTx/>
              <a:ea typeface="+mn-ea"/>
              <a:cs typeface="+mn-cs"/>
            </a:endParaRPr>
          </a:p>
        </p:txBody>
      </p:sp>
    </p:spTree>
    <p:extLst>
      <p:ext uri="{BB962C8B-B14F-4D97-AF65-F5344CB8AC3E}">
        <p14:creationId xmlns:p14="http://schemas.microsoft.com/office/powerpoint/2010/main" val="3708557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Components of a Histogram</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Bins:</a:t>
            </a:r>
            <a:r>
              <a:rPr kumimoji="0" lang="en-US" altLang="en-US" sz="2800" b="0" i="0" u="none" strike="noStrike" cap="none" normalizeH="0" baseline="0" dirty="0">
                <a:ln>
                  <a:noFill/>
                </a:ln>
                <a:solidFill>
                  <a:schemeClr val="tx1"/>
                </a:solidFill>
                <a:effectLst/>
                <a:latin typeface="Arial" panose="020B0604020202020204" pitchFamily="34" charset="0"/>
              </a:rPr>
              <a:t> Intervals that divide the range of data into equal parts.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Bars:</a:t>
            </a:r>
            <a:r>
              <a:rPr kumimoji="0" lang="en-US" altLang="en-US" sz="2800" b="0" i="0" u="none" strike="noStrike" cap="none" normalizeH="0" baseline="0" dirty="0">
                <a:ln>
                  <a:noFill/>
                </a:ln>
                <a:solidFill>
                  <a:schemeClr val="tx1"/>
                </a:solidFill>
                <a:effectLst/>
                <a:latin typeface="Arial" panose="020B0604020202020204" pitchFamily="34" charset="0"/>
              </a:rPr>
              <a:t> Rectangles representing the frequency of data points within each bin.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X-Axis:</a:t>
            </a:r>
            <a:r>
              <a:rPr kumimoji="0" lang="en-US" altLang="en-US" sz="2800" b="0" i="0" u="none" strike="noStrike" cap="none" normalizeH="0" baseline="0" dirty="0">
                <a:ln>
                  <a:noFill/>
                </a:ln>
                <a:solidFill>
                  <a:schemeClr val="tx1"/>
                </a:solidFill>
                <a:effectLst/>
                <a:latin typeface="Arial" panose="020B0604020202020204" pitchFamily="34" charset="0"/>
              </a:rPr>
              <a:t> Represents the range of data (bins).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Y-Axis:</a:t>
            </a:r>
            <a:r>
              <a:rPr kumimoji="0" lang="en-US" altLang="en-US" sz="2800" b="0" i="0" u="none" strike="noStrike" cap="none" normalizeH="0" baseline="0" dirty="0">
                <a:ln>
                  <a:noFill/>
                </a:ln>
                <a:solidFill>
                  <a:schemeClr val="tx1"/>
                </a:solidFill>
                <a:effectLst/>
                <a:latin typeface="Arial" panose="020B0604020202020204" pitchFamily="34" charset="0"/>
              </a:rPr>
              <a:t> Represents the frequency of data points. </a:t>
            </a:r>
          </a:p>
        </p:txBody>
      </p:sp>
    </p:spTree>
    <p:extLst>
      <p:ext uri="{BB962C8B-B14F-4D97-AF65-F5344CB8AC3E}">
        <p14:creationId xmlns:p14="http://schemas.microsoft.com/office/powerpoint/2010/main" val="9108693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Creating a Histogram</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Collect the Data:</a:t>
            </a:r>
            <a:r>
              <a:rPr kumimoji="0" lang="en-US" altLang="en-US" sz="2800" b="0" i="0" u="none" strike="noStrike" cap="none" normalizeH="0" baseline="0" dirty="0">
                <a:ln>
                  <a:noFill/>
                </a:ln>
                <a:solidFill>
                  <a:schemeClr val="tx1"/>
                </a:solidFill>
                <a:effectLst/>
                <a:latin typeface="Arial" panose="020B0604020202020204" pitchFamily="34" charset="0"/>
              </a:rPr>
              <a:t> Obtain the dataset.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Determine the Number of Bins:</a:t>
            </a:r>
            <a:r>
              <a:rPr kumimoji="0" lang="en-US" altLang="en-US" sz="2800" b="0" i="0" u="none" strike="noStrike" cap="none" normalizeH="0" baseline="0" dirty="0">
                <a:ln>
                  <a:noFill/>
                </a:ln>
                <a:solidFill>
                  <a:schemeClr val="tx1"/>
                </a:solidFill>
                <a:effectLst/>
                <a:latin typeface="Arial" panose="020B0604020202020204" pitchFamily="34" charset="0"/>
              </a:rPr>
              <a:t> Choose the number of intervals.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Create the Bins:</a:t>
            </a:r>
            <a:r>
              <a:rPr kumimoji="0" lang="en-US" altLang="en-US" sz="2800" b="0" i="0" u="none" strike="noStrike" cap="none" normalizeH="0" baseline="0" dirty="0">
                <a:ln>
                  <a:noFill/>
                </a:ln>
                <a:solidFill>
                  <a:schemeClr val="tx1"/>
                </a:solidFill>
                <a:effectLst/>
                <a:latin typeface="Arial" panose="020B0604020202020204" pitchFamily="34" charset="0"/>
              </a:rPr>
              <a:t> Divide the range of data into equal intervals.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Count the Frequencies:</a:t>
            </a:r>
            <a:r>
              <a:rPr kumimoji="0" lang="en-US" altLang="en-US" sz="2800" b="0" i="0" u="none" strike="noStrike" cap="none" normalizeH="0" baseline="0" dirty="0">
                <a:ln>
                  <a:noFill/>
                </a:ln>
                <a:solidFill>
                  <a:schemeClr val="tx1"/>
                </a:solidFill>
                <a:effectLst/>
                <a:latin typeface="Arial" panose="020B0604020202020204" pitchFamily="34" charset="0"/>
              </a:rPr>
              <a:t> Count the number of data points in each bin.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Draw the Bars:</a:t>
            </a:r>
            <a:r>
              <a:rPr kumimoji="0" lang="en-US" altLang="en-US" sz="2800" b="0" i="0" u="none" strike="noStrike" cap="none" normalizeH="0" baseline="0" dirty="0">
                <a:ln>
                  <a:noFill/>
                </a:ln>
                <a:solidFill>
                  <a:schemeClr val="tx1"/>
                </a:solidFill>
                <a:effectLst/>
                <a:latin typeface="Arial" panose="020B0604020202020204" pitchFamily="34" charset="0"/>
              </a:rPr>
              <a:t> Plot the bars with heights corresponding to the frequencies. </a:t>
            </a:r>
          </a:p>
        </p:txBody>
      </p:sp>
    </p:spTree>
    <p:extLst>
      <p:ext uri="{BB962C8B-B14F-4D97-AF65-F5344CB8AC3E}">
        <p14:creationId xmlns:p14="http://schemas.microsoft.com/office/powerpoint/2010/main" val="32358112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a:t>
            </a:r>
          </a:p>
        </p:txBody>
      </p:sp>
      <p:pic>
        <p:nvPicPr>
          <p:cNvPr id="3078" name="Picture 6">
            <a:extLst>
              <a:ext uri="{FF2B5EF4-FFF2-40B4-BE49-F238E27FC236}">
                <a16:creationId xmlns:a16="http://schemas.microsoft.com/office/drawing/2014/main" id="{87679A40-E314-6844-723E-E441E1A52FA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675"/>
          <a:stretch/>
        </p:blipFill>
        <p:spPr bwMode="auto">
          <a:xfrm>
            <a:off x="1944729" y="1690689"/>
            <a:ext cx="8302541" cy="4802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93428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Difference Between Histogram and Bar Graph</a:t>
            </a:r>
            <a:endParaRPr lang="en-IN" dirty="0"/>
          </a:p>
        </p:txBody>
      </p:sp>
      <p:graphicFrame>
        <p:nvGraphicFramePr>
          <p:cNvPr id="4" name="Table 3">
            <a:extLst>
              <a:ext uri="{FF2B5EF4-FFF2-40B4-BE49-F238E27FC236}">
                <a16:creationId xmlns:a16="http://schemas.microsoft.com/office/drawing/2014/main" id="{F0BDB452-0ED4-8070-94B6-694AA207A4CF}"/>
              </a:ext>
            </a:extLst>
          </p:cNvPr>
          <p:cNvGraphicFramePr>
            <a:graphicFrameLocks noGrp="1"/>
          </p:cNvGraphicFramePr>
          <p:nvPr>
            <p:extLst>
              <p:ext uri="{D42A27DB-BD31-4B8C-83A1-F6EECF244321}">
                <p14:modId xmlns:p14="http://schemas.microsoft.com/office/powerpoint/2010/main" val="2031477824"/>
              </p:ext>
            </p:extLst>
          </p:nvPr>
        </p:nvGraphicFramePr>
        <p:xfrm>
          <a:off x="2268399" y="1690688"/>
          <a:ext cx="7655202" cy="4795920"/>
        </p:xfrm>
        <a:graphic>
          <a:graphicData uri="http://schemas.openxmlformats.org/drawingml/2006/table">
            <a:tbl>
              <a:tblPr>
                <a:tableStyleId>{2D5ABB26-0587-4C30-8999-92F81FD0307C}</a:tableStyleId>
              </a:tblPr>
              <a:tblGrid>
                <a:gridCol w="3323289">
                  <a:extLst>
                    <a:ext uri="{9D8B030D-6E8A-4147-A177-3AD203B41FA5}">
                      <a16:colId xmlns:a16="http://schemas.microsoft.com/office/drawing/2014/main" val="682895047"/>
                    </a:ext>
                  </a:extLst>
                </a:gridCol>
                <a:gridCol w="4331913">
                  <a:extLst>
                    <a:ext uri="{9D8B030D-6E8A-4147-A177-3AD203B41FA5}">
                      <a16:colId xmlns:a16="http://schemas.microsoft.com/office/drawing/2014/main" val="4259555726"/>
                    </a:ext>
                  </a:extLst>
                </a:gridCol>
              </a:tblGrid>
              <a:tr h="685131">
                <a:tc>
                  <a:txBody>
                    <a:bodyPr/>
                    <a:lstStyle/>
                    <a:p>
                      <a:pPr fontAlgn="t"/>
                      <a:r>
                        <a:rPr lang="en-IN" sz="2200" b="1" dirty="0">
                          <a:effectLst/>
                        </a:rPr>
                        <a:t>Histogram</a:t>
                      </a:r>
                      <a:endParaRPr lang="en-IN" sz="2200" dirty="0">
                        <a:effectLst/>
                      </a:endParaRPr>
                    </a:p>
                  </a:txBody>
                  <a:tcPr marL="74510" marR="74510" marT="111764" marB="111764"/>
                </a:tc>
                <a:tc>
                  <a:txBody>
                    <a:bodyPr/>
                    <a:lstStyle/>
                    <a:p>
                      <a:pPr fontAlgn="t"/>
                      <a:r>
                        <a:rPr lang="en-IN" sz="2200" b="1">
                          <a:effectLst/>
                        </a:rPr>
                        <a:t>Bar Graph</a:t>
                      </a:r>
                      <a:endParaRPr lang="en-IN" sz="2200">
                        <a:effectLst/>
                      </a:endParaRPr>
                    </a:p>
                  </a:txBody>
                  <a:tcPr marL="74510" marR="74510" marT="111764" marB="111764"/>
                </a:tc>
                <a:extLst>
                  <a:ext uri="{0D108BD9-81ED-4DB2-BD59-A6C34878D82A}">
                    <a16:rowId xmlns:a16="http://schemas.microsoft.com/office/drawing/2014/main" val="3605607718"/>
                  </a:ext>
                </a:extLst>
              </a:tr>
              <a:tr h="1096211">
                <a:tc>
                  <a:txBody>
                    <a:bodyPr/>
                    <a:lstStyle/>
                    <a:p>
                      <a:pPr fontAlgn="t"/>
                      <a:r>
                        <a:rPr lang="en-US" sz="2200">
                          <a:effectLst/>
                        </a:rPr>
                        <a:t>It is a two-dimensional figure</a:t>
                      </a:r>
                    </a:p>
                  </a:txBody>
                  <a:tcPr marL="74510" marR="74510" marT="111764" marB="111764"/>
                </a:tc>
                <a:tc>
                  <a:txBody>
                    <a:bodyPr/>
                    <a:lstStyle/>
                    <a:p>
                      <a:pPr fontAlgn="t"/>
                      <a:r>
                        <a:rPr lang="en-US" sz="2200">
                          <a:effectLst/>
                        </a:rPr>
                        <a:t>It is a one-dimensional figure</a:t>
                      </a:r>
                    </a:p>
                  </a:txBody>
                  <a:tcPr marL="74510" marR="74510" marT="111764" marB="111764"/>
                </a:tc>
                <a:extLst>
                  <a:ext uri="{0D108BD9-81ED-4DB2-BD59-A6C34878D82A}">
                    <a16:rowId xmlns:a16="http://schemas.microsoft.com/office/drawing/2014/main" val="2592988416"/>
                  </a:ext>
                </a:extLst>
              </a:tr>
              <a:tr h="1507289">
                <a:tc>
                  <a:txBody>
                    <a:bodyPr/>
                    <a:lstStyle/>
                    <a:p>
                      <a:pPr fontAlgn="t"/>
                      <a:r>
                        <a:rPr lang="en-US" sz="2200">
                          <a:effectLst/>
                        </a:rPr>
                        <a:t>The frequency is shown by the area of each rectangle</a:t>
                      </a:r>
                    </a:p>
                  </a:txBody>
                  <a:tcPr marL="74510" marR="74510" marT="111764" marB="111764"/>
                </a:tc>
                <a:tc>
                  <a:txBody>
                    <a:bodyPr/>
                    <a:lstStyle/>
                    <a:p>
                      <a:pPr fontAlgn="t"/>
                      <a:r>
                        <a:rPr lang="en-US" sz="2200">
                          <a:effectLst/>
                        </a:rPr>
                        <a:t>The height shows the frequency and the width has no significance.</a:t>
                      </a:r>
                    </a:p>
                  </a:txBody>
                  <a:tcPr marL="74510" marR="74510" marT="111764" marB="111764"/>
                </a:tc>
                <a:extLst>
                  <a:ext uri="{0D108BD9-81ED-4DB2-BD59-A6C34878D82A}">
                    <a16:rowId xmlns:a16="http://schemas.microsoft.com/office/drawing/2014/main" val="1575934974"/>
                  </a:ext>
                </a:extLst>
              </a:tr>
              <a:tr h="1507289">
                <a:tc>
                  <a:txBody>
                    <a:bodyPr/>
                    <a:lstStyle/>
                    <a:p>
                      <a:pPr fontAlgn="t"/>
                      <a:r>
                        <a:rPr lang="en-US" sz="2200">
                          <a:effectLst/>
                        </a:rPr>
                        <a:t>It shows rectangles touching each other</a:t>
                      </a:r>
                    </a:p>
                  </a:txBody>
                  <a:tcPr marL="74510" marR="74510" marT="111764" marB="111764"/>
                </a:tc>
                <a:tc>
                  <a:txBody>
                    <a:bodyPr/>
                    <a:lstStyle/>
                    <a:p>
                      <a:pPr fontAlgn="t"/>
                      <a:r>
                        <a:rPr lang="en-US" sz="2200" dirty="0">
                          <a:effectLst/>
                        </a:rPr>
                        <a:t>It consists of rectangles separated from each other with equal spaces.</a:t>
                      </a:r>
                    </a:p>
                  </a:txBody>
                  <a:tcPr marL="74510" marR="74510" marT="111764" marB="111764"/>
                </a:tc>
                <a:extLst>
                  <a:ext uri="{0D108BD9-81ED-4DB2-BD59-A6C34878D82A}">
                    <a16:rowId xmlns:a16="http://schemas.microsoft.com/office/drawing/2014/main" val="3138916683"/>
                  </a:ext>
                </a:extLst>
              </a:tr>
            </a:tbl>
          </a:graphicData>
        </a:graphic>
      </p:graphicFrame>
    </p:spTree>
    <p:extLst>
      <p:ext uri="{BB962C8B-B14F-4D97-AF65-F5344CB8AC3E}">
        <p14:creationId xmlns:p14="http://schemas.microsoft.com/office/powerpoint/2010/main" val="566279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Interpretation of Histograms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Shape: The overall shape of the histogram indicates the distribution (e.g., normal, skewed, bimodal).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Spread: The width of the bars (bins) and the range of the data.</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Peaks: The highest bars indicate the mode(s) of the data.</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Outliers: Bars that are separated from the main group indicate outliers. </a:t>
            </a:r>
          </a:p>
        </p:txBody>
      </p:sp>
    </p:spTree>
    <p:extLst>
      <p:ext uri="{BB962C8B-B14F-4D97-AF65-F5344CB8AC3E}">
        <p14:creationId xmlns:p14="http://schemas.microsoft.com/office/powerpoint/2010/main" val="4174799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and Applications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Visual Distribution:</a:t>
            </a: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Provides a visual summary of data distribution.</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Identifying Patterns:</a:t>
            </a: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Helps in identifying skewness, modality, and spread.</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Comparative Analysis:</a:t>
            </a: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Useful for comparing different datasets. </a:t>
            </a:r>
          </a:p>
        </p:txBody>
      </p:sp>
    </p:spTree>
    <p:extLst>
      <p:ext uri="{BB962C8B-B14F-4D97-AF65-F5344CB8AC3E}">
        <p14:creationId xmlns:p14="http://schemas.microsoft.com/office/powerpoint/2010/main" val="31388691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Problem</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r>
              <a:rPr lang="en-US" dirty="0"/>
              <a:t>You are given a dataset representing the ages of participants in a local marathon. The dataset is as follows:</a:t>
            </a:r>
          </a:p>
          <a:p>
            <a:pPr algn="just"/>
            <a:r>
              <a:rPr lang="en-US" dirty="0"/>
              <a:t>22,23,22,25,27,30,22,28,34,35,29,28,23,26,31,32,30,22,24,29,27,26,25,24,33,34,29,30,32,28,27,26,25,24,23,2222, 23, 22, 25, 27, 30, 22, 28, 34, 35, 29, 28, 23, 26, 31, 32, 30, 22, 24, 29, 27, 26, 25, 24, 33, 34, 29, 30, 32, 28, 27, 26, 25, 24, 23, 2222,23,22,25,27,30,22,28,34,35,29,28,23,26,31,32,30,22,24,29,27,26,25,24,33,34,29,30,32,28,27,26,25,24,23,22</a:t>
            </a:r>
          </a:p>
          <a:p>
            <a:pPr algn="just"/>
            <a:r>
              <a:rPr lang="en-US" b="1" dirty="0"/>
              <a:t>Task:</a:t>
            </a:r>
            <a:endParaRPr lang="en-US" dirty="0"/>
          </a:p>
          <a:p>
            <a:pPr algn="just">
              <a:buFont typeface="+mj-lt"/>
              <a:buAutoNum type="arabicPeriod"/>
            </a:pPr>
            <a:r>
              <a:rPr lang="en-US" dirty="0"/>
              <a:t>Create a histogram of the ages.</a:t>
            </a:r>
          </a:p>
          <a:p>
            <a:pPr algn="just">
              <a:buFont typeface="+mj-lt"/>
              <a:buAutoNum type="arabicPeriod"/>
            </a:pPr>
            <a:r>
              <a:rPr lang="en-US" dirty="0"/>
              <a:t>Determine the most common age range of participants.</a:t>
            </a:r>
          </a:p>
          <a:p>
            <a:pPr algn="just">
              <a:buFont typeface="+mj-lt"/>
              <a:buAutoNum type="arabicPeriod"/>
            </a:pPr>
            <a:r>
              <a:rPr lang="en-US" dirty="0"/>
              <a:t>Calculate the mean and standard deviation of the ages.</a:t>
            </a:r>
          </a:p>
          <a:p>
            <a:pPr algn="just">
              <a:buFont typeface="+mj-lt"/>
              <a:buAutoNum type="arabicPeriod"/>
            </a:pPr>
            <a:r>
              <a:rPr lang="en-US" dirty="0"/>
              <a:t>Explain the distribution of ages based on the histogram.</a:t>
            </a:r>
          </a:p>
        </p:txBody>
      </p:sp>
    </p:spTree>
    <p:extLst>
      <p:ext uri="{BB962C8B-B14F-4D97-AF65-F5344CB8AC3E}">
        <p14:creationId xmlns:p14="http://schemas.microsoft.com/office/powerpoint/2010/main" val="28052858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Steps to Solve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Create the histogram:</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Choose appropriate bin sizes.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Plot the histogram using the dataset.</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Determine the most common age range: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Identify the bin with the highest frequency.</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Calculate the mean and standard deviation: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Use the formulas for mean and standard deviation to calculate these values from the dataset.</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Explain the distribution: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Analyze the shape of the histogram to describe the distribution (e.g., skewness, modality).</a:t>
            </a:r>
          </a:p>
        </p:txBody>
      </p:sp>
    </p:spTree>
    <p:extLst>
      <p:ext uri="{BB962C8B-B14F-4D97-AF65-F5344CB8AC3E}">
        <p14:creationId xmlns:p14="http://schemas.microsoft.com/office/powerpoint/2010/main" val="7350492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Density Plots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indent="0" algn="ctr" eaLnBrk="0" fontAlgn="base" hangingPunct="0">
              <a:lnSpc>
                <a:spcPct val="100000"/>
              </a:lnSpc>
              <a:spcBef>
                <a:spcPct val="0"/>
              </a:spcBef>
              <a:spcAft>
                <a:spcPct val="0"/>
              </a:spcAft>
              <a:buNone/>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 density plot is a smoothed, continuous version of a histogram estimated from the data. It shows the distribution of the data over a continuous interval or time period. The area under the curve represents the entire dataset and sums to one.</a:t>
            </a:r>
          </a:p>
          <a:p>
            <a:pPr marL="0" marR="0" lvl="0" indent="0" algn="ctr" defTabSz="914400" rtl="0" eaLnBrk="0" fontAlgn="base" latinLnBrk="0" hangingPunct="0">
              <a:lnSpc>
                <a:spcPct val="100000"/>
              </a:lnSpc>
              <a:spcBef>
                <a:spcPct val="0"/>
              </a:spcBef>
              <a:spcAft>
                <a:spcPct val="0"/>
              </a:spcAft>
              <a:buClrTx/>
              <a:buSzTx/>
              <a:buNone/>
              <a:tabLst/>
              <a:defRPr/>
            </a:pPr>
            <a:endPar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Density plots are a useful way to visualize the distribution of a dataset, providing a smoothed version of a histogram. Unlike histograms, density plots estimate the probability density function of the continuous random variable, offering a continuous curve that represents the data distribution.</a:t>
            </a:r>
          </a:p>
        </p:txBody>
      </p:sp>
    </p:spTree>
    <p:extLst>
      <p:ext uri="{BB962C8B-B14F-4D97-AF65-F5344CB8AC3E}">
        <p14:creationId xmlns:p14="http://schemas.microsoft.com/office/powerpoint/2010/main" val="39772794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Key Concepts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eaLnBrk="0" fontAlgn="base" hangingPunct="0">
              <a:lnSpc>
                <a:spcPct val="100000"/>
              </a:lnSpc>
              <a:spcBef>
                <a:spcPct val="0"/>
              </a:spcBef>
              <a:spcAft>
                <a:spcPct val="0"/>
              </a:spcAf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Kernel Density Estimation (KDE): The process used to create a density plot. KDE smooths the data using a kernel function to estimate the probability density function.</a:t>
            </a:r>
          </a:p>
          <a:p>
            <a:pPr algn="just" eaLnBrk="0" fontAlgn="base" hangingPunct="0">
              <a:lnSpc>
                <a:spcPct val="100000"/>
              </a:lnSpc>
              <a:spcBef>
                <a:spcPct val="0"/>
              </a:spcBef>
              <a:spcAft>
                <a:spcPct val="0"/>
              </a:spcAft>
              <a:defRPr/>
            </a:pPr>
            <a:endParaRPr lang="en-US" altLang="en-US" dirty="0">
              <a:solidFill>
                <a:prstClr val="white"/>
              </a:solidFill>
              <a:latin typeface="Arial" panose="020B0604020202020204" pitchFamily="34" charset="0"/>
            </a:endParaRPr>
          </a:p>
          <a:p>
            <a:pPr algn="just" eaLnBrk="0" fontAlgn="base" hangingPunct="0">
              <a:lnSpc>
                <a:spcPct val="100000"/>
              </a:lnSpc>
              <a:spcBef>
                <a:spcPct val="0"/>
              </a:spcBef>
              <a:spcAft>
                <a:spcPct val="0"/>
              </a:spcAf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Bandwidth: A parameter that controls the smoothness of the density plot. A smaller bandwidth leads to a more detailed plot, while a larger bandwidth results in a smoother plot.</a:t>
            </a:r>
          </a:p>
        </p:txBody>
      </p:sp>
    </p:spTree>
    <p:extLst>
      <p:ext uri="{BB962C8B-B14F-4D97-AF65-F5344CB8AC3E}">
        <p14:creationId xmlns:p14="http://schemas.microsoft.com/office/powerpoint/2010/main" val="12469321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Creating a Density Plot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eaLnBrk="0" fontAlgn="base" hangingPunct="0">
              <a:lnSpc>
                <a:spcPct val="100000"/>
              </a:lnSpc>
              <a:spcBef>
                <a:spcPct val="0"/>
              </a:spcBef>
              <a:spcAft>
                <a:spcPct val="0"/>
              </a:spcAf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a Kernel Function: Common choices include Gaussian (normal distribution), </a:t>
            </a:r>
            <a:r>
              <a:rPr kumimoji="0" lang="en-US" altLang="en-US"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Epanechnikov</a:t>
            </a: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and </a:t>
            </a:r>
            <a:r>
              <a:rPr kumimoji="0" lang="en-US" altLang="en-US"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Tophat</a:t>
            </a: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t>
            </a:r>
          </a:p>
          <a:p>
            <a:pPr algn="just" eaLnBrk="0" fontAlgn="base" hangingPunct="0">
              <a:lnSpc>
                <a:spcPct val="100000"/>
              </a:lnSpc>
              <a:spcBef>
                <a:spcPct val="0"/>
              </a:spcBef>
              <a:spcAft>
                <a:spcPct val="0"/>
              </a:spcAft>
              <a:defRPr/>
            </a:pPr>
            <a:endParaRPr lang="en-US" altLang="en-US" dirty="0">
              <a:solidFill>
                <a:prstClr val="white"/>
              </a:solidFill>
              <a:latin typeface="Arial" panose="020B0604020202020204" pitchFamily="34" charset="0"/>
            </a:endParaRPr>
          </a:p>
          <a:p>
            <a:pPr algn="just" eaLnBrk="0" fontAlgn="base" hangingPunct="0">
              <a:lnSpc>
                <a:spcPct val="100000"/>
              </a:lnSpc>
              <a:spcBef>
                <a:spcPct val="0"/>
              </a:spcBef>
              <a:spcAft>
                <a:spcPct val="0"/>
              </a:spcAf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Determine the Bandwidth: Select an appropriate bandwidth for smoothing.</a:t>
            </a:r>
          </a:p>
          <a:p>
            <a:pPr algn="just" eaLnBrk="0" fontAlgn="base" hangingPunct="0">
              <a:lnSpc>
                <a:spcPct val="100000"/>
              </a:lnSpc>
              <a:spcBef>
                <a:spcPct val="0"/>
              </a:spcBef>
              <a:spcAft>
                <a:spcPct val="0"/>
              </a:spcAft>
              <a:defRPr/>
            </a:pPr>
            <a:endParaRPr lang="en-US" altLang="en-US" dirty="0">
              <a:solidFill>
                <a:prstClr val="white"/>
              </a:solidFill>
              <a:latin typeface="Arial" panose="020B0604020202020204" pitchFamily="34" charset="0"/>
            </a:endParaRPr>
          </a:p>
          <a:p>
            <a:pPr algn="just" eaLnBrk="0" fontAlgn="base" hangingPunct="0">
              <a:lnSpc>
                <a:spcPct val="100000"/>
              </a:lnSpc>
              <a:spcBef>
                <a:spcPct val="0"/>
              </a:spcBef>
              <a:spcAft>
                <a:spcPct val="0"/>
              </a:spcAf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Estimate the Density: Apply the kernel function and bandwidth to estimate the density at each point in the data range.</a:t>
            </a:r>
          </a:p>
        </p:txBody>
      </p:sp>
    </p:spTree>
    <p:extLst>
      <p:ext uri="{BB962C8B-B14F-4D97-AF65-F5344CB8AC3E}">
        <p14:creationId xmlns:p14="http://schemas.microsoft.com/office/powerpoint/2010/main" val="18813352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Creating a Density Plot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7500" lnSpcReduction="20000"/>
          </a:bodyPr>
          <a:lstStyle/>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bandwidth parameter in density estimation is similar to the bin width in histograms.</a:t>
            </a:r>
          </a:p>
          <a:p>
            <a:pPr marL="0" marR="0" lvl="0" indent="0" algn="just" defTabSz="914400" rtl="0" eaLnBrk="0" fontAlgn="base" latinLnBrk="0" hangingPunct="0">
              <a:lnSpc>
                <a:spcPct val="12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If the bandwidth is too small:</a:t>
            </a:r>
          </a:p>
          <a:p>
            <a:pPr marL="457200" lvl="1" indent="0" algn="just" eaLnBrk="0" fontAlgn="base" hangingPunct="0">
              <a:lnSpc>
                <a:spcPct val="12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density estimate can become overly peaky.</a:t>
            </a:r>
          </a:p>
          <a:p>
            <a:pPr marL="457200" lvl="1" indent="0" algn="just" eaLnBrk="0" fontAlgn="base" hangingPunct="0">
              <a:lnSpc>
                <a:spcPct val="12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visual representation may become busy.</a:t>
            </a:r>
          </a:p>
          <a:p>
            <a:pPr marL="457200" lvl="1" indent="0" algn="just" eaLnBrk="0" fontAlgn="base" hangingPunct="0">
              <a:lnSpc>
                <a:spcPct val="12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Main trends in the data may be obscured.</a:t>
            </a:r>
          </a:p>
          <a:p>
            <a:pPr marL="457200" lvl="1" indent="0" algn="just" eaLnBrk="0" fontAlgn="base" hangingPunct="0">
              <a:lnSpc>
                <a:spcPct val="12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If the bandwidth is too large:</a:t>
            </a:r>
          </a:p>
          <a:p>
            <a:pPr marL="457200" lvl="1" indent="0" algn="just" eaLnBrk="0" fontAlgn="base" hangingPunct="0">
              <a:lnSpc>
                <a:spcPct val="12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Smaller features in the data distribution may disappear.</a:t>
            </a:r>
          </a:p>
          <a:p>
            <a:pPr marL="457200" lvl="1" indent="0" algn="just" eaLnBrk="0" fontAlgn="base" hangingPunct="0">
              <a:lnSpc>
                <a:spcPct val="12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choice of the kernel affects the shape of the density curve.</a:t>
            </a:r>
          </a:p>
          <a:p>
            <a:pPr marL="457200" lvl="1" indent="0" algn="just" eaLnBrk="0" fontAlgn="base" hangingPunct="0">
              <a:lnSpc>
                <a:spcPct val="12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 Gaussian kernel tends to produce smooth, Gaussian-like density estimates.</a:t>
            </a:r>
          </a:p>
          <a:p>
            <a:pPr marL="457200" lvl="1" indent="0" algn="just" eaLnBrk="0" fontAlgn="base" hangingPunct="0">
              <a:lnSpc>
                <a:spcPct val="12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 rectangular kernel can generate step-like appearances in the density curve.</a:t>
            </a:r>
          </a:p>
          <a:p>
            <a:pPr marL="457200" lvl="1" indent="0" algn="just" eaLnBrk="0" fontAlgn="base" hangingPunct="0">
              <a:lnSpc>
                <a:spcPct val="12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With more data points, the choice of the kernel becomes less significant.</a:t>
            </a:r>
          </a:p>
          <a:p>
            <a:pPr marL="0" marR="0" lvl="0" indent="0" algn="just" defTabSz="914400" rtl="0" eaLnBrk="0" fontAlgn="base" latinLnBrk="0" hangingPunct="0">
              <a:lnSpc>
                <a:spcPct val="12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Density plots are reliable and informative for large data sets.</a:t>
            </a:r>
          </a:p>
          <a:p>
            <a:pPr marL="0" marR="0" lvl="0" indent="0" algn="just" defTabSz="914400" rtl="0" eaLnBrk="0" fontAlgn="base" latinLnBrk="0" hangingPunct="0">
              <a:lnSpc>
                <a:spcPct val="12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2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Density plots can be misleading for data sets with only a few points. </a:t>
            </a:r>
          </a:p>
        </p:txBody>
      </p:sp>
    </p:spTree>
    <p:extLst>
      <p:ext uri="{BB962C8B-B14F-4D97-AF65-F5344CB8AC3E}">
        <p14:creationId xmlns:p14="http://schemas.microsoft.com/office/powerpoint/2010/main" val="13656376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Creating a Density Plot</a:t>
            </a:r>
            <a:endParaRPr lang="en-IN" dirty="0"/>
          </a:p>
        </p:txBody>
      </p:sp>
      <p:pic>
        <p:nvPicPr>
          <p:cNvPr id="3074" name="Picture 2" descr="Kernel density estimates depend on the chosen kernel and bandwidth. Here, the same age distribution of Titanic passengers is shown for four different combinations of these parameters: (a) Gaussian kernel, bandwidth = 0.5; (b) Gaussian kernel, bandwidth = 2; (c) Gaussian kernel, bandwidth = 5; (d) Rectangular kernel, bandwidth = 2.">
            <a:extLst>
              <a:ext uri="{FF2B5EF4-FFF2-40B4-BE49-F238E27FC236}">
                <a16:creationId xmlns:a16="http://schemas.microsoft.com/office/drawing/2014/main" id="{BF7155CD-9AD5-A151-91A5-59EA3E019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6872" y="1417972"/>
            <a:ext cx="6998256" cy="432510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2F90706-2B05-2953-FDD5-5A5242DB9D7F}"/>
              </a:ext>
            </a:extLst>
          </p:cNvPr>
          <p:cNvSpPr txBox="1"/>
          <p:nvPr/>
        </p:nvSpPr>
        <p:spPr>
          <a:xfrm>
            <a:off x="0" y="5872591"/>
            <a:ext cx="12192000" cy="923330"/>
          </a:xfrm>
          <a:prstGeom prst="rect">
            <a:avLst/>
          </a:prstGeom>
          <a:noFill/>
        </p:spPr>
        <p:txBody>
          <a:bodyPr wrap="square">
            <a:spAutoFit/>
          </a:bodyPr>
          <a:lstStyle/>
          <a:p>
            <a:pPr algn="just"/>
            <a:r>
              <a:rPr lang="en-IN" dirty="0"/>
              <a:t>Kernel density estimates depend on the chosen kernel and bandwidth. Here, the same age distribution of Titanic passengers is shown for four different combinations of these parameters: (a) Gaussian kernel, bandwidth = 0.5; (b) Gaussian kernel, bandwidth = 2; (c) Gaussian kernel, bandwidth = 5; (d) Rectangular kernel, bandwidth = 2.</a:t>
            </a:r>
          </a:p>
        </p:txBody>
      </p:sp>
    </p:spTree>
    <p:extLst>
      <p:ext uri="{BB962C8B-B14F-4D97-AF65-F5344CB8AC3E}">
        <p14:creationId xmlns:p14="http://schemas.microsoft.com/office/powerpoint/2010/main" val="28790584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and Applications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Smooth Representation:</a:t>
            </a:r>
            <a:r>
              <a:rPr kumimoji="0" lang="en-US" altLang="en-US" b="0" i="0" u="none" strike="noStrike" cap="none" normalizeH="0" baseline="0" dirty="0">
                <a:ln>
                  <a:noFill/>
                </a:ln>
                <a:solidFill>
                  <a:schemeClr val="tx1"/>
                </a:solidFill>
                <a:effectLst/>
                <a:latin typeface="Arial" panose="020B0604020202020204" pitchFamily="34" charset="0"/>
              </a:rPr>
              <a:t> Provides a continuous view of the data distribution, unlike histograms which can appear blocky.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Comparison:</a:t>
            </a:r>
            <a:r>
              <a:rPr kumimoji="0" lang="en-US" altLang="en-US" b="0" i="0" u="none" strike="noStrike" cap="none" normalizeH="0" baseline="0" dirty="0">
                <a:ln>
                  <a:noFill/>
                </a:ln>
                <a:solidFill>
                  <a:schemeClr val="tx1"/>
                </a:solidFill>
                <a:effectLst/>
                <a:latin typeface="Arial" panose="020B0604020202020204" pitchFamily="34" charset="0"/>
              </a:rPr>
              <a:t> Easier to compare multiple distributions on the same plot.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Outliers:</a:t>
            </a:r>
            <a:r>
              <a:rPr kumimoji="0" lang="en-US" altLang="en-US" b="0" i="0" u="none" strike="noStrike" cap="none" normalizeH="0" baseline="0" dirty="0">
                <a:ln>
                  <a:noFill/>
                </a:ln>
                <a:solidFill>
                  <a:schemeClr val="tx1"/>
                </a:solidFill>
                <a:effectLst/>
                <a:latin typeface="Arial" panose="020B0604020202020204" pitchFamily="34" charset="0"/>
              </a:rPr>
              <a:t> Can help identify outliers by showing unusual peaks or spread. </a:t>
            </a:r>
          </a:p>
        </p:txBody>
      </p:sp>
    </p:spTree>
    <p:extLst>
      <p:ext uri="{BB962C8B-B14F-4D97-AF65-F5344CB8AC3E}">
        <p14:creationId xmlns:p14="http://schemas.microsoft.com/office/powerpoint/2010/main" val="32077612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Density Estimates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rPr>
              <a:t>Density estimation involves estimating the probability density function of a continuous random variable from a sample of data. The goal is to infer the underlying distribution of the data.</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7253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Key Concepts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Probability Density Function (PDF):</a:t>
            </a:r>
            <a:r>
              <a:rPr kumimoji="0" lang="en-US" altLang="en-US" sz="2800" b="0" i="0" u="none" strike="noStrike" cap="none" normalizeH="0" baseline="0" dirty="0">
                <a:ln>
                  <a:noFill/>
                </a:ln>
                <a:solidFill>
                  <a:schemeClr val="tx1"/>
                </a:solidFill>
                <a:effectLst/>
                <a:latin typeface="Arial" panose="020B0604020202020204" pitchFamily="34" charset="0"/>
              </a:rPr>
              <a:t> A function that describes the likelihood of a random variable to take on a particular value. The area under the PDF over an interval represents the probability that the variable falls within that interval.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Kernel Function:</a:t>
            </a:r>
            <a:r>
              <a:rPr kumimoji="0" lang="en-US" altLang="en-US" sz="2800" b="0" i="0" u="none" strike="noStrike" cap="none" normalizeH="0" baseline="0" dirty="0">
                <a:ln>
                  <a:noFill/>
                </a:ln>
                <a:solidFill>
                  <a:schemeClr val="tx1"/>
                </a:solidFill>
                <a:effectLst/>
                <a:latin typeface="Arial" panose="020B0604020202020204" pitchFamily="34" charset="0"/>
              </a:rPr>
              <a:t> A function used in KDE to smooth the data. Common kernels include Gaussian, </a:t>
            </a:r>
            <a:r>
              <a:rPr kumimoji="0" lang="en-US" altLang="en-US" sz="2800" b="0" i="0" u="none" strike="noStrike" cap="none" normalizeH="0" baseline="0" dirty="0" err="1">
                <a:ln>
                  <a:noFill/>
                </a:ln>
                <a:solidFill>
                  <a:schemeClr val="tx1"/>
                </a:solidFill>
                <a:effectLst/>
                <a:latin typeface="Arial" panose="020B0604020202020204" pitchFamily="34" charset="0"/>
              </a:rPr>
              <a:t>Epanechnikov</a:t>
            </a:r>
            <a:r>
              <a:rPr kumimoji="0" lang="en-US" altLang="en-US" sz="2800" b="0" i="0" u="none" strike="noStrike" cap="none" normalizeH="0" baseline="0" dirty="0">
                <a:ln>
                  <a:noFill/>
                </a:ln>
                <a:solidFill>
                  <a:schemeClr val="tx1"/>
                </a:solidFill>
                <a:effectLst/>
                <a:latin typeface="Arial" panose="020B0604020202020204" pitchFamily="34" charset="0"/>
              </a:rPr>
              <a:t>, and </a:t>
            </a:r>
            <a:r>
              <a:rPr kumimoji="0" lang="en-US" altLang="en-US" sz="2800" b="0" i="0" u="none" strike="noStrike" cap="none" normalizeH="0" baseline="0" dirty="0" err="1">
                <a:ln>
                  <a:noFill/>
                </a:ln>
                <a:solidFill>
                  <a:schemeClr val="tx1"/>
                </a:solidFill>
                <a:effectLst/>
                <a:latin typeface="Arial" panose="020B0604020202020204" pitchFamily="34" charset="0"/>
              </a:rPr>
              <a:t>Tophat</a:t>
            </a:r>
            <a:r>
              <a:rPr kumimoji="0" lang="en-US" altLang="en-US" sz="2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2477916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Kernel Density Estimation (KDE)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a Kernel Function:</a:t>
            </a: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Gaussian Kernel:</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Most commonly used, assumes a normal distribution.</a:t>
            </a:r>
          </a:p>
          <a:p>
            <a:pPr marL="457200" lvl="1" indent="0"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Epanechnikov</a:t>
            </a: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Kernel:</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Optimal in a mean square error sense.</a:t>
            </a:r>
          </a:p>
          <a:p>
            <a:pPr marL="457200" lvl="1" indent="0"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Tophat</a:t>
            </a: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Kernel:</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Simple, uniform distribution within the bandwidth.</a:t>
            </a:r>
          </a:p>
          <a:p>
            <a:pPr marL="457200" lvl="1" indent="0" eaLnBrk="0" fontAlgn="base" hangingPunct="0">
              <a:lnSpc>
                <a:spcPct val="100000"/>
              </a:lnSpc>
              <a:spcBef>
                <a:spcPct val="0"/>
              </a:spcBef>
              <a:spcAft>
                <a:spcPct val="0"/>
              </a:spcAft>
              <a:buFontTx/>
              <a:buChar char="•"/>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Choose Bandwidth:</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Determines the smoothness of the estimated density.</a:t>
            </a:r>
          </a:p>
          <a:p>
            <a:pPr marL="457200" lvl="1" indent="0"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Small Bandwidth:</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Captures more detail, but may introduce noise.</a:t>
            </a:r>
          </a:p>
          <a:p>
            <a:pPr marL="457200" lvl="1" indent="0"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Large Bandwidth:</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Smoother estimate, but may </a:t>
            </a:r>
            <a:r>
              <a:rPr kumimoji="0" lang="en-US" altLang="en-US" sz="2000" b="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oversmooth</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the data.</a:t>
            </a:r>
          </a:p>
          <a:p>
            <a:pPr marL="457200" lvl="1" indent="0" eaLnBrk="0" fontAlgn="base" hangingPunct="0">
              <a:lnSpc>
                <a:spcPct val="100000"/>
              </a:lnSpc>
              <a:spcBef>
                <a:spcPct val="0"/>
              </a:spcBef>
              <a:spcAft>
                <a:spcPct val="0"/>
              </a:spcAft>
              <a:buFontTx/>
              <a:buChar char="•"/>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Calculate KDE:</a:t>
            </a:r>
            <a:r>
              <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Apply the kernel function to each data point and sum the contributions to get the density estimate.</a:t>
            </a:r>
          </a:p>
        </p:txBody>
      </p:sp>
    </p:spTree>
    <p:extLst>
      <p:ext uri="{BB962C8B-B14F-4D97-AF65-F5344CB8AC3E}">
        <p14:creationId xmlns:p14="http://schemas.microsoft.com/office/powerpoint/2010/main" val="9783821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 Calculation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4000" dirty="0"/>
              <a:t>Given a dataset: 3, 5, 7, 7, 8, 8, 8, 10, 12</a:t>
            </a:r>
          </a:p>
          <a:p>
            <a:pPr lvl="1" algn="just">
              <a:buFont typeface="+mj-lt"/>
              <a:buAutoNum type="arabicPeriod"/>
            </a:pPr>
            <a:r>
              <a:rPr lang="en-US" sz="3600" b="1" dirty="0"/>
              <a:t>Choose a Kernel Function:</a:t>
            </a:r>
            <a:r>
              <a:rPr lang="en-US" sz="3600" dirty="0"/>
              <a:t> Gaussian</a:t>
            </a:r>
          </a:p>
          <a:p>
            <a:pPr lvl="1" algn="just">
              <a:buFont typeface="+mj-lt"/>
              <a:buAutoNum type="arabicPeriod"/>
            </a:pPr>
            <a:r>
              <a:rPr lang="en-US" sz="3600" b="1" dirty="0"/>
              <a:t>Set the Bandwidth:</a:t>
            </a:r>
            <a:r>
              <a:rPr lang="en-US" sz="3600" dirty="0"/>
              <a:t> 1 (for simplicity)</a:t>
            </a:r>
          </a:p>
          <a:p>
            <a:pPr lvl="1" algn="just">
              <a:buFont typeface="+mj-lt"/>
              <a:buAutoNum type="arabicPeriod"/>
            </a:pPr>
            <a:r>
              <a:rPr lang="en-US" sz="3600" b="1" dirty="0"/>
              <a:t>Estimate Density:</a:t>
            </a:r>
            <a:r>
              <a:rPr lang="en-US" sz="3600" dirty="0"/>
              <a:t> Sum the Gaussian kernels centered at each data point.</a:t>
            </a:r>
          </a:p>
        </p:txBody>
      </p:sp>
    </p:spTree>
    <p:extLst>
      <p:ext uri="{BB962C8B-B14F-4D97-AF65-F5344CB8AC3E}">
        <p14:creationId xmlns:p14="http://schemas.microsoft.com/office/powerpoint/2010/main" val="38126051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Gaussian Kernel Function</a:t>
            </a:r>
            <a:endParaRPr lang="en-IN" dirty="0"/>
          </a:p>
        </p:txBody>
      </p:sp>
      <p:pic>
        <p:nvPicPr>
          <p:cNvPr id="7" name="Picture 6">
            <a:extLst>
              <a:ext uri="{FF2B5EF4-FFF2-40B4-BE49-F238E27FC236}">
                <a16:creationId xmlns:a16="http://schemas.microsoft.com/office/drawing/2014/main" id="{28C8214F-228E-078E-A57B-4600B6964CE2}"/>
              </a:ext>
            </a:extLst>
          </p:cNvPr>
          <p:cNvPicPr>
            <a:picLocks noChangeAspect="1"/>
          </p:cNvPicPr>
          <p:nvPr/>
        </p:nvPicPr>
        <p:blipFill>
          <a:blip r:embed="rId3"/>
          <a:stretch>
            <a:fillRect/>
          </a:stretch>
        </p:blipFill>
        <p:spPr>
          <a:xfrm>
            <a:off x="1020640" y="1439710"/>
            <a:ext cx="10150720" cy="5418290"/>
          </a:xfrm>
          <a:prstGeom prst="rect">
            <a:avLst/>
          </a:prstGeom>
        </p:spPr>
      </p:pic>
    </p:spTree>
    <p:extLst>
      <p:ext uri="{BB962C8B-B14F-4D97-AF65-F5344CB8AC3E}">
        <p14:creationId xmlns:p14="http://schemas.microsoft.com/office/powerpoint/2010/main" val="36468839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Kernel Density Estimation (KDE)</a:t>
            </a:r>
            <a:endParaRPr lang="en-IN" dirty="0"/>
          </a:p>
        </p:txBody>
      </p:sp>
      <p:pic>
        <p:nvPicPr>
          <p:cNvPr id="7" name="Picture 6">
            <a:extLst>
              <a:ext uri="{FF2B5EF4-FFF2-40B4-BE49-F238E27FC236}">
                <a16:creationId xmlns:a16="http://schemas.microsoft.com/office/drawing/2014/main" id="{28C8214F-228E-078E-A57B-4600B6964CE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47077" y="1439710"/>
            <a:ext cx="9697846" cy="5418290"/>
          </a:xfrm>
          <a:prstGeom prst="rect">
            <a:avLst/>
          </a:prstGeom>
        </p:spPr>
      </p:pic>
    </p:spTree>
    <p:extLst>
      <p:ext uri="{BB962C8B-B14F-4D97-AF65-F5344CB8AC3E}">
        <p14:creationId xmlns:p14="http://schemas.microsoft.com/office/powerpoint/2010/main" val="34015837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Kernel Density Estimation for Each Point</a:t>
            </a:r>
            <a:endParaRPr lang="en-IN" dirty="0"/>
          </a:p>
        </p:txBody>
      </p:sp>
      <p:pic>
        <p:nvPicPr>
          <p:cNvPr id="7" name="Picture 6">
            <a:extLst>
              <a:ext uri="{FF2B5EF4-FFF2-40B4-BE49-F238E27FC236}">
                <a16:creationId xmlns:a16="http://schemas.microsoft.com/office/drawing/2014/main" id="{28C8214F-228E-078E-A57B-4600B6964CE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14857" y="1439710"/>
            <a:ext cx="8962286" cy="5418290"/>
          </a:xfrm>
          <a:prstGeom prst="rect">
            <a:avLst/>
          </a:prstGeom>
        </p:spPr>
      </p:pic>
    </p:spTree>
    <p:extLst>
      <p:ext uri="{BB962C8B-B14F-4D97-AF65-F5344CB8AC3E}">
        <p14:creationId xmlns:p14="http://schemas.microsoft.com/office/powerpoint/2010/main" val="14831443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normAutofit/>
          </a:bodyPr>
          <a:lstStyle/>
          <a:p>
            <a:r>
              <a:rPr lang="en-US" sz="4000" dirty="0"/>
              <a:t>Evaluating the Gaussian Kernel and Value Plugin</a:t>
            </a:r>
            <a:endParaRPr lang="en-IN" sz="4000" dirty="0"/>
          </a:p>
        </p:txBody>
      </p:sp>
      <p:grpSp>
        <p:nvGrpSpPr>
          <p:cNvPr id="8" name="Group 7">
            <a:extLst>
              <a:ext uri="{FF2B5EF4-FFF2-40B4-BE49-F238E27FC236}">
                <a16:creationId xmlns:a16="http://schemas.microsoft.com/office/drawing/2014/main" id="{C508FDEB-1AF4-0E1C-E743-BD47D41AE2A3}"/>
              </a:ext>
            </a:extLst>
          </p:cNvPr>
          <p:cNvGrpSpPr/>
          <p:nvPr/>
        </p:nvGrpSpPr>
        <p:grpSpPr>
          <a:xfrm>
            <a:off x="996455" y="1569046"/>
            <a:ext cx="10199089" cy="5288954"/>
            <a:chOff x="1371933" y="1569046"/>
            <a:chExt cx="10199089" cy="5288954"/>
          </a:xfrm>
        </p:grpSpPr>
        <p:pic>
          <p:nvPicPr>
            <p:cNvPr id="4" name="Picture 3">
              <a:extLst>
                <a:ext uri="{FF2B5EF4-FFF2-40B4-BE49-F238E27FC236}">
                  <a16:creationId xmlns:a16="http://schemas.microsoft.com/office/drawing/2014/main" id="{5CB1AAAF-5451-5ABC-ACD0-590D709C8512}"/>
                </a:ext>
              </a:extLst>
            </p:cNvPr>
            <p:cNvPicPr>
              <a:picLocks noChangeAspect="1"/>
            </p:cNvPicPr>
            <p:nvPr/>
          </p:nvPicPr>
          <p:blipFill>
            <a:blip r:embed="rId3"/>
            <a:stretch>
              <a:fillRect/>
            </a:stretch>
          </p:blipFill>
          <p:spPr>
            <a:xfrm>
              <a:off x="1371933" y="1569046"/>
              <a:ext cx="2654635" cy="5288954"/>
            </a:xfrm>
            <a:prstGeom prst="rect">
              <a:avLst/>
            </a:prstGeom>
          </p:spPr>
        </p:pic>
        <p:pic>
          <p:nvPicPr>
            <p:cNvPr id="6" name="Picture 5">
              <a:extLst>
                <a:ext uri="{FF2B5EF4-FFF2-40B4-BE49-F238E27FC236}">
                  <a16:creationId xmlns:a16="http://schemas.microsoft.com/office/drawing/2014/main" id="{72F302D8-4A95-7001-A5BC-824F9648D60F}"/>
                </a:ext>
              </a:extLst>
            </p:cNvPr>
            <p:cNvPicPr>
              <a:picLocks noChangeAspect="1"/>
            </p:cNvPicPr>
            <p:nvPr/>
          </p:nvPicPr>
          <p:blipFill>
            <a:blip r:embed="rId4"/>
            <a:stretch>
              <a:fillRect/>
            </a:stretch>
          </p:blipFill>
          <p:spPr>
            <a:xfrm>
              <a:off x="4026568" y="1790928"/>
              <a:ext cx="7544454" cy="4701947"/>
            </a:xfrm>
            <a:prstGeom prst="rect">
              <a:avLst/>
            </a:prstGeom>
          </p:spPr>
        </p:pic>
      </p:grpSp>
    </p:spTree>
    <p:extLst>
      <p:ext uri="{BB962C8B-B14F-4D97-AF65-F5344CB8AC3E}">
        <p14:creationId xmlns:p14="http://schemas.microsoft.com/office/powerpoint/2010/main" val="12091167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 Calculation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25000" lnSpcReduction="20000"/>
          </a:bodyPr>
          <a:lstStyle/>
          <a:p>
            <a:pPr marL="0" indent="0" algn="just">
              <a:buNone/>
            </a:pPr>
            <a:r>
              <a:rPr lang="en-US" sz="4000" dirty="0"/>
              <a:t>import </a:t>
            </a:r>
            <a:r>
              <a:rPr lang="en-US" sz="4000" dirty="0" err="1"/>
              <a:t>numpy</a:t>
            </a:r>
            <a:r>
              <a:rPr lang="en-US" sz="4000" dirty="0"/>
              <a:t> as np</a:t>
            </a:r>
          </a:p>
          <a:p>
            <a:pPr marL="0" indent="0" algn="just">
              <a:buNone/>
            </a:pPr>
            <a:r>
              <a:rPr lang="en-US" sz="4000" dirty="0"/>
              <a:t>import </a:t>
            </a:r>
            <a:r>
              <a:rPr lang="en-US" sz="4000" dirty="0" err="1"/>
              <a:t>matplotlib.pyplot</a:t>
            </a:r>
            <a:r>
              <a:rPr lang="en-US" sz="4000" dirty="0"/>
              <a:t> as </a:t>
            </a:r>
            <a:r>
              <a:rPr lang="en-US" sz="4000" dirty="0" err="1"/>
              <a:t>plt</a:t>
            </a:r>
            <a:endParaRPr lang="en-US" sz="4000" dirty="0"/>
          </a:p>
          <a:p>
            <a:pPr marL="0" indent="0" algn="just">
              <a:buNone/>
            </a:pPr>
            <a:r>
              <a:rPr lang="en-US" sz="4000" dirty="0"/>
              <a:t>from </a:t>
            </a:r>
            <a:r>
              <a:rPr lang="en-US" sz="4000" dirty="0" err="1"/>
              <a:t>scipy.stats</a:t>
            </a:r>
            <a:r>
              <a:rPr lang="en-US" sz="4000" dirty="0"/>
              <a:t> import </a:t>
            </a:r>
            <a:r>
              <a:rPr lang="en-US" sz="4000" dirty="0" err="1"/>
              <a:t>gaussian_kde</a:t>
            </a:r>
            <a:endParaRPr lang="en-US" sz="4000" dirty="0"/>
          </a:p>
          <a:p>
            <a:pPr marL="0" indent="0" algn="just">
              <a:buNone/>
            </a:pPr>
            <a:endParaRPr lang="en-US" sz="4000" dirty="0"/>
          </a:p>
          <a:p>
            <a:pPr marL="0" indent="0" algn="just">
              <a:buNone/>
            </a:pPr>
            <a:r>
              <a:rPr lang="en-US" sz="4000" dirty="0"/>
              <a:t># Sample data</a:t>
            </a:r>
          </a:p>
          <a:p>
            <a:pPr marL="0" indent="0" algn="just">
              <a:buNone/>
            </a:pPr>
            <a:r>
              <a:rPr lang="en-US" sz="4000" dirty="0"/>
              <a:t>data = </a:t>
            </a:r>
            <a:r>
              <a:rPr lang="en-US" sz="4000" dirty="0" err="1"/>
              <a:t>np.array</a:t>
            </a:r>
            <a:r>
              <a:rPr lang="en-US" sz="4000" dirty="0"/>
              <a:t>([3, 5, 7, 7, 8, 8, 8, 10, 12])</a:t>
            </a:r>
          </a:p>
          <a:p>
            <a:pPr marL="0" indent="0" algn="just">
              <a:buNone/>
            </a:pPr>
            <a:endParaRPr lang="en-US" sz="4000" dirty="0"/>
          </a:p>
          <a:p>
            <a:pPr marL="0" indent="0" algn="just">
              <a:buNone/>
            </a:pPr>
            <a:r>
              <a:rPr lang="en-US" sz="4000" dirty="0"/>
              <a:t># Perform KDE</a:t>
            </a:r>
          </a:p>
          <a:p>
            <a:pPr marL="0" indent="0" algn="just">
              <a:buNone/>
            </a:pPr>
            <a:r>
              <a:rPr lang="en-US" sz="4000" dirty="0" err="1"/>
              <a:t>kde</a:t>
            </a:r>
            <a:r>
              <a:rPr lang="en-US" sz="4000" dirty="0"/>
              <a:t> = </a:t>
            </a:r>
            <a:r>
              <a:rPr lang="en-US" sz="4000" dirty="0" err="1"/>
              <a:t>gaussian_kde</a:t>
            </a:r>
            <a:r>
              <a:rPr lang="en-US" sz="4000" dirty="0"/>
              <a:t>(data, </a:t>
            </a:r>
            <a:r>
              <a:rPr lang="en-US" sz="4000" dirty="0" err="1"/>
              <a:t>bw_method</a:t>
            </a:r>
            <a:r>
              <a:rPr lang="en-US" sz="4000" dirty="0"/>
              <a:t>=0.5)</a:t>
            </a:r>
          </a:p>
          <a:p>
            <a:pPr marL="0" indent="0" algn="just">
              <a:buNone/>
            </a:pPr>
            <a:r>
              <a:rPr lang="en-US" sz="4000" dirty="0"/>
              <a:t>x = </a:t>
            </a:r>
            <a:r>
              <a:rPr lang="en-US" sz="4000" dirty="0" err="1"/>
              <a:t>np.linspace</a:t>
            </a:r>
            <a:r>
              <a:rPr lang="en-US" sz="4000" dirty="0"/>
              <a:t>(min(data) - 1, max(data) + 1, 1000)</a:t>
            </a:r>
          </a:p>
          <a:p>
            <a:pPr marL="0" indent="0" algn="just">
              <a:buNone/>
            </a:pPr>
            <a:r>
              <a:rPr lang="en-US" sz="4000" dirty="0"/>
              <a:t>density = </a:t>
            </a:r>
            <a:r>
              <a:rPr lang="en-US" sz="4000" dirty="0" err="1"/>
              <a:t>kde</a:t>
            </a:r>
            <a:r>
              <a:rPr lang="en-US" sz="4000" dirty="0"/>
              <a:t>(x)</a:t>
            </a:r>
          </a:p>
          <a:p>
            <a:pPr marL="0" indent="0" algn="just">
              <a:buNone/>
            </a:pPr>
            <a:endParaRPr lang="en-US" sz="4000" dirty="0"/>
          </a:p>
          <a:p>
            <a:pPr marL="0" indent="0" algn="just">
              <a:buNone/>
            </a:pPr>
            <a:r>
              <a:rPr lang="en-US" sz="4000" dirty="0"/>
              <a:t># Plot the density estimate</a:t>
            </a:r>
          </a:p>
          <a:p>
            <a:pPr marL="0" indent="0" algn="just">
              <a:buNone/>
            </a:pPr>
            <a:r>
              <a:rPr lang="en-US" sz="4000" dirty="0" err="1"/>
              <a:t>plt.plot</a:t>
            </a:r>
            <a:r>
              <a:rPr lang="en-US" sz="4000" dirty="0"/>
              <a:t>(x, density)</a:t>
            </a:r>
          </a:p>
          <a:p>
            <a:pPr marL="0" indent="0" algn="just">
              <a:buNone/>
            </a:pPr>
            <a:r>
              <a:rPr lang="en-US" sz="4000" dirty="0" err="1"/>
              <a:t>plt.xlabel</a:t>
            </a:r>
            <a:r>
              <a:rPr lang="en-US" sz="4000" dirty="0"/>
              <a:t>('Value')</a:t>
            </a:r>
          </a:p>
          <a:p>
            <a:pPr marL="0" indent="0" algn="just">
              <a:buNone/>
            </a:pPr>
            <a:r>
              <a:rPr lang="en-US" sz="4000" dirty="0" err="1"/>
              <a:t>plt.ylabel</a:t>
            </a:r>
            <a:r>
              <a:rPr lang="en-US" sz="4000" dirty="0"/>
              <a:t>('Density')</a:t>
            </a:r>
          </a:p>
          <a:p>
            <a:pPr marL="0" indent="0" algn="just">
              <a:buNone/>
            </a:pPr>
            <a:r>
              <a:rPr lang="en-US" sz="4000" dirty="0" err="1"/>
              <a:t>plt.title</a:t>
            </a:r>
            <a:r>
              <a:rPr lang="en-US" sz="4000" dirty="0"/>
              <a:t>('Kernel Density Estimate')</a:t>
            </a:r>
          </a:p>
          <a:p>
            <a:pPr marL="0" indent="0" algn="just">
              <a:buNone/>
            </a:pPr>
            <a:r>
              <a:rPr lang="en-US" sz="4000" dirty="0" err="1"/>
              <a:t>plt.show</a:t>
            </a:r>
            <a:r>
              <a:rPr lang="en-US" sz="4000" dirty="0"/>
              <a:t>()</a:t>
            </a:r>
          </a:p>
        </p:txBody>
      </p:sp>
      <p:pic>
        <p:nvPicPr>
          <p:cNvPr id="5" name="Picture 4">
            <a:extLst>
              <a:ext uri="{FF2B5EF4-FFF2-40B4-BE49-F238E27FC236}">
                <a16:creationId xmlns:a16="http://schemas.microsoft.com/office/drawing/2014/main" id="{7272EE91-37A9-786D-C2D2-E56C5E230A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9949" y="1484403"/>
            <a:ext cx="7854712" cy="5033782"/>
          </a:xfrm>
          <a:prstGeom prst="rect">
            <a:avLst/>
          </a:prstGeom>
        </p:spPr>
      </p:pic>
    </p:spTree>
    <p:extLst>
      <p:ext uri="{BB962C8B-B14F-4D97-AF65-F5344CB8AC3E}">
        <p14:creationId xmlns:p14="http://schemas.microsoft.com/office/powerpoint/2010/main" val="32057944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Comparison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Histograms: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Discrete representation with bins.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Bin size affects the appearance and interpretation.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Useful for quick and straightforward visualizations.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Density Plots: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Continuous representation of the data distribution.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Smoothing parameter (bandwidth) affects the appearance.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Better for comparing multiple distributions and understanding the overall shape.</a:t>
            </a:r>
          </a:p>
        </p:txBody>
      </p:sp>
    </p:spTree>
    <p:extLst>
      <p:ext uri="{BB962C8B-B14F-4D97-AF65-F5344CB8AC3E}">
        <p14:creationId xmlns:p14="http://schemas.microsoft.com/office/powerpoint/2010/main" val="178723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Assignment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Create boxplots, histograms and density plots for at least three numerical columns in your dataset. Analyze the distributions and describe the data.</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835648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Expected Value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kumimoji="0" lang="en-US" altLang="en-US" sz="3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expected value (E[X]) of a random variable is the long-run average value of repetitions of the experiment it represents. It is a measure of the center of the probability distribution of the variable.</a:t>
            </a:r>
            <a:endParaRPr kumimoji="0" lang="en-US" altLang="en-US" sz="3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341416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Expected Value Formula</a:t>
            </a:r>
            <a:endParaRPr lang="en-IN" dirty="0"/>
          </a:p>
        </p:txBody>
      </p:sp>
      <p:pic>
        <p:nvPicPr>
          <p:cNvPr id="7" name="Picture 6">
            <a:extLst>
              <a:ext uri="{FF2B5EF4-FFF2-40B4-BE49-F238E27FC236}">
                <a16:creationId xmlns:a16="http://schemas.microsoft.com/office/drawing/2014/main" id="{4CAF677D-BAEC-BC0F-FD53-5D05ADD48DBC}"/>
              </a:ext>
            </a:extLst>
          </p:cNvPr>
          <p:cNvPicPr>
            <a:picLocks noChangeAspect="1"/>
          </p:cNvPicPr>
          <p:nvPr/>
        </p:nvPicPr>
        <p:blipFill>
          <a:blip r:embed="rId3"/>
          <a:stretch>
            <a:fillRect/>
          </a:stretch>
        </p:blipFill>
        <p:spPr>
          <a:xfrm>
            <a:off x="168442" y="1690688"/>
            <a:ext cx="11855116" cy="3951705"/>
          </a:xfrm>
          <a:prstGeom prst="rect">
            <a:avLst/>
          </a:prstGeom>
        </p:spPr>
      </p:pic>
    </p:spTree>
    <p:extLst>
      <p:ext uri="{BB962C8B-B14F-4D97-AF65-F5344CB8AC3E}">
        <p14:creationId xmlns:p14="http://schemas.microsoft.com/office/powerpoint/2010/main" val="36414288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Expected Value Formula</a:t>
            </a:r>
            <a:endParaRPr lang="en-IN" dirty="0"/>
          </a:p>
        </p:txBody>
      </p:sp>
      <p:pic>
        <p:nvPicPr>
          <p:cNvPr id="7" name="Picture 6">
            <a:extLst>
              <a:ext uri="{FF2B5EF4-FFF2-40B4-BE49-F238E27FC236}">
                <a16:creationId xmlns:a16="http://schemas.microsoft.com/office/drawing/2014/main" id="{4CAF677D-BAEC-BC0F-FD53-5D05ADD48D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8442" y="1902517"/>
            <a:ext cx="11855116" cy="3528046"/>
          </a:xfrm>
          <a:prstGeom prst="rect">
            <a:avLst/>
          </a:prstGeom>
        </p:spPr>
      </p:pic>
    </p:spTree>
    <p:extLst>
      <p:ext uri="{BB962C8B-B14F-4D97-AF65-F5344CB8AC3E}">
        <p14:creationId xmlns:p14="http://schemas.microsoft.com/office/powerpoint/2010/main" val="8508552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Probability</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kumimoji="0" lang="en-US" altLang="en-US" sz="4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Probability measures the likelihood of an event occurring. It ranges from 0 (impossible event) to 1 (certain event).</a:t>
            </a:r>
            <a:endParaRPr kumimoji="0" lang="en-US" altLang="en-US" sz="4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051654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Basic Probability Rules</a:t>
            </a:r>
            <a:endParaRPr lang="en-IN" dirty="0"/>
          </a:p>
        </p:txBody>
      </p:sp>
      <p:pic>
        <p:nvPicPr>
          <p:cNvPr id="7" name="Picture 6">
            <a:extLst>
              <a:ext uri="{FF2B5EF4-FFF2-40B4-BE49-F238E27FC236}">
                <a16:creationId xmlns:a16="http://schemas.microsoft.com/office/drawing/2014/main" id="{1249AF5C-2B48-C2E1-212D-2661672ABCAC}"/>
              </a:ext>
            </a:extLst>
          </p:cNvPr>
          <p:cNvPicPr>
            <a:picLocks noChangeAspect="1"/>
          </p:cNvPicPr>
          <p:nvPr/>
        </p:nvPicPr>
        <p:blipFill>
          <a:blip r:embed="rId3"/>
          <a:stretch>
            <a:fillRect/>
          </a:stretch>
        </p:blipFill>
        <p:spPr>
          <a:xfrm>
            <a:off x="1527004" y="1690688"/>
            <a:ext cx="9137991" cy="4488272"/>
          </a:xfrm>
          <a:prstGeom prst="rect">
            <a:avLst/>
          </a:prstGeom>
        </p:spPr>
      </p:pic>
    </p:spTree>
    <p:extLst>
      <p:ext uri="{BB962C8B-B14F-4D97-AF65-F5344CB8AC3E}">
        <p14:creationId xmlns:p14="http://schemas.microsoft.com/office/powerpoint/2010/main" val="1650344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Types of Probability</a:t>
            </a:r>
            <a:endParaRPr lang="en-IN" dirty="0"/>
          </a:p>
        </p:txBody>
      </p:sp>
      <p:pic>
        <p:nvPicPr>
          <p:cNvPr id="7" name="Picture 6">
            <a:extLst>
              <a:ext uri="{FF2B5EF4-FFF2-40B4-BE49-F238E27FC236}">
                <a16:creationId xmlns:a16="http://schemas.microsoft.com/office/drawing/2014/main" id="{1249AF5C-2B48-C2E1-212D-2661672ABCA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0188" y="1690688"/>
            <a:ext cx="11491624" cy="3926705"/>
          </a:xfrm>
          <a:prstGeom prst="rect">
            <a:avLst/>
          </a:prstGeom>
        </p:spPr>
      </p:pic>
    </p:spTree>
    <p:extLst>
      <p:ext uri="{BB962C8B-B14F-4D97-AF65-F5344CB8AC3E}">
        <p14:creationId xmlns:p14="http://schemas.microsoft.com/office/powerpoint/2010/main" val="11879309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Probability Distributions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Discrete Probability Distribution:</a:t>
            </a:r>
            <a:r>
              <a:rPr kumimoji="0" lang="en-US" altLang="en-US" sz="3200" b="0" i="0" u="none" strike="noStrike" cap="none" normalizeH="0" baseline="0" dirty="0">
                <a:ln>
                  <a:noFill/>
                </a:ln>
                <a:solidFill>
                  <a:schemeClr val="tx1"/>
                </a:solidFill>
                <a:effectLst/>
                <a:latin typeface="Arial" panose="020B0604020202020204" pitchFamily="34" charset="0"/>
              </a:rPr>
              <a:t> Lists all possible values of a discrete random variable and their associated probabilities.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Continuous Probability Distribution:</a:t>
            </a:r>
            <a:r>
              <a:rPr kumimoji="0" lang="en-US" altLang="en-US" sz="3200" b="0" i="0" u="none" strike="noStrike" cap="none" normalizeH="0" baseline="0" dirty="0">
                <a:ln>
                  <a:noFill/>
                </a:ln>
                <a:solidFill>
                  <a:schemeClr val="tx1"/>
                </a:solidFill>
                <a:effectLst/>
                <a:latin typeface="Arial" panose="020B0604020202020204" pitchFamily="34" charset="0"/>
              </a:rPr>
              <a:t> Described by a probability density function (PDF). </a:t>
            </a:r>
          </a:p>
        </p:txBody>
      </p:sp>
    </p:spTree>
    <p:extLst>
      <p:ext uri="{BB962C8B-B14F-4D97-AF65-F5344CB8AC3E}">
        <p14:creationId xmlns:p14="http://schemas.microsoft.com/office/powerpoint/2010/main" val="11608592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Correlation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Arial" panose="020B0604020202020204" pitchFamily="34" charset="0"/>
              </a:rPr>
              <a:t>Correlation measures the strength and direction of a linear relationship between two quantitative variables. The most common measure is the Pearson correlation coefficient.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71788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Correlation</a:t>
            </a:r>
            <a:endParaRPr lang="en-IN" dirty="0"/>
          </a:p>
        </p:txBody>
      </p:sp>
      <p:pic>
        <p:nvPicPr>
          <p:cNvPr id="7" name="Picture 6">
            <a:extLst>
              <a:ext uri="{FF2B5EF4-FFF2-40B4-BE49-F238E27FC236}">
                <a16:creationId xmlns:a16="http://schemas.microsoft.com/office/drawing/2014/main" id="{7491771E-E799-54AB-7634-6780F385D142}"/>
              </a:ext>
            </a:extLst>
          </p:cNvPr>
          <p:cNvPicPr>
            <a:picLocks noChangeAspect="1"/>
          </p:cNvPicPr>
          <p:nvPr/>
        </p:nvPicPr>
        <p:blipFill>
          <a:blip r:embed="rId3"/>
          <a:stretch>
            <a:fillRect/>
          </a:stretch>
        </p:blipFill>
        <p:spPr>
          <a:xfrm>
            <a:off x="2550783" y="1275062"/>
            <a:ext cx="7090434" cy="5582938"/>
          </a:xfrm>
          <a:prstGeom prst="rect">
            <a:avLst/>
          </a:prstGeom>
        </p:spPr>
      </p:pic>
    </p:spTree>
    <p:extLst>
      <p:ext uri="{BB962C8B-B14F-4D97-AF65-F5344CB8AC3E}">
        <p14:creationId xmlns:p14="http://schemas.microsoft.com/office/powerpoint/2010/main" val="38965053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Types of Correlation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Positive Correlation:</a:t>
            </a:r>
            <a:r>
              <a:rPr kumimoji="0" lang="en-US" altLang="en-US" sz="3200" b="0" i="0" u="none" strike="noStrike" cap="none" normalizeH="0" baseline="0" dirty="0">
                <a:ln>
                  <a:noFill/>
                </a:ln>
                <a:solidFill>
                  <a:schemeClr val="tx1"/>
                </a:solidFill>
                <a:effectLst/>
                <a:latin typeface="Arial" panose="020B0604020202020204" pitchFamily="34" charset="0"/>
              </a:rPr>
              <a:t> Both variables increase or decrease together.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Negative Correlation:</a:t>
            </a:r>
            <a:r>
              <a:rPr kumimoji="0" lang="en-US" altLang="en-US" sz="3200" b="0" i="0" u="none" strike="noStrike" cap="none" normalizeH="0" baseline="0" dirty="0">
                <a:ln>
                  <a:noFill/>
                </a:ln>
                <a:solidFill>
                  <a:schemeClr val="tx1"/>
                </a:solidFill>
                <a:effectLst/>
                <a:latin typeface="Arial" panose="020B0604020202020204" pitchFamily="34" charset="0"/>
              </a:rPr>
              <a:t> One variable increases while the other decreases.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Zero Correlation:</a:t>
            </a:r>
            <a:r>
              <a:rPr kumimoji="0" lang="en-US" altLang="en-US" sz="3200" b="0" i="0" u="none" strike="noStrike" cap="none" normalizeH="0" baseline="0" dirty="0">
                <a:ln>
                  <a:noFill/>
                </a:ln>
                <a:solidFill>
                  <a:schemeClr val="tx1"/>
                </a:solidFill>
                <a:effectLst/>
                <a:latin typeface="Arial" panose="020B0604020202020204" pitchFamily="34" charset="0"/>
              </a:rPr>
              <a:t> No relationship between the variables. </a:t>
            </a:r>
          </a:p>
        </p:txBody>
      </p:sp>
    </p:spTree>
    <p:extLst>
      <p:ext uri="{BB962C8B-B14F-4D97-AF65-F5344CB8AC3E}">
        <p14:creationId xmlns:p14="http://schemas.microsoft.com/office/powerpoint/2010/main" val="14529261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Scatter Plot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rPr>
              <a:t>A scatter plot is a graphical representation of the relationship between two variables. It helps visualize correlation by plotting data points on a Cartesian plane.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20542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a:t>
            </a:r>
            <a:endParaRPr lang="en-IN" dirty="0"/>
          </a:p>
        </p:txBody>
      </p:sp>
      <p:pic>
        <p:nvPicPr>
          <p:cNvPr id="3074" name="Picture 2">
            <a:extLst>
              <a:ext uri="{FF2B5EF4-FFF2-40B4-BE49-F238E27FC236}">
                <a16:creationId xmlns:a16="http://schemas.microsoft.com/office/drawing/2014/main" id="{BF7155CD-9AD5-A151-91A5-59EA3E019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995430" y="1690688"/>
            <a:ext cx="6201139" cy="364846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2F90706-2B05-2953-FDD5-5A5242DB9D7F}"/>
              </a:ext>
            </a:extLst>
          </p:cNvPr>
          <p:cNvSpPr txBox="1"/>
          <p:nvPr/>
        </p:nvSpPr>
        <p:spPr>
          <a:xfrm>
            <a:off x="0" y="5380672"/>
            <a:ext cx="12192000" cy="1477328"/>
          </a:xfrm>
          <a:prstGeom prst="rect">
            <a:avLst/>
          </a:prstGeom>
          <a:noFill/>
        </p:spPr>
        <p:txBody>
          <a:bodyPr wrap="square">
            <a:spAutoFit/>
          </a:bodyPr>
          <a:lstStyle/>
          <a:p>
            <a:pPr algn="just"/>
            <a:r>
              <a:rPr lang="en-US" dirty="0"/>
              <a:t>The example scatter plot above shows the diameters and heights for a sample of fictional trees. Each dot represents a single tree; each point’s horizontal position indicates that tree’s diameter (in centimeters) and the vertical position indicates that tree’s height (in meters). From the plot, we can see a generally tight positive correlation between a tree’s diameter and its height. We can also observe an outlier point, a tree that has a much larger diameter than the others. This tree appears fairly short for its girth, which might warrant further investigation.</a:t>
            </a:r>
            <a:endParaRPr lang="en-IN" dirty="0"/>
          </a:p>
        </p:txBody>
      </p:sp>
    </p:spTree>
    <p:extLst>
      <p:ext uri="{BB962C8B-B14F-4D97-AF65-F5344CB8AC3E}">
        <p14:creationId xmlns:p14="http://schemas.microsoft.com/office/powerpoint/2010/main" val="34732526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a:xfrm>
            <a:off x="838199" y="159179"/>
            <a:ext cx="10515600" cy="1325563"/>
          </a:xfrm>
        </p:spPr>
        <p:txBody>
          <a:bodyPr/>
          <a:lstStyle/>
          <a:p>
            <a:r>
              <a:rPr lang="en-US" dirty="0"/>
              <a:t>Interpretation</a:t>
            </a:r>
            <a:endParaRPr lang="en-IN" dirty="0"/>
          </a:p>
        </p:txBody>
      </p:sp>
      <p:pic>
        <p:nvPicPr>
          <p:cNvPr id="3074" name="Picture 2">
            <a:extLst>
              <a:ext uri="{FF2B5EF4-FFF2-40B4-BE49-F238E27FC236}">
                <a16:creationId xmlns:a16="http://schemas.microsoft.com/office/drawing/2014/main" id="{BF7155CD-9AD5-A151-91A5-59EA3E019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3379762" y="1175111"/>
            <a:ext cx="5432475" cy="5445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9331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F7155CD-9AD5-A151-91A5-59EA3E019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10529" y="1642221"/>
            <a:ext cx="9770942" cy="357355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5F3499B0-24C2-A5B5-28FD-57F3A6A3E6C2}"/>
              </a:ext>
            </a:extLst>
          </p:cNvPr>
          <p:cNvSpPr txBox="1">
            <a:spLocks/>
          </p:cNvSpPr>
          <p:nvPr/>
        </p:nvSpPr>
        <p:spPr>
          <a:xfrm>
            <a:off x="838199" y="15917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Interpretation</a:t>
            </a:r>
            <a:endParaRPr lang="en-IN" dirty="0"/>
          </a:p>
        </p:txBody>
      </p:sp>
    </p:spTree>
    <p:extLst>
      <p:ext uri="{BB962C8B-B14F-4D97-AF65-F5344CB8AC3E}">
        <p14:creationId xmlns:p14="http://schemas.microsoft.com/office/powerpoint/2010/main" val="39163249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Assignment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altLang="en-US" b="1" dirty="0">
                <a:solidFill>
                  <a:prstClr val="white"/>
                </a:solidFill>
                <a:latin typeface="Arial" panose="020B0604020202020204" pitchFamily="34" charset="0"/>
              </a:rPr>
              <a:t>Generate scatterplots for pairs of numerical columns in your dataset. Perform a correlation analysis and discuss any significant relationships.</a:t>
            </a:r>
            <a:endPar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832211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Hexagonal Binning</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altLang="en-US" b="1" dirty="0">
                <a:solidFill>
                  <a:prstClr val="white"/>
                </a:solidFill>
                <a:latin typeface="Arial" panose="020B0604020202020204" pitchFamily="34" charset="0"/>
              </a:rPr>
              <a:t>Hexagonal binning is a method of plotting data where the plot area is divided into hexagons, and the number of data points within each hexagon is counted and visualized. It is particularly useful for visualizing large datasets and reducing overplotting.</a:t>
            </a:r>
            <a:endPar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085298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Hexagonal Binning Benefits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sz="3200" b="1" dirty="0"/>
              <a:t>Reduces Overplotting:</a:t>
            </a:r>
            <a:r>
              <a:rPr lang="en-US" sz="3200" dirty="0"/>
              <a:t> Effective for large datasets where points overlap.</a:t>
            </a:r>
          </a:p>
          <a:p>
            <a:pPr algn="just">
              <a:buFont typeface="+mj-lt"/>
              <a:buAutoNum type="arabicPeriod"/>
            </a:pPr>
            <a:endParaRPr lang="en-US" sz="3200" dirty="0"/>
          </a:p>
          <a:p>
            <a:pPr algn="just">
              <a:buFont typeface="+mj-lt"/>
              <a:buAutoNum type="arabicPeriod"/>
            </a:pPr>
            <a:r>
              <a:rPr lang="en-US" sz="3200" b="1" dirty="0"/>
              <a:t>Reveals Density:</a:t>
            </a:r>
            <a:r>
              <a:rPr lang="en-US" sz="3200" dirty="0"/>
              <a:t> Shows areas of high and low data point concentration.</a:t>
            </a:r>
          </a:p>
          <a:p>
            <a:pPr algn="just">
              <a:buFont typeface="+mj-lt"/>
              <a:buAutoNum type="arabicPeriod"/>
            </a:pPr>
            <a:endParaRPr lang="en-US" sz="3200" dirty="0"/>
          </a:p>
          <a:p>
            <a:pPr algn="just">
              <a:buFont typeface="+mj-lt"/>
              <a:buAutoNum type="arabicPeriod"/>
            </a:pPr>
            <a:r>
              <a:rPr lang="en-US" sz="3200" b="1" dirty="0"/>
              <a:t>Aesthetic Appeal:</a:t>
            </a:r>
            <a:r>
              <a:rPr lang="en-US" sz="3200" dirty="0"/>
              <a:t> Hexagons fill the plotting area efficiently and provide a visually appealing representation.</a:t>
            </a:r>
          </a:p>
        </p:txBody>
      </p:sp>
    </p:spTree>
    <p:extLst>
      <p:ext uri="{BB962C8B-B14F-4D97-AF65-F5344CB8AC3E}">
        <p14:creationId xmlns:p14="http://schemas.microsoft.com/office/powerpoint/2010/main" val="2512600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Hexagonal Binning</a:t>
            </a:r>
            <a:endParaRPr lang="en-IN" dirty="0"/>
          </a:p>
        </p:txBody>
      </p:sp>
      <p:pic>
        <p:nvPicPr>
          <p:cNvPr id="1026" name="Picture 2">
            <a:extLst>
              <a:ext uri="{FF2B5EF4-FFF2-40B4-BE49-F238E27FC236}">
                <a16:creationId xmlns:a16="http://schemas.microsoft.com/office/drawing/2014/main" id="{AAF9FEFB-70A4-0497-D4FB-5D8809FDA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0371" y="1441617"/>
            <a:ext cx="5051258" cy="5051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7185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Hexagonal Binning Interpretation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Color Intensity:</a:t>
            </a:r>
            <a:r>
              <a:rPr kumimoji="0" lang="en-US" altLang="en-US" sz="3200" b="0" i="0" u="none" strike="noStrike" cap="none" normalizeH="0" baseline="0" dirty="0">
                <a:ln>
                  <a:noFill/>
                </a:ln>
                <a:solidFill>
                  <a:schemeClr val="tx1"/>
                </a:solidFill>
                <a:effectLst/>
                <a:latin typeface="Arial" panose="020B0604020202020204" pitchFamily="34" charset="0"/>
              </a:rPr>
              <a:t> Represents the number of data points within each hexagon.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Hexagon Size (Grid Size):</a:t>
            </a:r>
            <a:r>
              <a:rPr kumimoji="0" lang="en-US" altLang="en-US" sz="3200" b="0" i="0" u="none" strike="noStrike" cap="none" normalizeH="0" baseline="0" dirty="0">
                <a:ln>
                  <a:noFill/>
                </a:ln>
                <a:solidFill>
                  <a:schemeClr val="tx1"/>
                </a:solidFill>
                <a:effectLst/>
                <a:latin typeface="Arial" panose="020B0604020202020204" pitchFamily="34" charset="0"/>
              </a:rPr>
              <a:t> Determines the resolution of the plot. Smaller hexagons provide finer detail but may increase computational load. </a:t>
            </a:r>
          </a:p>
        </p:txBody>
      </p:sp>
    </p:spTree>
    <p:extLst>
      <p:ext uri="{BB962C8B-B14F-4D97-AF65-F5344CB8AC3E}">
        <p14:creationId xmlns:p14="http://schemas.microsoft.com/office/powerpoint/2010/main" val="20884235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Contour Plots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sz="3600" i="0" u="none" strike="noStrike" cap="none" normalizeH="0" baseline="0" dirty="0">
                <a:ln>
                  <a:noFill/>
                </a:ln>
                <a:solidFill>
                  <a:schemeClr val="tx1"/>
                </a:solidFill>
                <a:effectLst/>
                <a:latin typeface="Arial" panose="020B0604020202020204" pitchFamily="34" charset="0"/>
              </a:rPr>
              <a:t>Contour plots are used to represent three-dimensional data in two dimensions. They display iso-contours, which are lines connecting points of equal value, often used to show the density or probability distribution of data points.</a:t>
            </a:r>
          </a:p>
        </p:txBody>
      </p:sp>
    </p:spTree>
    <p:extLst>
      <p:ext uri="{BB962C8B-B14F-4D97-AF65-F5344CB8AC3E}">
        <p14:creationId xmlns:p14="http://schemas.microsoft.com/office/powerpoint/2010/main" val="28351911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Contour Plots Benefits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Visualizing Density:</a:t>
            </a:r>
            <a:r>
              <a:rPr kumimoji="0" lang="en-US" altLang="en-US" sz="3600" b="0" i="0" u="none" strike="noStrike" cap="none" normalizeH="0" baseline="0" dirty="0">
                <a:ln>
                  <a:noFill/>
                </a:ln>
                <a:solidFill>
                  <a:schemeClr val="tx1"/>
                </a:solidFill>
                <a:effectLst/>
                <a:latin typeface="Arial" panose="020B0604020202020204" pitchFamily="34" charset="0"/>
              </a:rPr>
              <a:t> Clearly shows regions of high and low density.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Gradient Information:</a:t>
            </a:r>
            <a:r>
              <a:rPr kumimoji="0" lang="en-US" altLang="en-US" sz="3600" b="0" i="0" u="none" strike="noStrike" cap="none" normalizeH="0" baseline="0" dirty="0">
                <a:ln>
                  <a:noFill/>
                </a:ln>
                <a:solidFill>
                  <a:schemeClr val="tx1"/>
                </a:solidFill>
                <a:effectLst/>
                <a:latin typeface="Arial" panose="020B0604020202020204" pitchFamily="34" charset="0"/>
              </a:rPr>
              <a:t> Provides information about the gradient and slope of the data.</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Comparison:</a:t>
            </a:r>
            <a:r>
              <a:rPr kumimoji="0" lang="en-US" altLang="en-US" sz="3600" b="0" i="0" u="none" strike="noStrike" cap="none" normalizeH="0" baseline="0" dirty="0">
                <a:ln>
                  <a:noFill/>
                </a:ln>
                <a:solidFill>
                  <a:schemeClr val="tx1"/>
                </a:solidFill>
                <a:effectLst/>
                <a:latin typeface="Arial" panose="020B0604020202020204" pitchFamily="34" charset="0"/>
              </a:rPr>
              <a:t> Useful for comparing different datasets or variables. </a:t>
            </a:r>
          </a:p>
        </p:txBody>
      </p:sp>
    </p:spTree>
    <p:extLst>
      <p:ext uri="{BB962C8B-B14F-4D97-AF65-F5344CB8AC3E}">
        <p14:creationId xmlns:p14="http://schemas.microsoft.com/office/powerpoint/2010/main" val="2378056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Contour Plots</a:t>
            </a:r>
            <a:endParaRPr lang="en-IN" dirty="0"/>
          </a:p>
        </p:txBody>
      </p:sp>
      <p:pic>
        <p:nvPicPr>
          <p:cNvPr id="4098" name="Picture 2" descr="Contour plot that displays biomass by stream depth and canopy coverage.">
            <a:extLst>
              <a:ext uri="{FF2B5EF4-FFF2-40B4-BE49-F238E27FC236}">
                <a16:creationId xmlns:a16="http://schemas.microsoft.com/office/drawing/2014/main" id="{A3910E0D-0EF5-B0A9-A561-B3926B246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650" y="1235075"/>
            <a:ext cx="788670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3630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Contour Plots Interpretation</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Contour Lines:</a:t>
            </a:r>
            <a:r>
              <a:rPr kumimoji="0" lang="en-US" altLang="en-US" sz="3600" b="0" i="0" u="none" strike="noStrike" cap="none" normalizeH="0" baseline="0" dirty="0">
                <a:ln>
                  <a:noFill/>
                </a:ln>
                <a:solidFill>
                  <a:schemeClr val="tx1"/>
                </a:solidFill>
                <a:effectLst/>
                <a:latin typeface="Arial" panose="020B0604020202020204" pitchFamily="34" charset="0"/>
              </a:rPr>
              <a:t> Lines connecting points of equal value. Closer lines indicate steeper gradients.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Color Intensity:</a:t>
            </a:r>
            <a:r>
              <a:rPr kumimoji="0" lang="en-US" altLang="en-US" sz="3600" b="0" i="0" u="none" strike="noStrike" cap="none" normalizeH="0" baseline="0" dirty="0">
                <a:ln>
                  <a:noFill/>
                </a:ln>
                <a:solidFill>
                  <a:schemeClr val="tx1"/>
                </a:solidFill>
                <a:effectLst/>
                <a:latin typeface="Arial" panose="020B0604020202020204" pitchFamily="34" charset="0"/>
              </a:rPr>
              <a:t> Represents the magnitude of the variable being plotted.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Level Curves:</a:t>
            </a:r>
            <a:r>
              <a:rPr kumimoji="0" lang="en-US" altLang="en-US" sz="3600" b="0" i="0" u="none" strike="noStrike" cap="none" normalizeH="0" baseline="0" dirty="0">
                <a:ln>
                  <a:noFill/>
                </a:ln>
                <a:solidFill>
                  <a:schemeClr val="tx1"/>
                </a:solidFill>
                <a:effectLst/>
                <a:latin typeface="Arial" panose="020B0604020202020204" pitchFamily="34" charset="0"/>
              </a:rPr>
              <a:t> Each curve represents a specific level of the variable, allowing for easy identification of regions with similar values.</a:t>
            </a:r>
          </a:p>
        </p:txBody>
      </p:sp>
    </p:spTree>
    <p:extLst>
      <p:ext uri="{BB962C8B-B14F-4D97-AF65-F5344CB8AC3E}">
        <p14:creationId xmlns:p14="http://schemas.microsoft.com/office/powerpoint/2010/main" val="236724090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Comparison Between Hexagonal Binning and Contour Plots</a:t>
            </a:r>
            <a:endParaRPr lang="en-IN" dirty="0"/>
          </a:p>
        </p:txBody>
      </p:sp>
      <p:pic>
        <p:nvPicPr>
          <p:cNvPr id="17" name="Picture 16">
            <a:extLst>
              <a:ext uri="{FF2B5EF4-FFF2-40B4-BE49-F238E27FC236}">
                <a16:creationId xmlns:a16="http://schemas.microsoft.com/office/drawing/2014/main" id="{ACE54289-8D9F-FE52-4066-CAC48D9C76D1}"/>
              </a:ext>
            </a:extLst>
          </p:cNvPr>
          <p:cNvPicPr>
            <a:picLocks noChangeAspect="1"/>
          </p:cNvPicPr>
          <p:nvPr/>
        </p:nvPicPr>
        <p:blipFill>
          <a:blip r:embed="rId3"/>
          <a:stretch>
            <a:fillRect/>
          </a:stretch>
        </p:blipFill>
        <p:spPr>
          <a:xfrm>
            <a:off x="125212" y="1942971"/>
            <a:ext cx="11941575" cy="2972058"/>
          </a:xfrm>
          <a:prstGeom prst="rect">
            <a:avLst/>
          </a:prstGeom>
        </p:spPr>
      </p:pic>
    </p:spTree>
    <p:extLst>
      <p:ext uri="{BB962C8B-B14F-4D97-AF65-F5344CB8AC3E}">
        <p14:creationId xmlns:p14="http://schemas.microsoft.com/office/powerpoint/2010/main" val="10152255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Visualizing multiple variables is essential for understanding complex datasets. It helps to uncover relationships, trends, and patterns among variables, providing deeper insights into the data.</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468995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algn="just"/>
            <a:r>
              <a:rPr lang="en-US" sz="3200" b="1" dirty="0"/>
              <a:t>1. Scatter Plot Matrix</a:t>
            </a:r>
          </a:p>
          <a:p>
            <a:pPr algn="just"/>
            <a:r>
              <a:rPr lang="en-US" sz="3200" b="1" dirty="0"/>
              <a:t>Definition:</a:t>
            </a:r>
            <a:r>
              <a:rPr lang="en-US" sz="3200" dirty="0"/>
              <a:t> A scatter plot matrix displays scatter plots for pairs of variables in a grid format, allowing the visualization of relationships between multiple pairs of variables simultaneously.</a:t>
            </a:r>
          </a:p>
          <a:p>
            <a:pPr algn="just"/>
            <a:r>
              <a:rPr lang="en-US" sz="3200" b="1" dirty="0"/>
              <a:t>Key Features:</a:t>
            </a:r>
            <a:endParaRPr lang="en-US" sz="3200" dirty="0"/>
          </a:p>
          <a:p>
            <a:pPr algn="just">
              <a:buFont typeface="Arial" panose="020B0604020202020204" pitchFamily="34" charset="0"/>
              <a:buChar char="•"/>
            </a:pPr>
            <a:r>
              <a:rPr lang="en-US" sz="3200" dirty="0"/>
              <a:t>Diagonal: Typically shows histograms or density plots of individual variables.</a:t>
            </a:r>
          </a:p>
          <a:p>
            <a:pPr algn="just">
              <a:buFont typeface="Arial" panose="020B0604020202020204" pitchFamily="34" charset="0"/>
              <a:buChar char="•"/>
            </a:pPr>
            <a:r>
              <a:rPr lang="en-US" sz="3200" dirty="0"/>
              <a:t>Off-Diagonal: Shows scatter plots for each pair of variables.</a:t>
            </a:r>
          </a:p>
        </p:txBody>
      </p:sp>
    </p:spTree>
    <p:extLst>
      <p:ext uri="{BB962C8B-B14F-4D97-AF65-F5344CB8AC3E}">
        <p14:creationId xmlns:p14="http://schemas.microsoft.com/office/powerpoint/2010/main" val="35538276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pic>
        <p:nvPicPr>
          <p:cNvPr id="10242" name="Picture 2" descr="Scatterplot matrix for the Crabs data: lower panels show scatterplots... |  Download Scientific Diagram">
            <a:extLst>
              <a:ext uri="{FF2B5EF4-FFF2-40B4-BE49-F238E27FC236}">
                <a16:creationId xmlns:a16="http://schemas.microsoft.com/office/drawing/2014/main" id="{D1F19E99-4FBA-D9D2-1C92-07F65EE09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2344" y="1690688"/>
            <a:ext cx="5167312"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7401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200" b="1" dirty="0"/>
              <a:t>2. Heatmap</a:t>
            </a:r>
          </a:p>
          <a:p>
            <a:pPr algn="just"/>
            <a:r>
              <a:rPr lang="en-US" sz="3200" b="1" dirty="0"/>
              <a:t>Definition:</a:t>
            </a:r>
            <a:r>
              <a:rPr lang="en-US" sz="3200" dirty="0"/>
              <a:t> A heatmap uses color to represent the values of a matrix, where each cell's color intensity indicates the magnitude of the value.</a:t>
            </a:r>
          </a:p>
          <a:p>
            <a:pPr algn="just"/>
            <a:r>
              <a:rPr lang="en-US" sz="3200" b="1" dirty="0"/>
              <a:t>Key Features:</a:t>
            </a:r>
            <a:endParaRPr lang="en-US" sz="3200" dirty="0"/>
          </a:p>
          <a:p>
            <a:pPr algn="just">
              <a:buFont typeface="Arial" panose="020B0604020202020204" pitchFamily="34" charset="0"/>
              <a:buChar char="•"/>
            </a:pPr>
            <a:r>
              <a:rPr lang="en-US" sz="3200" dirty="0"/>
              <a:t>Useful for displaying the correlation matrix.</a:t>
            </a:r>
          </a:p>
          <a:p>
            <a:pPr algn="just">
              <a:buFont typeface="Arial" panose="020B0604020202020204" pitchFamily="34" charset="0"/>
              <a:buChar char="•"/>
            </a:pPr>
            <a:r>
              <a:rPr lang="en-US" sz="3200" dirty="0"/>
              <a:t>Colors represent different values, making it easy to spot high or low correlations.</a:t>
            </a:r>
          </a:p>
        </p:txBody>
      </p:sp>
    </p:spTree>
    <p:extLst>
      <p:ext uri="{BB962C8B-B14F-4D97-AF65-F5344CB8AC3E}">
        <p14:creationId xmlns:p14="http://schemas.microsoft.com/office/powerpoint/2010/main" val="22747225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pic>
        <p:nvPicPr>
          <p:cNvPr id="8194" name="Picture 2" descr="Heatmaps with categorical values sorted alphabetically or by value">
            <a:extLst>
              <a:ext uri="{FF2B5EF4-FFF2-40B4-BE49-F238E27FC236}">
                <a16:creationId xmlns:a16="http://schemas.microsoft.com/office/drawing/2014/main" id="{36D29C20-D094-995E-C535-B3606226B8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a:stretch/>
        </p:blipFill>
        <p:spPr bwMode="auto">
          <a:xfrm>
            <a:off x="2944111" y="1690688"/>
            <a:ext cx="6303778" cy="4802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8090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200" b="1" dirty="0"/>
              <a:t>3. Parallel Coordinates Plot</a:t>
            </a:r>
          </a:p>
          <a:p>
            <a:pPr algn="just"/>
            <a:r>
              <a:rPr lang="en-US" sz="3200" b="1" dirty="0"/>
              <a:t>Definition:</a:t>
            </a:r>
            <a:r>
              <a:rPr lang="en-US" sz="3200" dirty="0"/>
              <a:t> A parallel coordinates plot visualizes multivariate data by plotting each variable on a separate axis and connecting corresponding values with lines.</a:t>
            </a:r>
          </a:p>
          <a:p>
            <a:pPr algn="just"/>
            <a:r>
              <a:rPr lang="en-US" sz="3200" b="1" dirty="0"/>
              <a:t>Key Features:</a:t>
            </a:r>
            <a:endParaRPr lang="en-US" sz="3200" dirty="0"/>
          </a:p>
          <a:p>
            <a:pPr algn="just">
              <a:buFont typeface="Arial" panose="020B0604020202020204" pitchFamily="34" charset="0"/>
              <a:buChar char="•"/>
            </a:pPr>
            <a:r>
              <a:rPr lang="en-US" sz="3200" dirty="0"/>
              <a:t>Each line represents an observation.</a:t>
            </a:r>
          </a:p>
          <a:p>
            <a:pPr algn="just">
              <a:buFont typeface="Arial" panose="020B0604020202020204" pitchFamily="34" charset="0"/>
              <a:buChar char="•"/>
            </a:pPr>
            <a:r>
              <a:rPr lang="en-US" sz="3200" dirty="0"/>
              <a:t>Useful for comparing multiple variables across observations.</a:t>
            </a:r>
          </a:p>
        </p:txBody>
      </p:sp>
    </p:spTree>
    <p:extLst>
      <p:ext uri="{BB962C8B-B14F-4D97-AF65-F5344CB8AC3E}">
        <p14:creationId xmlns:p14="http://schemas.microsoft.com/office/powerpoint/2010/main" val="24790967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pic>
        <p:nvPicPr>
          <p:cNvPr id="8" name="Picture 7">
            <a:extLst>
              <a:ext uri="{FF2B5EF4-FFF2-40B4-BE49-F238E27FC236}">
                <a16:creationId xmlns:a16="http://schemas.microsoft.com/office/drawing/2014/main" id="{49192AAA-C281-1FD6-4ADB-ABF262E2748F}"/>
              </a:ext>
            </a:extLst>
          </p:cNvPr>
          <p:cNvPicPr>
            <a:picLocks noChangeAspect="1"/>
          </p:cNvPicPr>
          <p:nvPr/>
        </p:nvPicPr>
        <p:blipFill>
          <a:blip r:embed="rId3"/>
          <a:stretch>
            <a:fillRect/>
          </a:stretch>
        </p:blipFill>
        <p:spPr>
          <a:xfrm>
            <a:off x="1376184" y="1497162"/>
            <a:ext cx="9439631" cy="4995713"/>
          </a:xfrm>
          <a:prstGeom prst="rect">
            <a:avLst/>
          </a:prstGeom>
        </p:spPr>
      </p:pic>
    </p:spTree>
    <p:extLst>
      <p:ext uri="{BB962C8B-B14F-4D97-AF65-F5344CB8AC3E}">
        <p14:creationId xmlns:p14="http://schemas.microsoft.com/office/powerpoint/2010/main" val="18424260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200" b="1" dirty="0"/>
              <a:t>4. Pairwise Plot</a:t>
            </a:r>
          </a:p>
          <a:p>
            <a:pPr algn="just"/>
            <a:r>
              <a:rPr lang="en-US" sz="3200" b="1" dirty="0"/>
              <a:t>Definition:</a:t>
            </a:r>
            <a:r>
              <a:rPr lang="en-US" sz="3200" dirty="0"/>
              <a:t> Similar to a scatter plot matrix, pairwise plots display scatter plots for all pairs of variables, often combined with histograms or density plots on the diagonal.</a:t>
            </a:r>
          </a:p>
          <a:p>
            <a:pPr algn="just"/>
            <a:r>
              <a:rPr lang="en-US" sz="3200" b="1" dirty="0"/>
              <a:t>Key Features:</a:t>
            </a:r>
            <a:endParaRPr lang="en-US" sz="3200" dirty="0"/>
          </a:p>
          <a:p>
            <a:pPr algn="just">
              <a:buFont typeface="Arial" panose="020B0604020202020204" pitchFamily="34" charset="0"/>
              <a:buChar char="•"/>
            </a:pPr>
            <a:r>
              <a:rPr lang="en-US" sz="3200" dirty="0"/>
              <a:t>Combines scatter plots and histograms/density plots.</a:t>
            </a:r>
          </a:p>
          <a:p>
            <a:pPr algn="just">
              <a:buFont typeface="Arial" panose="020B0604020202020204" pitchFamily="34" charset="0"/>
              <a:buChar char="•"/>
            </a:pPr>
            <a:r>
              <a:rPr lang="en-US" sz="3200" dirty="0"/>
              <a:t>Useful for examining relationships between multiple pairs of variables.</a:t>
            </a:r>
          </a:p>
        </p:txBody>
      </p:sp>
    </p:spTree>
    <p:extLst>
      <p:ext uri="{BB962C8B-B14F-4D97-AF65-F5344CB8AC3E}">
        <p14:creationId xmlns:p14="http://schemas.microsoft.com/office/powerpoint/2010/main" val="2948667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pic>
        <p:nvPicPr>
          <p:cNvPr id="7170" name="Picture 2" descr="Lightbox">
            <a:extLst>
              <a:ext uri="{FF2B5EF4-FFF2-40B4-BE49-F238E27FC236}">
                <a16:creationId xmlns:a16="http://schemas.microsoft.com/office/drawing/2014/main" id="{EA9204E7-0C63-9BF4-D8C5-48E44CCD3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8829" y="1497214"/>
            <a:ext cx="7014342" cy="5239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27287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200" b="1" dirty="0"/>
              <a:t>5. Bubble Plot</a:t>
            </a:r>
          </a:p>
          <a:p>
            <a:pPr algn="just"/>
            <a:r>
              <a:rPr lang="en-US" sz="3200" b="1" dirty="0"/>
              <a:t>Definition:</a:t>
            </a:r>
            <a:r>
              <a:rPr lang="en-US" sz="3200" dirty="0"/>
              <a:t> A bubble plot is an extension of the scatter plot where a third variable is represented by the size of the bubbles.</a:t>
            </a:r>
          </a:p>
          <a:p>
            <a:pPr algn="just"/>
            <a:r>
              <a:rPr lang="en-US" sz="3200" b="1" dirty="0"/>
              <a:t>Key Features:</a:t>
            </a:r>
            <a:endParaRPr lang="en-US" sz="3200" dirty="0"/>
          </a:p>
          <a:p>
            <a:pPr algn="just">
              <a:buFont typeface="Arial" panose="020B0604020202020204" pitchFamily="34" charset="0"/>
              <a:buChar char="•"/>
            </a:pPr>
            <a:r>
              <a:rPr lang="en-US" sz="3200" dirty="0"/>
              <a:t>X-axis and Y-axis represent two variables.</a:t>
            </a:r>
          </a:p>
          <a:p>
            <a:pPr algn="just">
              <a:buFont typeface="Arial" panose="020B0604020202020204" pitchFamily="34" charset="0"/>
              <a:buChar char="•"/>
            </a:pPr>
            <a:r>
              <a:rPr lang="en-US" sz="3200" dirty="0"/>
              <a:t>Bubble size represents a third variable.</a:t>
            </a:r>
          </a:p>
          <a:p>
            <a:pPr algn="just">
              <a:buFont typeface="Arial" panose="020B0604020202020204" pitchFamily="34" charset="0"/>
              <a:buChar char="•"/>
            </a:pPr>
            <a:r>
              <a:rPr lang="en-US" sz="3200" dirty="0"/>
              <a:t>Useful for visualizing three-dimensional data.</a:t>
            </a:r>
          </a:p>
        </p:txBody>
      </p:sp>
    </p:spTree>
    <p:extLst>
      <p:ext uri="{BB962C8B-B14F-4D97-AF65-F5344CB8AC3E}">
        <p14:creationId xmlns:p14="http://schemas.microsoft.com/office/powerpoint/2010/main" val="3054570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pic>
        <p:nvPicPr>
          <p:cNvPr id="11268" name="Picture 4" descr="Bubble Chart - Helical Insight">
            <a:extLst>
              <a:ext uri="{FF2B5EF4-FFF2-40B4-BE49-F238E27FC236}">
                <a16:creationId xmlns:a16="http://schemas.microsoft.com/office/drawing/2014/main" id="{B701AF96-785E-1056-86D9-EB76DDC26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0820" y="1690688"/>
            <a:ext cx="6690360" cy="5017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0376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Techniques for Visualizing Multiple Variables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200" b="1" dirty="0"/>
              <a:t>6. Multidimensional Scaling (MDS)</a:t>
            </a:r>
          </a:p>
          <a:p>
            <a:pPr algn="just"/>
            <a:r>
              <a:rPr lang="en-US" sz="3200" b="1" dirty="0"/>
              <a:t>Definition:</a:t>
            </a:r>
            <a:r>
              <a:rPr lang="en-US" sz="3200" dirty="0"/>
              <a:t> MDS is a technique used to visualize the similarity or dissimilarity of data in multiple dimensions by reducing them to a lower-dimensional space.</a:t>
            </a:r>
          </a:p>
          <a:p>
            <a:pPr algn="just"/>
            <a:r>
              <a:rPr lang="en-US" sz="3200" b="1" dirty="0"/>
              <a:t>Key Features:</a:t>
            </a:r>
            <a:endParaRPr lang="en-US" sz="3200" dirty="0"/>
          </a:p>
          <a:p>
            <a:pPr algn="just">
              <a:buFont typeface="Arial" panose="020B0604020202020204" pitchFamily="34" charset="0"/>
              <a:buChar char="•"/>
            </a:pPr>
            <a:r>
              <a:rPr lang="en-US" sz="3200" dirty="0"/>
              <a:t>Projects high-dimensional data into 2D or 3D space.</a:t>
            </a:r>
          </a:p>
          <a:p>
            <a:pPr algn="just">
              <a:buFont typeface="Arial" panose="020B0604020202020204" pitchFamily="34" charset="0"/>
              <a:buChar char="•"/>
            </a:pPr>
            <a:r>
              <a:rPr lang="en-US" sz="3200" dirty="0"/>
              <a:t>Preserves the distances between points as much as possible.</a:t>
            </a:r>
          </a:p>
        </p:txBody>
      </p:sp>
    </p:spTree>
    <p:extLst>
      <p:ext uri="{BB962C8B-B14F-4D97-AF65-F5344CB8AC3E}">
        <p14:creationId xmlns:p14="http://schemas.microsoft.com/office/powerpoint/2010/main" val="325141323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Assignment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altLang="en-US" b="1" dirty="0">
                <a:solidFill>
                  <a:prstClr val="white"/>
                </a:solidFill>
                <a:latin typeface="Arial" panose="020B0604020202020204" pitchFamily="34" charset="0"/>
              </a:rPr>
              <a:t>Perform a multivariate analysis with correlation studies and visualizations of multiple variables. Summarize your findings, interpret the visualizations, discuss challenges, and suggest areas for further investigation in a comprehensive report.</a:t>
            </a:r>
            <a:endPar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43485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Bias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sz="3200" b="1" dirty="0"/>
              <a:t>Bias</a:t>
            </a:r>
            <a:r>
              <a:rPr lang="en-US" sz="3200" dirty="0"/>
              <a:t> is a systematic error that leads to incorrect estimates or conclusions in data analysis. It occurs when certain elements or groups within a dataset are over- or under-represented, resulting in skewed results.</a:t>
            </a:r>
            <a:endParaRPr kumimoji="0" lang="en-US" altLang="en-US" sz="3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589662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Types of Bias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Selection Bias: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Occurs when the sample is not representative of the population.</a:t>
            </a: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Surveying only university students to represent the general population.</a:t>
            </a:r>
          </a:p>
          <a:p>
            <a:pPr marL="457200" lvl="1" indent="0" algn="just"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Measurement Bias: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Arises from errors in data collection methods.</a:t>
            </a: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Faulty weighing scales consistently underestimating weights.</a:t>
            </a:r>
          </a:p>
          <a:p>
            <a:pPr marL="457200" lvl="1" indent="0" algn="just"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Response Bias: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Happens when participants provide inaccurate responses.</a:t>
            </a: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People underreporting socially undesirable behaviors in surveys.</a:t>
            </a:r>
          </a:p>
          <a:p>
            <a:pPr marL="457200" lvl="1" indent="0" algn="just"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Sampling Bias: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Occurs when some members of the intended population are less likely to be included in the sample.</a:t>
            </a: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Using a telephone survey that excludes people without phones.</a:t>
            </a:r>
          </a:p>
          <a:p>
            <a:pPr marL="457200" lvl="1" indent="0" algn="just"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Survivorship Bias: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Involves focusing on surviving or existing cases and overlooking those that did not survive.</a:t>
            </a: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Analyzing the performance of existing companies and ignoring those that went bankrupt.</a:t>
            </a:r>
          </a:p>
        </p:txBody>
      </p:sp>
    </p:spTree>
    <p:extLst>
      <p:ext uri="{BB962C8B-B14F-4D97-AF65-F5344CB8AC3E}">
        <p14:creationId xmlns:p14="http://schemas.microsoft.com/office/powerpoint/2010/main" val="30351145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Identifying and Minimizing Bias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Random Sampling:</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Ensures that every member of the population has an equal chance of being included.</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 Using random number generators to select survey participants.</a:t>
            </a:r>
          </a:p>
          <a:p>
            <a:pPr marL="457200" lvl="1" indent="0" algn="just" eaLnBrk="0" fontAlgn="base" hangingPunct="0">
              <a:lnSpc>
                <a:spcPct val="100000"/>
              </a:lnSpc>
              <a:spcBef>
                <a:spcPct val="0"/>
              </a:spcBef>
              <a:spcAft>
                <a:spcPct val="0"/>
              </a:spcAft>
              <a:buFontTx/>
              <a:buChar char="•"/>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Blinding:</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Keeping participants and researchers unaware of group assignments to prevent bias.</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 Double-blind clinical trials.</a:t>
            </a:r>
          </a:p>
          <a:p>
            <a:pPr marL="457200" lvl="1" indent="0" algn="just" eaLnBrk="0" fontAlgn="base" hangingPunct="0">
              <a:lnSpc>
                <a:spcPct val="100000"/>
              </a:lnSpc>
              <a:spcBef>
                <a:spcPct val="0"/>
              </a:spcBef>
              <a:spcAft>
                <a:spcPct val="0"/>
              </a:spcAft>
              <a:buFontTx/>
              <a:buChar char="•"/>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Standardizing Data Collection:</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Using consistent methods and tools for data collection.</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 Calibrating instruments regularly.</a:t>
            </a:r>
          </a:p>
          <a:p>
            <a:pPr marL="457200" lvl="1" indent="0" algn="just" eaLnBrk="0" fontAlgn="base" hangingPunct="0">
              <a:lnSpc>
                <a:spcPct val="100000"/>
              </a:lnSpc>
              <a:spcBef>
                <a:spcPct val="0"/>
              </a:spcBef>
              <a:spcAft>
                <a:spcPct val="0"/>
              </a:spcAft>
              <a:buFontTx/>
              <a:buChar char="•"/>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Using Large Samples:</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Larger samples tend to be more representative of the population.</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 National surveys with thousands of respondents.</a:t>
            </a:r>
          </a:p>
        </p:txBody>
      </p:sp>
    </p:spTree>
    <p:extLst>
      <p:ext uri="{BB962C8B-B14F-4D97-AF65-F5344CB8AC3E}">
        <p14:creationId xmlns:p14="http://schemas.microsoft.com/office/powerpoint/2010/main" val="22903143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Methods of Random Selection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Simple Random Sampling: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Every member of the population has an equal chance of being selected.</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Drawing names from a hat.</a:t>
            </a:r>
          </a:p>
          <a:p>
            <a:pPr marL="457200" lvl="1" indent="0"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Systematic Sampling: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Selects every nth member of the population after a random start.</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Choosing every 10th person on a list after a random starting point.</a:t>
            </a:r>
          </a:p>
          <a:p>
            <a:pPr marL="457200" lvl="1" indent="0"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Stratified Sampling: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Divides the population into strata and selects random samples from each stratum.</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Dividing a population by age groups and sampling from each group.</a:t>
            </a:r>
          </a:p>
          <a:p>
            <a:pPr marL="457200" lvl="1" indent="0"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Cluster Sampling: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Divides the population into clusters and randomly selects entire clusters.</a:t>
            </a:r>
          </a:p>
          <a:p>
            <a:pPr marL="457200" lvl="1" indent="0" eaLnBrk="0" fontAlgn="base" hangingPunct="0">
              <a:lnSpc>
                <a:spcPct val="10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Example: Selecting random neighborhoods and surveying all households within them.</a:t>
            </a:r>
          </a:p>
        </p:txBody>
      </p:sp>
    </p:spTree>
    <p:extLst>
      <p:ext uri="{BB962C8B-B14F-4D97-AF65-F5344CB8AC3E}">
        <p14:creationId xmlns:p14="http://schemas.microsoft.com/office/powerpoint/2010/main" val="8486240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Size of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lang="en-US" sz="3200" b="1" dirty="0"/>
              <a:t>Size of data</a:t>
            </a:r>
            <a:r>
              <a:rPr lang="en-US" sz="3200" dirty="0"/>
              <a:t> refers to the quantity of data points or observations in a dataset. Larger datasets generally provide more information and can lead to more robust and generalizable conclusions.</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69512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b="1" dirty="0"/>
              <a:t>Advantages of Large Datasets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Increased Statistical Power:</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Larger datasets reduce the margin of error and increase the reliability of statistical tests.</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In medical research, larger sample sizes can detect smaller effects with higher precision.</a:t>
            </a:r>
          </a:p>
          <a:p>
            <a:pPr marL="457200" lvl="1" indent="0"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Better Representativeness:</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Larger datasets are more likely to represent the population accurately.</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A national survey with thousands of respondents better captures population diversity.</a:t>
            </a:r>
          </a:p>
          <a:p>
            <a:pPr marL="457200" lvl="1" indent="0"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Enhanced Machine Learning Performance:</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Machine learning models often perform better with more data.</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Deep learning models, which require vast amounts of data for training.</a:t>
            </a:r>
          </a:p>
        </p:txBody>
      </p:sp>
    </p:spTree>
    <p:extLst>
      <p:ext uri="{BB962C8B-B14F-4D97-AF65-F5344CB8AC3E}">
        <p14:creationId xmlns:p14="http://schemas.microsoft.com/office/powerpoint/2010/main" val="2580042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b="1" dirty="0"/>
              <a:t>Challenges of Large Datasets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Data Management:</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Storing, processing, and analyzing large datasets require substantial computational resources.</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Big data platforms like Hadoop or Spark are often necessary for handling large-scale data.</a:t>
            </a:r>
          </a:p>
          <a:p>
            <a:pPr marL="457200" lvl="1" indent="0" algn="just"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Quality Control:</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Ensuring the accuracy and consistency of large datasets can be challenging.</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Data cleaning and preprocessing become more complex with larger datasets.</a:t>
            </a:r>
          </a:p>
          <a:p>
            <a:pPr marL="457200" lvl="1" indent="0" algn="just"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Overfitting:</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Models trained on very large datasets can sometimes overfit, capturing noise instead of the underlying pattern.</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A model that perfectly fits training data but performs poorly on new, unseen data.</a:t>
            </a:r>
          </a:p>
        </p:txBody>
      </p:sp>
    </p:spTree>
    <p:extLst>
      <p:ext uri="{BB962C8B-B14F-4D97-AF65-F5344CB8AC3E}">
        <p14:creationId xmlns:p14="http://schemas.microsoft.com/office/powerpoint/2010/main" val="7584967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Quality of Data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lang="en-US" sz="3600" b="1" dirty="0"/>
              <a:t>Quality of data</a:t>
            </a:r>
            <a:r>
              <a:rPr lang="en-US" sz="3600" dirty="0"/>
              <a:t> refers to the accuracy, completeness, reliability, and relevance of the data. High-quality data ensures that the analysis is valid and the conclusions drawn are trustworthy.</a:t>
            </a:r>
            <a:endParaRPr kumimoji="0" lang="en-US" altLang="en-US"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5422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Dimensions of Data Quality</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Accuracy: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Data correctly represents the real-world values it is intended to model.</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Correctly recorded patient temperatures in a clinical trial.</a:t>
            </a:r>
          </a:p>
          <a:p>
            <a:pPr marL="457200" lvl="1" indent="0" algn="just"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Completeness:</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All necessary data is present and accounted for.</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A customer database with no missing contact information.</a:t>
            </a:r>
          </a:p>
          <a:p>
            <a:pPr marL="457200" lvl="1" indent="0" algn="just"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Consistency: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Data is consistent across different datasets and systems.</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Uniform date formats across all records in a database.</a:t>
            </a:r>
          </a:p>
          <a:p>
            <a:pPr marL="457200" lvl="1" indent="0" algn="just"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Timeliness:</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Data is up-to-date and available when needed.</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Real-time stock market data for financial analysis.</a:t>
            </a:r>
          </a:p>
          <a:p>
            <a:pPr marL="457200" lvl="1" indent="0" algn="just"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Validity: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Data conforms to the required formats and rules.</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Age entries in a database that are within a plausible range (e.g., 0-120 years).</a:t>
            </a:r>
          </a:p>
        </p:txBody>
      </p:sp>
    </p:spTree>
    <p:extLst>
      <p:ext uri="{BB962C8B-B14F-4D97-AF65-F5344CB8AC3E}">
        <p14:creationId xmlns:p14="http://schemas.microsoft.com/office/powerpoint/2010/main" val="2509666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Advantages of High-Quality Data</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Accurate Analysis:</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High-quality data leads to more accurate and reliable analysis.</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Predictive models built on accurate data are more likely to make correct predictions.</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Better Decision Making:</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High-quality data supports better decision-making processes.</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Businesses can make more informed strategic decisions based on reliable customer data.</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Reduced Risk:</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High-quality data minimizes the risk of errors and misinterpretations.</a:t>
            </a:r>
          </a:p>
          <a:p>
            <a:pPr marL="457200" lvl="1" indent="0" algn="just"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Incorrect data in a financial report can lead to significant financial losses.</a:t>
            </a:r>
          </a:p>
        </p:txBody>
      </p:sp>
    </p:spTree>
    <p:extLst>
      <p:ext uri="{BB962C8B-B14F-4D97-AF65-F5344CB8AC3E}">
        <p14:creationId xmlns:p14="http://schemas.microsoft.com/office/powerpoint/2010/main" val="36620801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Challenges of Ensuring Data Quality</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Resource Intensive:</a:t>
            </a: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Ensuring data quality can be time-consuming and resource-intensive.</a:t>
            </a:r>
          </a:p>
          <a:p>
            <a:pPr marL="457200" lvl="1" indent="0" eaLnBrk="0" fontAlgn="base" hangingPunct="0">
              <a:lnSpc>
                <a:spcPct val="100000"/>
              </a:lnSpc>
              <a:spcBef>
                <a:spcPct val="0"/>
              </a:spcBef>
              <a:spcAft>
                <a:spcPct val="0"/>
              </a:spcAft>
              <a:buFontTx/>
              <a:buChar char="•"/>
              <a:defRPr/>
            </a:pP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Manual data cleaning and validation processes.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Continuous Monitoring:</a:t>
            </a: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Data quality requires ongoing monitoring and maintenance.</a:t>
            </a:r>
          </a:p>
          <a:p>
            <a:pPr marL="457200" lvl="1" indent="0" eaLnBrk="0" fontAlgn="base" hangingPunct="0">
              <a:lnSpc>
                <a:spcPct val="100000"/>
              </a:lnSpc>
              <a:spcBef>
                <a:spcPct val="0"/>
              </a:spcBef>
              <a:spcAft>
                <a:spcPct val="0"/>
              </a:spcAft>
              <a:buFontTx/>
              <a:buChar char="•"/>
              <a:defRPr/>
            </a:pP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Regularly updating and auditing databases to maintain accuracy.</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Complexity:</a:t>
            </a:r>
            <a:endParaRPr kumimoji="0" lang="en-US" alt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Ensuring data quality across multiple systems and sources can be complex.</a:t>
            </a:r>
          </a:p>
          <a:p>
            <a:pPr marL="457200" lvl="1" indent="0" eaLnBrk="0" fontAlgn="base" hangingPunct="0">
              <a:lnSpc>
                <a:spcPct val="100000"/>
              </a:lnSpc>
              <a:spcBef>
                <a:spcPct val="0"/>
              </a:spcBef>
              <a:spcAft>
                <a:spcPct val="0"/>
              </a:spcAft>
              <a:buFontTx/>
              <a:buChar char="•"/>
              <a:defRPr/>
            </a:pP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Integrating data from different departments within a large organization.</a:t>
            </a:r>
          </a:p>
        </p:txBody>
      </p:sp>
    </p:spTree>
    <p:extLst>
      <p:ext uri="{BB962C8B-B14F-4D97-AF65-F5344CB8AC3E}">
        <p14:creationId xmlns:p14="http://schemas.microsoft.com/office/powerpoint/2010/main" val="13274334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Balancing Size and Quality</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Prioritize Data Quality: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Start with ensuring high data quality before expanding the dataset size.</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Validate data accuracy and completeness before scaling data collection efforts.</a:t>
            </a:r>
          </a:p>
          <a:p>
            <a:pPr marL="457200" lvl="1" indent="0"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Incremental Data Collection:</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Collect data in phases, ensuring quality at each stage.</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Pilot studies to refine data collection methods before large-scale implementation.</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Leverage Technology: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 advanced tools and technologies for data management and quality control.</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Automated data cleaning tools and real-time validation checks.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Quality Assurance Processes:</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Implement robust quality assurance processes.</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Regular audits, validation checks, and data quality metrics monitoring.</a:t>
            </a:r>
          </a:p>
        </p:txBody>
      </p:sp>
    </p:spTree>
    <p:extLst>
      <p:ext uri="{BB962C8B-B14F-4D97-AF65-F5344CB8AC3E}">
        <p14:creationId xmlns:p14="http://schemas.microsoft.com/office/powerpoint/2010/main" val="384667014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Examples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Medical Research:</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Balancing the need for large sample sizes with the requirement for accurate and reliable patient data.</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Market Research:</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Ensuring survey data is both comprehensive (size) and accurately reflects consumer preferences (quality).</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Machine Learning:</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Collecting large datasets for training while ensuring data labeling and features are accurate and relevant.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147417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Sample Mean vs. Population Mean</a:t>
            </a:r>
            <a:endParaRPr lang="en-IN" b="1" dirty="0"/>
          </a:p>
        </p:txBody>
      </p:sp>
      <p:pic>
        <p:nvPicPr>
          <p:cNvPr id="7" name="Picture 6">
            <a:extLst>
              <a:ext uri="{FF2B5EF4-FFF2-40B4-BE49-F238E27FC236}">
                <a16:creationId xmlns:a16="http://schemas.microsoft.com/office/drawing/2014/main" id="{56CAA241-B0FA-0267-56FD-37F4B93F8BDC}"/>
              </a:ext>
            </a:extLst>
          </p:cNvPr>
          <p:cNvPicPr>
            <a:picLocks noChangeAspect="1"/>
          </p:cNvPicPr>
          <p:nvPr/>
        </p:nvPicPr>
        <p:blipFill>
          <a:blip r:embed="rId3"/>
          <a:stretch>
            <a:fillRect/>
          </a:stretch>
        </p:blipFill>
        <p:spPr>
          <a:xfrm>
            <a:off x="2902363" y="1690688"/>
            <a:ext cx="6387274" cy="5167312"/>
          </a:xfrm>
          <a:prstGeom prst="rect">
            <a:avLst/>
          </a:prstGeom>
        </p:spPr>
      </p:pic>
    </p:spTree>
    <p:extLst>
      <p:ext uri="{BB962C8B-B14F-4D97-AF65-F5344CB8AC3E}">
        <p14:creationId xmlns:p14="http://schemas.microsoft.com/office/powerpoint/2010/main" val="26790265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Importance of Understanding the Difference</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Inferential Statistics:</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Sample means are used to make inferences about the population mean.</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Using the average height of a sample of students to estimate the average height of all students in a school.</a:t>
            </a:r>
          </a:p>
          <a:p>
            <a:pPr marL="457200" lvl="1" indent="0"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Sampling Variability: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Different samples can produce different sample means.</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Two samples drawn from the same population can have slightly different means due to random variation.</a:t>
            </a:r>
          </a:p>
          <a:p>
            <a:pPr marL="457200" lvl="1" indent="0" eaLnBrk="0" fontAlgn="base" hangingPunct="0">
              <a:lnSpc>
                <a:spcPct val="100000"/>
              </a:lnSpc>
              <a:spcBef>
                <a:spcPct val="0"/>
              </a:spcBef>
              <a:spcAft>
                <a:spcPct val="0"/>
              </a:spcAft>
              <a:buFontTx/>
              <a:buChar char="•"/>
              <a:defRPr/>
            </a:pPr>
            <a:endPar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Bias and Accuracy:</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sample mean is an unbiased estimator of the population mean if the sample is random.</a:t>
            </a:r>
          </a:p>
          <a:p>
            <a:pPr marL="457200" lvl="1" indent="0" eaLnBrk="0" fontAlgn="base" hangingPunct="0">
              <a:lnSpc>
                <a:spcPct val="100000"/>
              </a:lnSpc>
              <a:spcBef>
                <a:spcPct val="0"/>
              </a:spcBef>
              <a:spcAft>
                <a:spcPct val="0"/>
              </a:spcAft>
              <a:buFontTx/>
              <a:buChar char="•"/>
              <a:defRPr/>
            </a:pPr>
            <a:r>
              <a:rPr kumimoji="0" lang="en-US" alt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A properly conducted survey of voters can accurately estimate the population's voting preferences.</a:t>
            </a:r>
          </a:p>
        </p:txBody>
      </p:sp>
    </p:spTree>
    <p:extLst>
      <p:ext uri="{BB962C8B-B14F-4D97-AF65-F5344CB8AC3E}">
        <p14:creationId xmlns:p14="http://schemas.microsoft.com/office/powerpoint/2010/main" val="1109829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Calculating Sample and Population Means</a:t>
            </a:r>
            <a:endParaRPr lang="en-IN" b="1" dirty="0"/>
          </a:p>
        </p:txBody>
      </p:sp>
      <p:pic>
        <p:nvPicPr>
          <p:cNvPr id="7" name="Picture 6">
            <a:extLst>
              <a:ext uri="{FF2B5EF4-FFF2-40B4-BE49-F238E27FC236}">
                <a16:creationId xmlns:a16="http://schemas.microsoft.com/office/drawing/2014/main" id="{1542F704-9094-A0E9-22FC-DCF15B9B3648}"/>
              </a:ext>
            </a:extLst>
          </p:cNvPr>
          <p:cNvPicPr>
            <a:picLocks noChangeAspect="1"/>
          </p:cNvPicPr>
          <p:nvPr/>
        </p:nvPicPr>
        <p:blipFill>
          <a:blip r:embed="rId3"/>
          <a:stretch>
            <a:fillRect/>
          </a:stretch>
        </p:blipFill>
        <p:spPr>
          <a:xfrm>
            <a:off x="1613313" y="1690688"/>
            <a:ext cx="8965373" cy="4802187"/>
          </a:xfrm>
          <a:prstGeom prst="rect">
            <a:avLst/>
          </a:prstGeom>
        </p:spPr>
      </p:pic>
    </p:spTree>
    <p:extLst>
      <p:ext uri="{BB962C8B-B14F-4D97-AF65-F5344CB8AC3E}">
        <p14:creationId xmlns:p14="http://schemas.microsoft.com/office/powerpoint/2010/main" val="36708532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Assignment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altLang="en-US" sz="3200" b="1" dirty="0">
                <a:solidFill>
                  <a:prstClr val="white"/>
                </a:solidFill>
                <a:latin typeface="Arial" panose="020B0604020202020204" pitchFamily="34" charset="0"/>
              </a:rPr>
              <a:t>Create a simple random sample from your dataset. Compare the sample mean and population mean. Discuss any observed biases or differences.</a:t>
            </a:r>
            <a:endParaRPr kumimoji="0" lang="en-US" altLang="en-US" sz="3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6128827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of Sample Mean</a:t>
            </a:r>
            <a:endParaRPr lang="en-IN" b="1" dirty="0"/>
          </a:p>
        </p:txBody>
      </p:sp>
      <p:pic>
        <p:nvPicPr>
          <p:cNvPr id="7" name="Picture 6">
            <a:extLst>
              <a:ext uri="{FF2B5EF4-FFF2-40B4-BE49-F238E27FC236}">
                <a16:creationId xmlns:a16="http://schemas.microsoft.com/office/drawing/2014/main" id="{2099A450-E110-7A03-385F-F7F8D1D28F3B}"/>
              </a:ext>
            </a:extLst>
          </p:cNvPr>
          <p:cNvPicPr>
            <a:picLocks noChangeAspect="1"/>
          </p:cNvPicPr>
          <p:nvPr/>
        </p:nvPicPr>
        <p:blipFill>
          <a:blip r:embed="rId3"/>
          <a:stretch>
            <a:fillRect/>
          </a:stretch>
        </p:blipFill>
        <p:spPr>
          <a:xfrm>
            <a:off x="1161300" y="1690688"/>
            <a:ext cx="9869400" cy="5167312"/>
          </a:xfrm>
          <a:prstGeom prst="rect">
            <a:avLst/>
          </a:prstGeom>
        </p:spPr>
      </p:pic>
    </p:spTree>
    <p:extLst>
      <p:ext uri="{BB962C8B-B14F-4D97-AF65-F5344CB8AC3E}">
        <p14:creationId xmlns:p14="http://schemas.microsoft.com/office/powerpoint/2010/main" val="305550952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Sampling Distribution</a:t>
            </a:r>
            <a:endParaRPr lang="en-IN" b="1" dirty="0"/>
          </a:p>
        </p:txBody>
      </p:sp>
      <p:pic>
        <p:nvPicPr>
          <p:cNvPr id="7" name="Picture 6">
            <a:extLst>
              <a:ext uri="{FF2B5EF4-FFF2-40B4-BE49-F238E27FC236}">
                <a16:creationId xmlns:a16="http://schemas.microsoft.com/office/drawing/2014/main" id="{2099A450-E110-7A03-385F-F7F8D1D28F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7347" y="2492794"/>
            <a:ext cx="11817305" cy="3193502"/>
          </a:xfrm>
          <a:prstGeom prst="rect">
            <a:avLst/>
          </a:prstGeom>
        </p:spPr>
      </p:pic>
    </p:spTree>
    <p:extLst>
      <p:ext uri="{BB962C8B-B14F-4D97-AF65-F5344CB8AC3E}">
        <p14:creationId xmlns:p14="http://schemas.microsoft.com/office/powerpoint/2010/main" val="11824667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Normal Distribution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 normal distribution, also known as a Gaussian distribution or bell curve, is a probability distribution that is symmetric about the mean, showing that data near the mean are more frequent in occurrence than data far from the mean. In a normal distribution:</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20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Mean (μ) = Median = Mode</a:t>
            </a:r>
          </a:p>
          <a:p>
            <a:pPr marL="457200" lvl="1" indent="0" algn="just" eaLnBrk="0" fontAlgn="base" hangingPunct="0">
              <a:lnSpc>
                <a:spcPct val="100000"/>
              </a:lnSpc>
              <a:spcBef>
                <a:spcPct val="0"/>
              </a:spcBef>
              <a:spcAft>
                <a:spcPct val="0"/>
              </a:spcAft>
              <a:buFontTx/>
              <a:buChar char="•"/>
              <a:defRPr/>
            </a:pPr>
            <a:r>
              <a:rPr kumimoji="0" lang="en-US" altLang="en-US" sz="20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curve is bell-shaped and symmetric</a:t>
            </a:r>
          </a:p>
          <a:p>
            <a:pPr marL="457200" lvl="1" indent="0" algn="just" eaLnBrk="0" fontAlgn="base" hangingPunct="0">
              <a:lnSpc>
                <a:spcPct val="100000"/>
              </a:lnSpc>
              <a:spcBef>
                <a:spcPct val="0"/>
              </a:spcBef>
              <a:spcAft>
                <a:spcPct val="0"/>
              </a:spcAft>
              <a:buFontTx/>
              <a:buChar char="•"/>
              <a:defRPr/>
            </a:pPr>
            <a:r>
              <a:rPr kumimoji="0" lang="en-US" altLang="en-US" sz="20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68% of data falls within 1 standard deviation (σ) of the mean</a:t>
            </a:r>
          </a:p>
          <a:p>
            <a:pPr marL="457200" lvl="1" indent="0" algn="just" eaLnBrk="0" fontAlgn="base" hangingPunct="0">
              <a:lnSpc>
                <a:spcPct val="100000"/>
              </a:lnSpc>
              <a:spcBef>
                <a:spcPct val="0"/>
              </a:spcBef>
              <a:spcAft>
                <a:spcPct val="0"/>
              </a:spcAft>
              <a:buFontTx/>
              <a:buChar char="•"/>
              <a:defRPr/>
            </a:pPr>
            <a:r>
              <a:rPr kumimoji="0" lang="en-US" altLang="en-US" sz="20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95% of data falls within 2σ of the mean</a:t>
            </a:r>
          </a:p>
          <a:p>
            <a:pPr marL="457200" lvl="1" indent="0" algn="just" eaLnBrk="0" fontAlgn="base" hangingPunct="0">
              <a:lnSpc>
                <a:spcPct val="100000"/>
              </a:lnSpc>
              <a:spcBef>
                <a:spcPct val="0"/>
              </a:spcBef>
              <a:spcAft>
                <a:spcPct val="0"/>
              </a:spcAft>
              <a:buFontTx/>
              <a:buChar char="•"/>
              <a:defRPr/>
            </a:pPr>
            <a:r>
              <a:rPr kumimoji="0" lang="en-US" altLang="en-US" sz="20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99.7% of data falls within 3σ of the mean</a:t>
            </a:r>
            <a:endParaRPr kumimoji="0" lang="en-US" altLang="en-US" sz="160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596632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Other Distributions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Uniform Distribution</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Every value within a range has an equal probability of occurring</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No mode or median, only a mean</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Used for random sampling or modeling events with equal likelihood</a:t>
            </a:r>
          </a:p>
          <a:p>
            <a:pPr marL="457200" lvl="1" indent="0" algn="just" eaLnBrk="0" fontAlgn="base" hangingPunct="0">
              <a:lnSpc>
                <a:spcPct val="100000"/>
              </a:lnSpc>
              <a:spcBef>
                <a:spcPct val="0"/>
              </a:spcBef>
              <a:spcAft>
                <a:spcPct val="0"/>
              </a:spcAft>
              <a:buFontTx/>
              <a:buChar char="•"/>
              <a:defRPr/>
            </a:pPr>
            <a:endPar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Poisson Distribution</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Models the number of events occurring in a fixed interval</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Used for count data, like number of defects or accidents</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Mean (μ) and variance (σ^2) are equal</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Binomial Distribution</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Models the number of successes in a fixed number of trials</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Each trial has a constant probability of success</a:t>
            </a:r>
          </a:p>
          <a:p>
            <a:pPr marL="457200" lvl="1" indent="0" algn="just" eaLnBrk="0" fontAlgn="base" hangingPunct="0">
              <a:lnSpc>
                <a:spcPct val="100000"/>
              </a:lnSpc>
              <a:spcBef>
                <a:spcPct val="0"/>
              </a:spcBef>
              <a:spcAft>
                <a:spcPct val="0"/>
              </a:spcAft>
              <a:buFontTx/>
              <a:buChar char="•"/>
              <a:defRPr/>
            </a:pPr>
            <a:r>
              <a:rPr kumimoji="0" lang="en-US" altLang="en-US"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Used for modeling binary outcomes, like coin tosses or medical trials</a:t>
            </a:r>
            <a:endParaRPr kumimoji="0" lang="en-US" altLang="en-US" sz="120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3327524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Other Distributions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Exponential Distribution</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Models the time between events in a Poisson process</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Used for modeling waiting times or lifetimes</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Mean (μ) = 1/λ (rate parameter)</a:t>
            </a:r>
          </a:p>
          <a:p>
            <a:pPr marL="457200" lvl="1" indent="0" algn="just" eaLnBrk="0" fontAlgn="base" hangingPunct="0">
              <a:lnSpc>
                <a:spcPct val="100000"/>
              </a:lnSpc>
              <a:spcBef>
                <a:spcPct val="0"/>
              </a:spcBef>
              <a:spcAft>
                <a:spcPct val="0"/>
              </a:spcAft>
              <a:buFontTx/>
              <a:buChar char="•"/>
              <a:defRPr/>
            </a:pPr>
            <a:endPar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Skewed Distributions</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Right-skewed: Most data points are on the left side, with extreme values on the right (e.g., income distribution)</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Left-skewed: Most data points are on the right side, with extreme values on the left (e.g., housing prices)</a:t>
            </a:r>
          </a:p>
          <a:p>
            <a:pPr marL="457200" lvl="1" indent="0" algn="just" eaLnBrk="0" fontAlgn="base" hangingPunct="0">
              <a:lnSpc>
                <a:spcPct val="100000"/>
              </a:lnSpc>
              <a:spcBef>
                <a:spcPct val="0"/>
              </a:spcBef>
              <a:spcAft>
                <a:spcPct val="0"/>
              </a:spcAft>
              <a:buFontTx/>
              <a:buChar char="•"/>
              <a:defRPr/>
            </a:pPr>
            <a:endPar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6. Bimodal Distribution</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Two distinct peaks, indicating two underlying distributions</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Used for modeling data with two distinct groups or subpopulations</a:t>
            </a:r>
          </a:p>
          <a:p>
            <a:pPr marL="457200" lvl="1" indent="0" algn="just" eaLnBrk="0" fontAlgn="base" hangingPunct="0">
              <a:lnSpc>
                <a:spcPct val="100000"/>
              </a:lnSpc>
              <a:spcBef>
                <a:spcPct val="0"/>
              </a:spcBef>
              <a:spcAft>
                <a:spcPct val="0"/>
              </a:spcAft>
              <a:buFontTx/>
              <a:buChar char="•"/>
              <a:defRPr/>
            </a:pPr>
            <a:endPar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4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7. Multimodal Distribution</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More than two peaks, indicating multiple underlying distributions</a:t>
            </a:r>
          </a:p>
          <a:p>
            <a:pPr marL="457200" lvl="1" indent="0" algn="just" eaLnBrk="0" fontAlgn="base" hangingPunct="0">
              <a:lnSpc>
                <a:spcPct val="100000"/>
              </a:lnSpc>
              <a:spcBef>
                <a:spcPct val="0"/>
              </a:spcBef>
              <a:spcAft>
                <a:spcPct val="0"/>
              </a:spcAft>
              <a:buFontTx/>
              <a:buChar char="•"/>
              <a:defRPr/>
            </a:pP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Used for modeling complex data with multiple subpopulations</a:t>
            </a:r>
            <a:endParaRPr kumimoji="0" lang="en-US" altLang="en-US" sz="70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8752949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Central Limit Theorem</a:t>
            </a:r>
            <a:endParaRPr lang="en-IN" b="1" dirty="0"/>
          </a:p>
        </p:txBody>
      </p:sp>
      <p:pic>
        <p:nvPicPr>
          <p:cNvPr id="7" name="Picture 6">
            <a:extLst>
              <a:ext uri="{FF2B5EF4-FFF2-40B4-BE49-F238E27FC236}">
                <a16:creationId xmlns:a16="http://schemas.microsoft.com/office/drawing/2014/main" id="{2099A450-E110-7A03-385F-F7F8D1D28F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7347" y="2606806"/>
            <a:ext cx="11817305" cy="1644388"/>
          </a:xfrm>
          <a:prstGeom prst="rect">
            <a:avLst/>
          </a:prstGeom>
        </p:spPr>
      </p:pic>
    </p:spTree>
    <p:extLst>
      <p:ext uri="{BB962C8B-B14F-4D97-AF65-F5344CB8AC3E}">
        <p14:creationId xmlns:p14="http://schemas.microsoft.com/office/powerpoint/2010/main" val="384723602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Why is the Central Limit Theorem Important?</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Foundation for Inferential Statistics: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The CLT allows us to make inferences about population parameters using sample statistics.</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Estimating the population mean from the sample mean.</a:t>
            </a:r>
          </a:p>
          <a:p>
            <a:pPr marL="457200" lvl="1" indent="0" algn="just" eaLnBrk="0" fontAlgn="base" hangingPunct="0">
              <a:lnSpc>
                <a:spcPct val="100000"/>
              </a:lnSpc>
              <a:spcBef>
                <a:spcPct val="0"/>
              </a:spcBef>
              <a:spcAft>
                <a:spcPct val="0"/>
              </a:spcAft>
              <a:buFontTx/>
              <a:buChar char="•"/>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Justifies the Use of Normal Distribution: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Many statistical methods assume normality, and the CLT provides the theoretical basis for this assumption.</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Confidence intervals and hypothesis tests for the mean often rely on the normal distribution.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Applicability to Non-Normal Populations: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The CLT applies even if the population distribution is not normal, provided the sample size is large enough.</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Sampling from a skewed population, the distribution of the sample mean will still be approximately normal for large sample sizes.</a:t>
            </a:r>
          </a:p>
        </p:txBody>
      </p:sp>
    </p:spTree>
    <p:extLst>
      <p:ext uri="{BB962C8B-B14F-4D97-AF65-F5344CB8AC3E}">
        <p14:creationId xmlns:p14="http://schemas.microsoft.com/office/powerpoint/2010/main" val="11440414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Conditions for the Central Limit Theorem</a:t>
            </a:r>
            <a:endParaRPr lang="en-IN" b="1" dirty="0"/>
          </a:p>
        </p:txBody>
      </p:sp>
      <p:pic>
        <p:nvPicPr>
          <p:cNvPr id="7" name="Picture 6">
            <a:extLst>
              <a:ext uri="{FF2B5EF4-FFF2-40B4-BE49-F238E27FC236}">
                <a16:creationId xmlns:a16="http://schemas.microsoft.com/office/drawing/2014/main" id="{305E88D5-E567-0EBB-6C1C-5E7CCE59DB67}"/>
              </a:ext>
            </a:extLst>
          </p:cNvPr>
          <p:cNvPicPr>
            <a:picLocks noChangeAspect="1"/>
          </p:cNvPicPr>
          <p:nvPr/>
        </p:nvPicPr>
        <p:blipFill>
          <a:blip r:embed="rId3"/>
          <a:stretch>
            <a:fillRect/>
          </a:stretch>
        </p:blipFill>
        <p:spPr>
          <a:xfrm>
            <a:off x="1425994" y="1338886"/>
            <a:ext cx="9340012" cy="5153989"/>
          </a:xfrm>
          <a:prstGeom prst="rect">
            <a:avLst/>
          </a:prstGeom>
        </p:spPr>
      </p:pic>
    </p:spTree>
    <p:extLst>
      <p:ext uri="{BB962C8B-B14F-4D97-AF65-F5344CB8AC3E}">
        <p14:creationId xmlns:p14="http://schemas.microsoft.com/office/powerpoint/2010/main" val="409343546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Practical Implications of the CLT</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10000"/>
          </a:bodyPr>
          <a:lstStyle/>
          <a:p>
            <a:pPr algn="just">
              <a:buFont typeface="+mj-lt"/>
              <a:buAutoNum type="arabicPeriod"/>
            </a:pPr>
            <a:r>
              <a:rPr lang="en-US" b="1" dirty="0"/>
              <a:t>Confidence Intervals:</a:t>
            </a:r>
            <a:endParaRPr lang="en-US" dirty="0"/>
          </a:p>
          <a:p>
            <a:pPr marL="742950" lvl="1" indent="-285750" algn="just">
              <a:buFont typeface="+mj-lt"/>
              <a:buAutoNum type="arabicPeriod"/>
            </a:pPr>
            <a:r>
              <a:rPr lang="en-US" dirty="0"/>
              <a:t>Confidence intervals for the mean can be constructed using the normal distribution, even if the population distribution is not normal.</a:t>
            </a:r>
          </a:p>
          <a:p>
            <a:pPr marL="742950" lvl="1" indent="-285750" algn="just">
              <a:buFont typeface="+mj-lt"/>
              <a:buAutoNum type="arabicPeriod"/>
            </a:pPr>
            <a:r>
              <a:rPr lang="en-US" dirty="0"/>
              <a:t>Example: Constructing a 95% confidence interval for the mean weight of apples in a sample.</a:t>
            </a:r>
          </a:p>
          <a:p>
            <a:pPr marL="742950" lvl="1" indent="-285750" algn="just">
              <a:buFont typeface="+mj-lt"/>
              <a:buAutoNum type="arabicPeriod"/>
            </a:pPr>
            <a:endParaRPr lang="en-US" dirty="0"/>
          </a:p>
          <a:p>
            <a:pPr algn="just">
              <a:buFont typeface="+mj-lt"/>
              <a:buAutoNum type="arabicPeriod"/>
            </a:pPr>
            <a:r>
              <a:rPr lang="en-US" b="1" dirty="0"/>
              <a:t>Hypothesis Testing:</a:t>
            </a:r>
            <a:endParaRPr lang="en-US" dirty="0"/>
          </a:p>
          <a:p>
            <a:pPr marL="742950" lvl="1" indent="-285750" algn="just">
              <a:buFont typeface="+mj-lt"/>
              <a:buAutoNum type="arabicPeriod"/>
            </a:pPr>
            <a:r>
              <a:rPr lang="en-US" dirty="0"/>
              <a:t>Many hypothesis tests for the mean are based on the normal distribution, thanks to the CLT.</a:t>
            </a:r>
          </a:p>
          <a:p>
            <a:pPr marL="742950" lvl="1" indent="-285750" algn="just">
              <a:buFont typeface="+mj-lt"/>
              <a:buAutoNum type="arabicPeriod"/>
            </a:pPr>
            <a:r>
              <a:rPr lang="en-US" dirty="0"/>
              <a:t>Example: Testing whether the mean height of a sample of plants differs from a known value.</a:t>
            </a:r>
          </a:p>
          <a:p>
            <a:pPr marL="742950" lvl="1" indent="-285750" algn="just">
              <a:buFont typeface="+mj-lt"/>
              <a:buAutoNum type="arabicPeriod"/>
            </a:pPr>
            <a:endParaRPr lang="en-US" dirty="0"/>
          </a:p>
          <a:p>
            <a:pPr algn="just">
              <a:buFont typeface="+mj-lt"/>
              <a:buAutoNum type="arabicPeriod"/>
            </a:pPr>
            <a:r>
              <a:rPr lang="en-US" b="1" dirty="0"/>
              <a:t>Quality Control:</a:t>
            </a:r>
            <a:endParaRPr lang="en-US" dirty="0"/>
          </a:p>
          <a:p>
            <a:pPr marL="742950" lvl="1" indent="-285750" algn="just">
              <a:buFont typeface="+mj-lt"/>
              <a:buAutoNum type="arabicPeriod"/>
            </a:pPr>
            <a:r>
              <a:rPr lang="en-US" dirty="0"/>
              <a:t>In manufacturing, the CLT is used to monitor product quality by sampling and analyzing the mean characteristics of products.</a:t>
            </a:r>
          </a:p>
          <a:p>
            <a:pPr marL="742950" lvl="1" indent="-285750" algn="just">
              <a:buFont typeface="+mj-lt"/>
              <a:buAutoNum type="arabicPeriod"/>
            </a:pPr>
            <a:r>
              <a:rPr lang="en-US" dirty="0"/>
              <a:t>Example: Ensuring the average diameter of produced bolts meets specified standards.</a:t>
            </a:r>
          </a:p>
        </p:txBody>
      </p:sp>
    </p:spTree>
    <p:extLst>
      <p:ext uri="{BB962C8B-B14F-4D97-AF65-F5344CB8AC3E}">
        <p14:creationId xmlns:p14="http://schemas.microsoft.com/office/powerpoint/2010/main" val="38315418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Examples</a:t>
            </a:r>
            <a:endParaRPr lang="en-IN" b="1" dirty="0"/>
          </a:p>
        </p:txBody>
      </p:sp>
      <p:pic>
        <p:nvPicPr>
          <p:cNvPr id="7" name="Picture 6">
            <a:extLst>
              <a:ext uri="{FF2B5EF4-FFF2-40B4-BE49-F238E27FC236}">
                <a16:creationId xmlns:a16="http://schemas.microsoft.com/office/drawing/2014/main" id="{305E88D5-E567-0EBB-6C1C-5E7CCE59DB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88998" y="1408908"/>
            <a:ext cx="9614003" cy="5449092"/>
          </a:xfrm>
          <a:prstGeom prst="rect">
            <a:avLst/>
          </a:prstGeom>
        </p:spPr>
      </p:pic>
    </p:spTree>
    <p:extLst>
      <p:ext uri="{BB962C8B-B14F-4D97-AF65-F5344CB8AC3E}">
        <p14:creationId xmlns:p14="http://schemas.microsoft.com/office/powerpoint/2010/main" val="5896435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Standard Error</a:t>
            </a:r>
            <a:endParaRPr lang="en-IN" b="1" dirty="0"/>
          </a:p>
        </p:txBody>
      </p:sp>
      <p:pic>
        <p:nvPicPr>
          <p:cNvPr id="7" name="Picture 6">
            <a:extLst>
              <a:ext uri="{FF2B5EF4-FFF2-40B4-BE49-F238E27FC236}">
                <a16:creationId xmlns:a16="http://schemas.microsoft.com/office/drawing/2014/main" id="{305E88D5-E567-0EBB-6C1C-5E7CCE59DB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88998" y="1484545"/>
            <a:ext cx="9614003" cy="5297817"/>
          </a:xfrm>
          <a:prstGeom prst="rect">
            <a:avLst/>
          </a:prstGeom>
        </p:spPr>
      </p:pic>
    </p:spTree>
    <p:extLst>
      <p:ext uri="{BB962C8B-B14F-4D97-AF65-F5344CB8AC3E}">
        <p14:creationId xmlns:p14="http://schemas.microsoft.com/office/powerpoint/2010/main" val="13107780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Importance of the Standard Error</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Precision of Estimates: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SE indicates how precisely the sample statistic estimates the population parameter.</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A smaller SE suggests a more precise estimate of the population mean.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Confidence Intervals: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SE is used to construct confidence intervals for population parameters.</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Constructing a 95% confidence interval for the mean height of a sample of plants.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Hypothesis Testing: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SE is used in hypothesis tests to determine if observed data significantly differ from what is expected.</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Testing if the mean weight of a sample of fruits differs from a known value.</a:t>
            </a:r>
          </a:p>
        </p:txBody>
      </p:sp>
    </p:spTree>
    <p:extLst>
      <p:ext uri="{BB962C8B-B14F-4D97-AF65-F5344CB8AC3E}">
        <p14:creationId xmlns:p14="http://schemas.microsoft.com/office/powerpoint/2010/main" val="97284615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Calculation of Standard Error</a:t>
            </a:r>
            <a:endParaRPr lang="en-IN" b="1" dirty="0"/>
          </a:p>
        </p:txBody>
      </p:sp>
      <p:pic>
        <p:nvPicPr>
          <p:cNvPr id="7" name="Picture 6">
            <a:extLst>
              <a:ext uri="{FF2B5EF4-FFF2-40B4-BE49-F238E27FC236}">
                <a16:creationId xmlns:a16="http://schemas.microsoft.com/office/drawing/2014/main" id="{448BFB75-42FD-0BB9-9FFB-A0DA7530F652}"/>
              </a:ext>
            </a:extLst>
          </p:cNvPr>
          <p:cNvPicPr>
            <a:picLocks noChangeAspect="1"/>
          </p:cNvPicPr>
          <p:nvPr/>
        </p:nvPicPr>
        <p:blipFill>
          <a:blip r:embed="rId3"/>
          <a:stretch>
            <a:fillRect/>
          </a:stretch>
        </p:blipFill>
        <p:spPr>
          <a:xfrm>
            <a:off x="1298576" y="1352760"/>
            <a:ext cx="9594847" cy="5505240"/>
          </a:xfrm>
          <a:prstGeom prst="rect">
            <a:avLst/>
          </a:prstGeom>
        </p:spPr>
      </p:pic>
    </p:spTree>
    <p:extLst>
      <p:ext uri="{BB962C8B-B14F-4D97-AF65-F5344CB8AC3E}">
        <p14:creationId xmlns:p14="http://schemas.microsoft.com/office/powerpoint/2010/main" val="330322930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Interpretation of Standard Error</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buFont typeface="+mj-lt"/>
              <a:buAutoNum type="arabicPeriod"/>
            </a:pPr>
            <a:r>
              <a:rPr lang="en-US" b="1" dirty="0"/>
              <a:t>Large SE:</a:t>
            </a:r>
            <a:endParaRPr lang="en-US" dirty="0"/>
          </a:p>
          <a:p>
            <a:pPr marL="742950" lvl="1" indent="-285750">
              <a:buFont typeface="+mj-lt"/>
              <a:buAutoNum type="arabicPeriod"/>
            </a:pPr>
            <a:r>
              <a:rPr lang="en-US" dirty="0"/>
              <a:t>Indicates more variability in the sample statistic.</a:t>
            </a:r>
          </a:p>
          <a:p>
            <a:pPr marL="742950" lvl="1" indent="-285750">
              <a:buFont typeface="+mj-lt"/>
              <a:buAutoNum type="arabicPeriod"/>
            </a:pPr>
            <a:r>
              <a:rPr lang="en-US" dirty="0"/>
              <a:t>Example: A large SE for the sample mean suggests that the sample means vary widely from sample to sample.</a:t>
            </a:r>
          </a:p>
          <a:p>
            <a:pPr>
              <a:buFont typeface="+mj-lt"/>
              <a:buAutoNum type="arabicPeriod"/>
            </a:pPr>
            <a:r>
              <a:rPr lang="en-US" b="1" dirty="0"/>
              <a:t>Small SE:</a:t>
            </a:r>
            <a:endParaRPr lang="en-US" dirty="0"/>
          </a:p>
          <a:p>
            <a:pPr marL="742950" lvl="1" indent="-285750">
              <a:buFont typeface="+mj-lt"/>
              <a:buAutoNum type="arabicPeriod"/>
            </a:pPr>
            <a:r>
              <a:rPr lang="en-US" dirty="0"/>
              <a:t>Indicates less variability in the sample statistic.</a:t>
            </a:r>
          </a:p>
          <a:p>
            <a:pPr marL="742950" lvl="1" indent="-285750">
              <a:buFont typeface="+mj-lt"/>
              <a:buAutoNum type="arabicPeriod"/>
            </a:pPr>
            <a:r>
              <a:rPr lang="en-US" dirty="0"/>
              <a:t>Example: A small SE for the sample mean suggests that the sample means are close to each other.</a:t>
            </a:r>
          </a:p>
        </p:txBody>
      </p:sp>
    </p:spTree>
    <p:extLst>
      <p:ext uri="{BB962C8B-B14F-4D97-AF65-F5344CB8AC3E}">
        <p14:creationId xmlns:p14="http://schemas.microsoft.com/office/powerpoint/2010/main" val="15093117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Relationship Between Standard Error and Sample Size</a:t>
            </a:r>
            <a:endParaRPr lang="en-IN" b="1" dirty="0"/>
          </a:p>
        </p:txBody>
      </p:sp>
      <p:pic>
        <p:nvPicPr>
          <p:cNvPr id="7" name="Picture 6">
            <a:extLst>
              <a:ext uri="{FF2B5EF4-FFF2-40B4-BE49-F238E27FC236}">
                <a16:creationId xmlns:a16="http://schemas.microsoft.com/office/drawing/2014/main" id="{448BFB75-42FD-0BB9-9FFB-A0DA7530F65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9996" y="1690688"/>
            <a:ext cx="11192007" cy="5080815"/>
          </a:xfrm>
          <a:prstGeom prst="rect">
            <a:avLst/>
          </a:prstGeom>
        </p:spPr>
      </p:pic>
    </p:spTree>
    <p:extLst>
      <p:ext uri="{BB962C8B-B14F-4D97-AF65-F5344CB8AC3E}">
        <p14:creationId xmlns:p14="http://schemas.microsoft.com/office/powerpoint/2010/main" val="33691204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Standard Error in Practice</a:t>
            </a:r>
            <a:endParaRPr lang="en-IN" b="1" dirty="0"/>
          </a:p>
        </p:txBody>
      </p:sp>
      <p:pic>
        <p:nvPicPr>
          <p:cNvPr id="7" name="Picture 6">
            <a:extLst>
              <a:ext uri="{FF2B5EF4-FFF2-40B4-BE49-F238E27FC236}">
                <a16:creationId xmlns:a16="http://schemas.microsoft.com/office/drawing/2014/main" id="{448BFB75-42FD-0BB9-9FFB-A0DA7530F65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11419" y="1690688"/>
            <a:ext cx="8769161" cy="5080815"/>
          </a:xfrm>
          <a:prstGeom prst="rect">
            <a:avLst/>
          </a:prstGeom>
        </p:spPr>
      </p:pic>
    </p:spTree>
    <p:extLst>
      <p:ext uri="{BB962C8B-B14F-4D97-AF65-F5344CB8AC3E}">
        <p14:creationId xmlns:p14="http://schemas.microsoft.com/office/powerpoint/2010/main" val="25647584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Standard Error in Practice</a:t>
            </a:r>
            <a:endParaRPr lang="en-IN" b="1" dirty="0"/>
          </a:p>
        </p:txBody>
      </p:sp>
      <p:pic>
        <p:nvPicPr>
          <p:cNvPr id="7" name="Picture 6">
            <a:extLst>
              <a:ext uri="{FF2B5EF4-FFF2-40B4-BE49-F238E27FC236}">
                <a16:creationId xmlns:a16="http://schemas.microsoft.com/office/drawing/2014/main" id="{448BFB75-42FD-0BB9-9FFB-A0DA7530F65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62341" y="1690688"/>
            <a:ext cx="8267317" cy="5080815"/>
          </a:xfrm>
          <a:prstGeom prst="rect">
            <a:avLst/>
          </a:prstGeom>
        </p:spPr>
      </p:pic>
    </p:spTree>
    <p:extLst>
      <p:ext uri="{BB962C8B-B14F-4D97-AF65-F5344CB8AC3E}">
        <p14:creationId xmlns:p14="http://schemas.microsoft.com/office/powerpoint/2010/main" val="171424037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Confidence Intervals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sz="4000" dirty="0"/>
              <a:t>Confidence intervals provide a range of values within which we expect a population parameter to lie, with a certain level of confidence. They are crucial in inferential statistics for estimating population parameters and understanding the precision of sample estimates.</a:t>
            </a:r>
          </a:p>
        </p:txBody>
      </p:sp>
    </p:spTree>
    <p:extLst>
      <p:ext uri="{BB962C8B-B14F-4D97-AF65-F5344CB8AC3E}">
        <p14:creationId xmlns:p14="http://schemas.microsoft.com/office/powerpoint/2010/main" val="309324221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Key Concepts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stretch>
            <a:fillRect/>
          </a:stretch>
        </p:blipFill>
        <p:spPr>
          <a:xfrm>
            <a:off x="1623820" y="1392888"/>
            <a:ext cx="8944359" cy="5291471"/>
          </a:xfrm>
          <a:prstGeom prst="rect">
            <a:avLst/>
          </a:prstGeom>
        </p:spPr>
      </p:pic>
    </p:spTree>
    <p:extLst>
      <p:ext uri="{BB962C8B-B14F-4D97-AF65-F5344CB8AC3E}">
        <p14:creationId xmlns:p14="http://schemas.microsoft.com/office/powerpoint/2010/main" val="311530045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Constructing Confidence Intervals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0668" y="1690688"/>
            <a:ext cx="9990664" cy="5006710"/>
          </a:xfrm>
          <a:prstGeom prst="rect">
            <a:avLst/>
          </a:prstGeom>
        </p:spPr>
      </p:pic>
    </p:spTree>
    <p:extLst>
      <p:ext uri="{BB962C8B-B14F-4D97-AF65-F5344CB8AC3E}">
        <p14:creationId xmlns:p14="http://schemas.microsoft.com/office/powerpoint/2010/main" val="33131445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Constructing Confidence Intervals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46986" y="1690688"/>
            <a:ext cx="7498028" cy="5006710"/>
          </a:xfrm>
          <a:prstGeom prst="rect">
            <a:avLst/>
          </a:prstGeom>
        </p:spPr>
      </p:pic>
    </p:spTree>
    <p:extLst>
      <p:ext uri="{BB962C8B-B14F-4D97-AF65-F5344CB8AC3E}">
        <p14:creationId xmlns:p14="http://schemas.microsoft.com/office/powerpoint/2010/main" val="297226856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Constructing Confidence Intervals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93498" y="1451811"/>
            <a:ext cx="10005004" cy="5046996"/>
          </a:xfrm>
          <a:prstGeom prst="rect">
            <a:avLst/>
          </a:prstGeom>
        </p:spPr>
      </p:pic>
    </p:spTree>
    <p:extLst>
      <p:ext uri="{BB962C8B-B14F-4D97-AF65-F5344CB8AC3E}">
        <p14:creationId xmlns:p14="http://schemas.microsoft.com/office/powerpoint/2010/main" val="13262677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Constructing Confidence Intervals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81200" y="1464021"/>
            <a:ext cx="8229599" cy="5393979"/>
          </a:xfrm>
          <a:prstGeom prst="rect">
            <a:avLst/>
          </a:prstGeom>
        </p:spPr>
      </p:pic>
    </p:spTree>
    <p:extLst>
      <p:ext uri="{BB962C8B-B14F-4D97-AF65-F5344CB8AC3E}">
        <p14:creationId xmlns:p14="http://schemas.microsoft.com/office/powerpoint/2010/main" val="195982489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Constructing Confidence Intervals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2142" y="1690688"/>
            <a:ext cx="10947715" cy="5046996"/>
          </a:xfrm>
          <a:prstGeom prst="rect">
            <a:avLst/>
          </a:prstGeom>
        </p:spPr>
      </p:pic>
    </p:spTree>
    <p:extLst>
      <p:ext uri="{BB962C8B-B14F-4D97-AF65-F5344CB8AC3E}">
        <p14:creationId xmlns:p14="http://schemas.microsoft.com/office/powerpoint/2010/main" val="15715548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Constructing Confidence Intervals</a:t>
            </a:r>
            <a:endParaRPr lang="en-IN" b="1" dirty="0"/>
          </a:p>
        </p:txBody>
      </p:sp>
      <p:pic>
        <p:nvPicPr>
          <p:cNvPr id="8" name="Picture 7">
            <a:extLst>
              <a:ext uri="{FF2B5EF4-FFF2-40B4-BE49-F238E27FC236}">
                <a16:creationId xmlns:a16="http://schemas.microsoft.com/office/drawing/2014/main" id="{32D3A9E7-3DD6-CE9E-EE07-5A23870963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80621" y="1690688"/>
            <a:ext cx="9030756" cy="5046996"/>
          </a:xfrm>
          <a:prstGeom prst="rect">
            <a:avLst/>
          </a:prstGeom>
        </p:spPr>
      </p:pic>
    </p:spTree>
    <p:extLst>
      <p:ext uri="{BB962C8B-B14F-4D97-AF65-F5344CB8AC3E}">
        <p14:creationId xmlns:p14="http://schemas.microsoft.com/office/powerpoint/2010/main" val="352397667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Interpretation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Correct Interpretation: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If we construct 100 confidence intervals from 100 different samples, approximately 95 of them will contain the true population parameter (for a 95% confidence level).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Incorrect Interpretation: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"There is a 95% probability that the true population parameter lies within this specific interval." (This is incorrect because the interval is fixed and the population parameter is not random.)</a:t>
            </a:r>
          </a:p>
        </p:txBody>
      </p:sp>
    </p:spTree>
    <p:extLst>
      <p:ext uri="{BB962C8B-B14F-4D97-AF65-F5344CB8AC3E}">
        <p14:creationId xmlns:p14="http://schemas.microsoft.com/office/powerpoint/2010/main" val="252927299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Factors Affecting the Width of a Confidence Interval</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Sample Size (n):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Larger sample sizes result in narrower confidence intervals, indicating more precise estimates.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Confidence Level:</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Higher confidence levels result in wider intervals, reflecting greater uncertainty.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Population Variability (σ or 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Greater variability in the population results in wider confidence intervals.</a:t>
            </a:r>
          </a:p>
        </p:txBody>
      </p:sp>
    </p:spTree>
    <p:extLst>
      <p:ext uri="{BB962C8B-B14F-4D97-AF65-F5344CB8AC3E}">
        <p14:creationId xmlns:p14="http://schemas.microsoft.com/office/powerpoint/2010/main" val="102001758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The Bootstrap Method</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The core idea of bootstrapping is to use the original sample data to generate many "bootstrap samples" by sampling with replacement. Each bootstrap sample is of the same size as the original sample.</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12979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Steps in Bootstrapping</a:t>
            </a:r>
            <a:endParaRPr lang="en-IN" b="1" dirty="0"/>
          </a:p>
        </p:txBody>
      </p:sp>
      <p:pic>
        <p:nvPicPr>
          <p:cNvPr id="7" name="Picture 6">
            <a:extLst>
              <a:ext uri="{FF2B5EF4-FFF2-40B4-BE49-F238E27FC236}">
                <a16:creationId xmlns:a16="http://schemas.microsoft.com/office/drawing/2014/main" id="{27473591-4AC7-978C-9897-7A46C890EA97}"/>
              </a:ext>
            </a:extLst>
          </p:cNvPr>
          <p:cNvPicPr>
            <a:picLocks noChangeAspect="1"/>
          </p:cNvPicPr>
          <p:nvPr/>
        </p:nvPicPr>
        <p:blipFill>
          <a:blip r:embed="rId3"/>
          <a:stretch>
            <a:fillRect/>
          </a:stretch>
        </p:blipFill>
        <p:spPr>
          <a:xfrm>
            <a:off x="1323509" y="1516214"/>
            <a:ext cx="9544982" cy="5341786"/>
          </a:xfrm>
          <a:prstGeom prst="rect">
            <a:avLst/>
          </a:prstGeom>
        </p:spPr>
      </p:pic>
    </p:spTree>
    <p:extLst>
      <p:ext uri="{BB962C8B-B14F-4D97-AF65-F5344CB8AC3E}">
        <p14:creationId xmlns:p14="http://schemas.microsoft.com/office/powerpoint/2010/main" val="254740975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 of Bootstrapping</a:t>
            </a:r>
            <a:endParaRPr lang="en-IN" b="1" dirty="0"/>
          </a:p>
        </p:txBody>
      </p:sp>
      <p:pic>
        <p:nvPicPr>
          <p:cNvPr id="7" name="Picture 6">
            <a:extLst>
              <a:ext uri="{FF2B5EF4-FFF2-40B4-BE49-F238E27FC236}">
                <a16:creationId xmlns:a16="http://schemas.microsoft.com/office/drawing/2014/main" id="{27473591-4AC7-978C-9897-7A46C890EA9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8336" y="1690688"/>
            <a:ext cx="10695327" cy="5177803"/>
          </a:xfrm>
          <a:prstGeom prst="rect">
            <a:avLst/>
          </a:prstGeom>
        </p:spPr>
      </p:pic>
    </p:spTree>
    <p:extLst>
      <p:ext uri="{BB962C8B-B14F-4D97-AF65-F5344CB8AC3E}">
        <p14:creationId xmlns:p14="http://schemas.microsoft.com/office/powerpoint/2010/main" val="105292309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Applications of Bootstrapping</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Confidence Intervals:</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Constructing confidence intervals for statistics where traditional methods are difficult or unavailable.</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Example: Constructing a 95% confidence interval for the median income of a population.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Hypothesis Testing: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Performing hypothesis tests for complex statistics.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Example: Testing the equality of medians from two independent samples.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 Validation: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Validating the stability and performance of statistical models.</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Example: Assessing the accuracy of a regression model by bootstrapping residuals.</a:t>
            </a:r>
          </a:p>
        </p:txBody>
      </p:sp>
    </p:spTree>
    <p:extLst>
      <p:ext uri="{BB962C8B-B14F-4D97-AF65-F5344CB8AC3E}">
        <p14:creationId xmlns:p14="http://schemas.microsoft.com/office/powerpoint/2010/main" val="274797422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Advantages of Bootstrapping</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Flexibility:</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Can be applied to a wide range of statistics and models.</a:t>
            </a:r>
          </a:p>
          <a:p>
            <a:pPr marL="457200" lvl="1" indent="0" algn="just"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Estimating the median, standard deviation, regression coefficients.</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Few Assumptions:</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Does not require assumptions about the underlying population distribution.</a:t>
            </a:r>
          </a:p>
          <a:p>
            <a:pPr marL="457200" lvl="1" indent="0" algn="just"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Useful for non-normal and small sample size data.</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Practical for Complex Problems:</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Applicable to statistics with complex sampling distributions.</a:t>
            </a:r>
          </a:p>
          <a:p>
            <a:pPr marL="457200" lvl="1" indent="0" algn="just" eaLnBrk="0" fontAlgn="base" hangingPunct="0">
              <a:lnSpc>
                <a:spcPct val="100000"/>
              </a:lnSpc>
              <a:spcBef>
                <a:spcPct val="0"/>
              </a:spcBef>
              <a:spcAft>
                <a:spcPct val="0"/>
              </a:spcAft>
              <a:buFontTx/>
              <a:buChar char="•"/>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Estimating confidence intervals for a non-parametric estimator.</a:t>
            </a:r>
          </a:p>
        </p:txBody>
      </p:sp>
    </p:spTree>
    <p:extLst>
      <p:ext uri="{BB962C8B-B14F-4D97-AF65-F5344CB8AC3E}">
        <p14:creationId xmlns:p14="http://schemas.microsoft.com/office/powerpoint/2010/main" val="301768659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Disadvantages of Bootstrapping</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3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Computationally Intensive:</a:t>
            </a:r>
            <a:endParaRPr kumimoji="0" lang="en-US" altLang="en-US" sz="3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Requires significant computational power, especially for large datasets and many bootstrap samples.</a:t>
            </a:r>
          </a:p>
          <a:p>
            <a:pPr marL="457200" lvl="1" indent="0" eaLnBrk="0" fontAlgn="base" hangingPunct="0">
              <a:lnSpc>
                <a:spcPct val="100000"/>
              </a:lnSpc>
              <a:spcBef>
                <a:spcPct val="0"/>
              </a:spcBef>
              <a:spcAft>
                <a:spcPct val="0"/>
              </a:spcAft>
              <a:buFontTx/>
              <a:buChar char="•"/>
              <a:defRPr/>
            </a:pPr>
            <a:r>
              <a:rPr kumimoji="0" lang="en-US" alt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Running bootstraps with large datasets may require advanced computing resources.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3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3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Dependence on Original Sample:</a:t>
            </a:r>
            <a:endParaRPr kumimoji="0" lang="en-US" altLang="en-US" sz="32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eaLnBrk="0" fontAlgn="base" hangingPunct="0">
              <a:lnSpc>
                <a:spcPct val="100000"/>
              </a:lnSpc>
              <a:spcBef>
                <a:spcPct val="0"/>
              </a:spcBef>
              <a:spcAft>
                <a:spcPct val="0"/>
              </a:spcAft>
              <a:buFontTx/>
              <a:buChar char="•"/>
              <a:defRPr/>
            </a:pPr>
            <a:r>
              <a:rPr kumimoji="0" lang="en-US" alt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Results are heavily dependent on the original sample and may not perform well with small or biased samples.</a:t>
            </a:r>
          </a:p>
          <a:p>
            <a:pPr marL="457200" lvl="1" indent="0" eaLnBrk="0" fontAlgn="base" hangingPunct="0">
              <a:lnSpc>
                <a:spcPct val="100000"/>
              </a:lnSpc>
              <a:spcBef>
                <a:spcPct val="0"/>
              </a:spcBef>
              <a:spcAft>
                <a:spcPct val="0"/>
              </a:spcAft>
              <a:buFontTx/>
              <a:buChar char="•"/>
              <a:defRPr/>
            </a:pPr>
            <a:r>
              <a:rPr kumimoji="0" lang="en-US" alt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Example: If the original sample is not representative, the bootstrap estimates may be biased.</a:t>
            </a:r>
          </a:p>
        </p:txBody>
      </p:sp>
    </p:spTree>
    <p:extLst>
      <p:ext uri="{BB962C8B-B14F-4D97-AF65-F5344CB8AC3E}">
        <p14:creationId xmlns:p14="http://schemas.microsoft.com/office/powerpoint/2010/main" val="97952514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Resampling vs. Bootstrapping</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r>
              <a:rPr lang="en-US" sz="3200" b="1" dirty="0"/>
              <a:t>Resampling</a:t>
            </a:r>
          </a:p>
          <a:p>
            <a:pPr lvl="1"/>
            <a:r>
              <a:rPr lang="en-US" sz="2800" b="1" dirty="0"/>
              <a:t>Definition:</a:t>
            </a:r>
            <a:r>
              <a:rPr lang="en-US" sz="2800" dirty="0"/>
              <a:t> General term for methods that involve repeatedly drawing samples from the original data.</a:t>
            </a:r>
          </a:p>
          <a:p>
            <a:pPr lvl="1"/>
            <a:r>
              <a:rPr lang="en-US" sz="2800" b="1" dirty="0"/>
              <a:t>Examples:</a:t>
            </a:r>
            <a:r>
              <a:rPr lang="en-US" sz="2800" dirty="0"/>
              <a:t> Jackknife, permutation tests, cross-validation.</a:t>
            </a:r>
          </a:p>
          <a:p>
            <a:pPr lvl="1"/>
            <a:endParaRPr lang="en-US" sz="2800" dirty="0"/>
          </a:p>
          <a:p>
            <a:r>
              <a:rPr lang="en-US" sz="3200" b="1" dirty="0"/>
              <a:t>Bootstrapping</a:t>
            </a:r>
          </a:p>
          <a:p>
            <a:pPr lvl="1"/>
            <a:r>
              <a:rPr lang="en-US" sz="2800" b="1" dirty="0"/>
              <a:t>Definition:</a:t>
            </a:r>
            <a:r>
              <a:rPr lang="en-US" sz="2800" dirty="0"/>
              <a:t> A specific resampling method that involves sampling with replacement and is primarily used for estimating the distribution of a statistic.</a:t>
            </a:r>
          </a:p>
          <a:p>
            <a:pPr lvl="1"/>
            <a:r>
              <a:rPr lang="en-US" sz="2800" b="1" dirty="0"/>
              <a:t>Focus:</a:t>
            </a:r>
            <a:r>
              <a:rPr lang="en-US" sz="2800" dirty="0"/>
              <a:t> Generating many samples from the original data to estimate the sampling distribution of a statistic.</a:t>
            </a:r>
          </a:p>
        </p:txBody>
      </p:sp>
    </p:spTree>
    <p:extLst>
      <p:ext uri="{BB962C8B-B14F-4D97-AF65-F5344CB8AC3E}">
        <p14:creationId xmlns:p14="http://schemas.microsoft.com/office/powerpoint/2010/main" val="189739193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Standard Normal Distribution</a:t>
            </a:r>
            <a:endParaRPr lang="en-IN" b="1" dirty="0"/>
          </a:p>
        </p:txBody>
      </p:sp>
      <p:pic>
        <p:nvPicPr>
          <p:cNvPr id="7" name="Picture 6">
            <a:extLst>
              <a:ext uri="{FF2B5EF4-FFF2-40B4-BE49-F238E27FC236}">
                <a16:creationId xmlns:a16="http://schemas.microsoft.com/office/drawing/2014/main" id="{27473591-4AC7-978C-9897-7A46C890EA9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8336" y="1927117"/>
            <a:ext cx="10695327" cy="4704945"/>
          </a:xfrm>
          <a:prstGeom prst="rect">
            <a:avLst/>
          </a:prstGeom>
        </p:spPr>
      </p:pic>
    </p:spTree>
    <p:extLst>
      <p:ext uri="{BB962C8B-B14F-4D97-AF65-F5344CB8AC3E}">
        <p14:creationId xmlns:p14="http://schemas.microsoft.com/office/powerpoint/2010/main" val="361352896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Standard Normal Distribution Function</a:t>
            </a:r>
            <a:endParaRPr lang="en-IN" b="1" dirty="0"/>
          </a:p>
        </p:txBody>
      </p:sp>
      <p:pic>
        <p:nvPicPr>
          <p:cNvPr id="7" name="Picture 6">
            <a:extLst>
              <a:ext uri="{FF2B5EF4-FFF2-40B4-BE49-F238E27FC236}">
                <a16:creationId xmlns:a16="http://schemas.microsoft.com/office/drawing/2014/main" id="{27473591-4AC7-978C-9897-7A46C890EA9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8336" y="1991346"/>
            <a:ext cx="10695327" cy="4576487"/>
          </a:xfrm>
          <a:prstGeom prst="rect">
            <a:avLst/>
          </a:prstGeom>
        </p:spPr>
      </p:pic>
    </p:spTree>
    <p:extLst>
      <p:ext uri="{BB962C8B-B14F-4D97-AF65-F5344CB8AC3E}">
        <p14:creationId xmlns:p14="http://schemas.microsoft.com/office/powerpoint/2010/main" val="265919305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QQ-Plots</a:t>
            </a:r>
            <a:endParaRPr lang="en-IN" b="1" dirty="0"/>
          </a:p>
        </p:txBody>
      </p:sp>
      <p:pic>
        <p:nvPicPr>
          <p:cNvPr id="7" name="Picture 6">
            <a:extLst>
              <a:ext uri="{FF2B5EF4-FFF2-40B4-BE49-F238E27FC236}">
                <a16:creationId xmlns:a16="http://schemas.microsoft.com/office/drawing/2014/main" id="{27473591-4AC7-978C-9897-7A46C890EA9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8294" y="2346037"/>
            <a:ext cx="11775412" cy="3415767"/>
          </a:xfrm>
          <a:prstGeom prst="rect">
            <a:avLst/>
          </a:prstGeom>
        </p:spPr>
      </p:pic>
    </p:spTree>
    <p:extLst>
      <p:ext uri="{BB962C8B-B14F-4D97-AF65-F5344CB8AC3E}">
        <p14:creationId xmlns:p14="http://schemas.microsoft.com/office/powerpoint/2010/main" val="295193970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Steps to Create a QQ-Plot</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Order Data:</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Sort the data in ascending order.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Theoretical Quantiles:</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Calculate the theoretical quantiles from the standard normal distribution.</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Plot Data:</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Plot the ordered data values against the corresponding theoretical quantiles.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Interpretation: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If the data is normally distributed, the points will fall approximately along a straight line.</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Deviations from the line indicate departures from normality.</a:t>
            </a:r>
          </a:p>
        </p:txBody>
      </p:sp>
    </p:spTree>
    <p:extLst>
      <p:ext uri="{BB962C8B-B14F-4D97-AF65-F5344CB8AC3E}">
        <p14:creationId xmlns:p14="http://schemas.microsoft.com/office/powerpoint/2010/main" val="273449138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QQ-Plot Example</a:t>
            </a:r>
            <a:endParaRPr lang="en-IN" b="1" dirty="0"/>
          </a:p>
        </p:txBody>
      </p:sp>
      <p:pic>
        <p:nvPicPr>
          <p:cNvPr id="8194" name="Picture 2" descr="Normal QQ-plot of daily prices for Apple stock.">
            <a:extLst>
              <a:ext uri="{FF2B5EF4-FFF2-40B4-BE49-F238E27FC236}">
                <a16:creationId xmlns:a16="http://schemas.microsoft.com/office/drawing/2014/main" id="{158B5C0E-D5D0-21CB-3932-F23AAD683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947" y="1540419"/>
            <a:ext cx="7184105" cy="5317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43903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Importance of QQ-Plots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10000"/>
          </a:bodyPr>
          <a:lstStyle/>
          <a:p>
            <a:pPr>
              <a:buFont typeface="+mj-lt"/>
              <a:buAutoNum type="arabicPeriod"/>
            </a:pPr>
            <a:r>
              <a:rPr lang="en-US" b="1" dirty="0"/>
              <a:t>Assessing Normality:</a:t>
            </a:r>
            <a:endParaRPr lang="en-US" dirty="0"/>
          </a:p>
          <a:p>
            <a:pPr marL="742950" lvl="1" indent="-285750">
              <a:buFont typeface="+mj-lt"/>
              <a:buAutoNum type="arabicPeriod"/>
            </a:pPr>
            <a:r>
              <a:rPr lang="en-US" dirty="0"/>
              <a:t>Essential for determining whether parametric tests, which assume normality, are appropriate.</a:t>
            </a:r>
          </a:p>
          <a:p>
            <a:pPr marL="742950" lvl="1" indent="-285750">
              <a:buFont typeface="+mj-lt"/>
              <a:buAutoNum type="arabicPeriod"/>
            </a:pPr>
            <a:r>
              <a:rPr lang="en-US" dirty="0"/>
              <a:t>Example: Before performing a t-test, check if the data is normally distributed using a QQ-plot.</a:t>
            </a:r>
          </a:p>
          <a:p>
            <a:pPr marL="742950" lvl="1" indent="-285750">
              <a:buFont typeface="+mj-lt"/>
              <a:buAutoNum type="arabicPeriod"/>
            </a:pPr>
            <a:endParaRPr lang="en-US" dirty="0"/>
          </a:p>
          <a:p>
            <a:pPr>
              <a:buFont typeface="+mj-lt"/>
              <a:buAutoNum type="arabicPeriod"/>
            </a:pPr>
            <a:r>
              <a:rPr lang="en-US" b="1" dirty="0"/>
              <a:t>Identifying Outliers:</a:t>
            </a:r>
            <a:endParaRPr lang="en-US" dirty="0"/>
          </a:p>
          <a:p>
            <a:pPr marL="742950" lvl="1" indent="-285750">
              <a:buFont typeface="+mj-lt"/>
              <a:buAutoNum type="arabicPeriod"/>
            </a:pPr>
            <a:r>
              <a:rPr lang="en-US" dirty="0"/>
              <a:t>QQ-plots can help identify outliers that deviate significantly from the theoretical distribution.</a:t>
            </a:r>
          </a:p>
          <a:p>
            <a:pPr marL="742950" lvl="1" indent="-285750">
              <a:buFont typeface="+mj-lt"/>
              <a:buAutoNum type="arabicPeriod"/>
            </a:pPr>
            <a:r>
              <a:rPr lang="en-US" dirty="0"/>
              <a:t>Example: Points far from the line in a QQ-plot of residuals can indicate outliers.</a:t>
            </a:r>
          </a:p>
          <a:p>
            <a:pPr marL="742950" lvl="1" indent="-285750">
              <a:buFont typeface="+mj-lt"/>
              <a:buAutoNum type="arabicPeriod"/>
            </a:pPr>
            <a:endParaRPr lang="en-US" dirty="0"/>
          </a:p>
          <a:p>
            <a:pPr>
              <a:buFont typeface="+mj-lt"/>
              <a:buAutoNum type="arabicPeriod"/>
            </a:pPr>
            <a:r>
              <a:rPr lang="en-US" b="1" dirty="0"/>
              <a:t>Model Validation:</a:t>
            </a:r>
            <a:endParaRPr lang="en-US" dirty="0"/>
          </a:p>
          <a:p>
            <a:pPr marL="742950" lvl="1" indent="-285750">
              <a:buFont typeface="+mj-lt"/>
              <a:buAutoNum type="arabicPeriod"/>
            </a:pPr>
            <a:r>
              <a:rPr lang="en-US" dirty="0"/>
              <a:t>Used in validating the assumptions of statistical models, particularly linear regression.</a:t>
            </a:r>
          </a:p>
          <a:p>
            <a:pPr marL="742950" lvl="1" indent="-285750">
              <a:buFont typeface="+mj-lt"/>
              <a:buAutoNum type="arabicPeriod"/>
            </a:pPr>
            <a:r>
              <a:rPr lang="en-US" dirty="0"/>
              <a:t>Example: Checking the normality of residuals in a regression model.</a:t>
            </a:r>
          </a:p>
        </p:txBody>
      </p:sp>
    </p:spTree>
    <p:extLst>
      <p:ext uri="{BB962C8B-B14F-4D97-AF65-F5344CB8AC3E}">
        <p14:creationId xmlns:p14="http://schemas.microsoft.com/office/powerpoint/2010/main" val="162327536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Common Patterns in QQ-Plots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Normal Distribution: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Points fall along a straight diagonal line.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Skewed Distribution: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Points form a curve. Right skewness results in points below the line on the left and above the line on the right.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Heavy Tails: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Points are above the line on both ends and below the line in the middle, indicating a distribution with heavier tails than normal.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Light Tails: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Points are below the line on both ends and above the line in the middle, indicating a distribution with lighter tails than normal.</a:t>
            </a:r>
          </a:p>
        </p:txBody>
      </p:sp>
    </p:spTree>
    <p:extLst>
      <p:ext uri="{BB962C8B-B14F-4D97-AF65-F5344CB8AC3E}">
        <p14:creationId xmlns:p14="http://schemas.microsoft.com/office/powerpoint/2010/main" val="103047771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Long-Tailed Distribution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r>
              <a:rPr lang="en-US" sz="4000" dirty="0"/>
              <a:t>A </a:t>
            </a:r>
            <a:r>
              <a:rPr lang="en-US" sz="4000" b="1" dirty="0"/>
              <a:t>long-tailed distribution</a:t>
            </a:r>
            <a:r>
              <a:rPr lang="en-US" sz="4000" dirty="0"/>
              <a:t> is a type of distribution where the tail — the part of the distribution far from the mean — declines more slowly than an exponential distribution. These distributions have higher probabilities for extreme values (outliers).</a:t>
            </a:r>
          </a:p>
          <a:p>
            <a:pPr algn="just"/>
            <a:endParaRPr lang="en-US" sz="4000" dirty="0"/>
          </a:p>
          <a:p>
            <a:pPr algn="just"/>
            <a:r>
              <a:rPr lang="en-US" sz="4000" b="1" dirty="0"/>
              <a:t>Heavy-Tailed Distribution</a:t>
            </a:r>
          </a:p>
          <a:p>
            <a:pPr algn="just"/>
            <a:r>
              <a:rPr lang="en-US" sz="4000" dirty="0"/>
              <a:t>A </a:t>
            </a:r>
            <a:r>
              <a:rPr lang="en-US" sz="4000" b="1" dirty="0"/>
              <a:t>heavy-tailed distribution</a:t>
            </a:r>
            <a:r>
              <a:rPr lang="en-US" sz="4000" dirty="0"/>
              <a:t> is another term often used interchangeably with long-tailed distribution, emphasizing the significant weight in the tail regions.</a:t>
            </a:r>
          </a:p>
        </p:txBody>
      </p:sp>
    </p:spTree>
    <p:extLst>
      <p:ext uri="{BB962C8B-B14F-4D97-AF65-F5344CB8AC3E}">
        <p14:creationId xmlns:p14="http://schemas.microsoft.com/office/powerpoint/2010/main" val="194034659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of Long-Tailed Distributions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Slow Decline in Tail:</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 probability of extreme values declines slower than in light-tailed distributions.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Infinite Moments: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Some long-tailed distributions have infinite variance or higher-order moments.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High Kurtosis: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Long-tailed distributions often exhibit high kurtosis, indicating heavy tails and sharp peaks.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Outliers: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Higher likelihood of extreme observations (outliers) compared to light-tailed distributions.</a:t>
            </a:r>
          </a:p>
        </p:txBody>
      </p:sp>
    </p:spTree>
    <p:extLst>
      <p:ext uri="{BB962C8B-B14F-4D97-AF65-F5344CB8AC3E}">
        <p14:creationId xmlns:p14="http://schemas.microsoft.com/office/powerpoint/2010/main" val="315527252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Examples of Long-Tailed Distributions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buFont typeface="+mj-lt"/>
              <a:buAutoNum type="arabicPeriod"/>
            </a:pPr>
            <a:r>
              <a:rPr lang="en-IN" b="1" dirty="0"/>
              <a:t>Pareto Distribution:</a:t>
            </a:r>
            <a:endParaRPr lang="en-IN" dirty="0"/>
          </a:p>
          <a:p>
            <a:pPr marL="742950" lvl="1" indent="-285750" algn="just">
              <a:buFont typeface="+mj-lt"/>
              <a:buAutoNum type="arabicPeriod"/>
            </a:pPr>
            <a:r>
              <a:rPr lang="en-IN" sz="2800" dirty="0"/>
              <a:t>Often used to model wealth distribution, insurance claims, and other phenomena.</a:t>
            </a:r>
          </a:p>
          <a:p>
            <a:pPr marL="742950" lvl="1" indent="-285750" algn="just">
              <a:buFont typeface="+mj-lt"/>
              <a:buAutoNum type="arabicPeriod"/>
            </a:pPr>
            <a:endParaRPr lang="en-IN" sz="2800" dirty="0"/>
          </a:p>
          <a:p>
            <a:pPr algn="just">
              <a:buFont typeface="+mj-lt"/>
              <a:buAutoNum type="arabicPeriod"/>
            </a:pPr>
            <a:r>
              <a:rPr lang="en-IN" b="1" dirty="0"/>
              <a:t>Cauchy Distribution:</a:t>
            </a:r>
            <a:endParaRPr lang="en-IN" dirty="0"/>
          </a:p>
          <a:p>
            <a:pPr marL="742950" lvl="1" indent="-285750" algn="just">
              <a:buFont typeface="+mj-lt"/>
              <a:buAutoNum type="arabicPeriod"/>
            </a:pPr>
            <a:r>
              <a:rPr lang="en-IN" sz="2800" dirty="0"/>
              <a:t>Known for its heavy tails and undefined mean and variance.</a:t>
            </a:r>
          </a:p>
          <a:p>
            <a:pPr marL="742950" lvl="1" indent="-285750" algn="just">
              <a:buFont typeface="+mj-lt"/>
              <a:buAutoNum type="arabicPeriod"/>
            </a:pPr>
            <a:endParaRPr lang="en-IN" sz="2800" dirty="0"/>
          </a:p>
          <a:p>
            <a:pPr algn="just">
              <a:buFont typeface="+mj-lt"/>
              <a:buAutoNum type="arabicPeriod"/>
            </a:pPr>
            <a:r>
              <a:rPr lang="en-IN" b="1" dirty="0"/>
              <a:t>Log-Normal Distribution:</a:t>
            </a:r>
            <a:endParaRPr lang="en-IN" dirty="0"/>
          </a:p>
          <a:p>
            <a:pPr marL="742950" lvl="1" indent="-285750" algn="just">
              <a:buFont typeface="+mj-lt"/>
              <a:buAutoNum type="arabicPeriod"/>
            </a:pPr>
            <a:r>
              <a:rPr lang="en-IN" sz="2800" dirty="0"/>
              <a:t>Distribution of a variable whose logarithm is normally distributed.</a:t>
            </a:r>
          </a:p>
          <a:p>
            <a:pPr marL="742950" lvl="1" indent="-285750" algn="just">
              <a:buFont typeface="+mj-lt"/>
              <a:buAutoNum type="arabicPeriod"/>
            </a:pPr>
            <a:endParaRPr lang="en-IN" sz="2800" dirty="0"/>
          </a:p>
          <a:p>
            <a:pPr algn="just">
              <a:buFont typeface="+mj-lt"/>
              <a:buAutoNum type="arabicPeriod"/>
            </a:pPr>
            <a:r>
              <a:rPr lang="en-IN" b="1" dirty="0"/>
              <a:t>Weibull Distribution:</a:t>
            </a:r>
            <a:endParaRPr lang="en-IN" dirty="0"/>
          </a:p>
          <a:p>
            <a:pPr marL="742950" lvl="1" indent="-285750" algn="just">
              <a:buFont typeface="+mj-lt"/>
              <a:buAutoNum type="arabicPeriod"/>
            </a:pPr>
            <a:r>
              <a:rPr lang="en-IN" sz="2800" dirty="0"/>
              <a:t>Can exhibit heavy tails depending on the shape parameter.</a:t>
            </a:r>
          </a:p>
        </p:txBody>
      </p:sp>
    </p:spTree>
    <p:extLst>
      <p:ext uri="{BB962C8B-B14F-4D97-AF65-F5344CB8AC3E}">
        <p14:creationId xmlns:p14="http://schemas.microsoft.com/office/powerpoint/2010/main" val="366003279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Assignment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altLang="en-US" sz="2400" b="1" dirty="0">
                <a:solidFill>
                  <a:prstClr val="white"/>
                </a:solidFill>
                <a:latin typeface="Arial" panose="020B0604020202020204" pitchFamily="34" charset="0"/>
              </a:rPr>
              <a:t>Using the bootstrap method, create a sampling distribution of the mean for a numerical column in your dataset, and plot the distribution to visualize the variability of the mean. Calculate the standard error to quantify this variability, and use it to construct and interpret 95% confidence intervals for the mean. Additionally, generate a QQ-plot to assess whether the data follows a normal distribution, which is essential for the validity of the confidence intervals and standard error estimates.</a:t>
            </a:r>
            <a:endParaRPr kumimoji="0" lang="en-US" alt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6194611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Probability Distribution Function (PDF)</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r>
              <a:rPr lang="en-US" sz="3600" dirty="0"/>
              <a:t>A Probability Distribution Function (PDF) tells us how likely it is to get each possible value in a dataset. Think of it as a way to describe the pattern of outcomes for a random event. For example, if you roll a fair die, the PDF shows that each number (1, 2, 3, 4, 5, 6) has an equal chance of appearing.</a:t>
            </a:r>
          </a:p>
          <a:p>
            <a:pPr algn="just"/>
            <a:endParaRPr lang="en-US" sz="3600" dirty="0"/>
          </a:p>
          <a:p>
            <a:pPr lvl="1" algn="just"/>
            <a:r>
              <a:rPr lang="en-US" sz="3200" dirty="0"/>
              <a:t>For discrete data (like rolling a die), the PDF gives the probability of each specific outcome.</a:t>
            </a:r>
          </a:p>
          <a:p>
            <a:pPr lvl="1" algn="just"/>
            <a:endParaRPr lang="en-US" sz="3200" dirty="0"/>
          </a:p>
          <a:p>
            <a:pPr lvl="1" algn="just"/>
            <a:r>
              <a:rPr lang="en-US" sz="3200" dirty="0"/>
              <a:t>For continuous data (like heights of people), the PDF shows the probability density, which indicates how likely it is to get values within a certain range.</a:t>
            </a:r>
          </a:p>
        </p:txBody>
      </p:sp>
    </p:spTree>
    <p:extLst>
      <p:ext uri="{BB962C8B-B14F-4D97-AF65-F5344CB8AC3E}">
        <p14:creationId xmlns:p14="http://schemas.microsoft.com/office/powerpoint/2010/main" val="295835029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Cumulative Distribution Function (CDF)</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algn="just"/>
            <a:r>
              <a:rPr lang="en-US" sz="4000" dirty="0"/>
              <a:t>A Cumulative Distribution Function (CDF) adds up the probabilities from the PDF to tell us the probability of getting a value less than or equal to a certain number. It helps us understand the probability of outcomes up to a certain point.</a:t>
            </a:r>
          </a:p>
          <a:p>
            <a:pPr algn="just"/>
            <a:endParaRPr lang="en-US" sz="4000" dirty="0"/>
          </a:p>
          <a:p>
            <a:pPr lvl="1" algn="just"/>
            <a:r>
              <a:rPr lang="en-US" sz="3600" dirty="0"/>
              <a:t>For example, if you want to know the probability of rolling a number less than or equal to 3 on a die, the CDF would add the probabilities of rolling a 1, 2, or 3.</a:t>
            </a:r>
          </a:p>
        </p:txBody>
      </p:sp>
    </p:spTree>
    <p:extLst>
      <p:ext uri="{BB962C8B-B14F-4D97-AF65-F5344CB8AC3E}">
        <p14:creationId xmlns:p14="http://schemas.microsoft.com/office/powerpoint/2010/main" val="282952423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Variety in PDFs and CDFs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a:bodyPr>
          <a:lstStyle/>
          <a:p>
            <a:pPr marL="0" indent="0" algn="ctr">
              <a:buNone/>
            </a:pPr>
            <a:r>
              <a:rPr lang="en-US" sz="5400" dirty="0"/>
              <a:t>Different distribution functions have different Probability Distribution Functions (PDFs) and Cumulative Distribution Functions (CDFs) because they describe different types of random processes and data patterns.</a:t>
            </a:r>
            <a:endParaRPr lang="en-US" sz="4800" dirty="0"/>
          </a:p>
        </p:txBody>
      </p:sp>
    </p:spTree>
    <p:extLst>
      <p:ext uri="{BB962C8B-B14F-4D97-AF65-F5344CB8AC3E}">
        <p14:creationId xmlns:p14="http://schemas.microsoft.com/office/powerpoint/2010/main" val="188401464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Variety in PDFs and CDFs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a:bodyPr>
          <a:lstStyle/>
          <a:p>
            <a:pPr algn="just"/>
            <a:r>
              <a:rPr lang="en-US" sz="3200" b="1" dirty="0"/>
              <a:t>1. Different Types of Data</a:t>
            </a:r>
          </a:p>
          <a:p>
            <a:pPr lvl="1" algn="just"/>
            <a:r>
              <a:rPr lang="en-US" b="1" dirty="0"/>
              <a:t>Discrete vs. Continuous:</a:t>
            </a:r>
            <a:r>
              <a:rPr lang="en-US" dirty="0"/>
              <a:t> Some distributions are for discrete data (e.g., the number of heads in coin flips), while others are for continuous data (e.g., the height of people).</a:t>
            </a:r>
          </a:p>
          <a:p>
            <a:pPr lvl="1" algn="just"/>
            <a:r>
              <a:rPr lang="en-US" b="1" dirty="0"/>
              <a:t>Count Data:</a:t>
            </a:r>
            <a:r>
              <a:rPr lang="en-US" dirty="0"/>
              <a:t> The Poisson distribution models count data, like the number of emails received in an hour.</a:t>
            </a:r>
          </a:p>
          <a:p>
            <a:pPr algn="just"/>
            <a:r>
              <a:rPr lang="en-US" sz="3200" b="1" dirty="0"/>
              <a:t>2. Different Situations and Assumptions</a:t>
            </a:r>
          </a:p>
          <a:p>
            <a:pPr lvl="1" algn="just"/>
            <a:r>
              <a:rPr lang="en-US" b="1" dirty="0"/>
              <a:t>Normal Distribution:</a:t>
            </a:r>
            <a:r>
              <a:rPr lang="en-US" dirty="0"/>
              <a:t> Assumes data is symmetrically distributed around a mean.</a:t>
            </a:r>
          </a:p>
          <a:p>
            <a:pPr lvl="1" algn="just"/>
            <a:r>
              <a:rPr lang="en-US" b="1" dirty="0"/>
              <a:t>Binomial Distribution:</a:t>
            </a:r>
            <a:r>
              <a:rPr lang="en-US" dirty="0"/>
              <a:t> Assumes a fixed number of trials with two possible outcomes (success or failure) in each trial.</a:t>
            </a:r>
          </a:p>
          <a:p>
            <a:pPr lvl="1" algn="just"/>
            <a:r>
              <a:rPr lang="en-US" b="1" dirty="0"/>
              <a:t>Exponential Distribution:</a:t>
            </a:r>
            <a:r>
              <a:rPr lang="en-US" dirty="0"/>
              <a:t> Models the time between events in a continuous process.</a:t>
            </a:r>
          </a:p>
        </p:txBody>
      </p:sp>
    </p:spTree>
    <p:extLst>
      <p:ext uri="{BB962C8B-B14F-4D97-AF65-F5344CB8AC3E}">
        <p14:creationId xmlns:p14="http://schemas.microsoft.com/office/powerpoint/2010/main" val="87108065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Variety in PDFs and CDFs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600" b="1" dirty="0"/>
              <a:t>3. Different Patterns of Variability</a:t>
            </a:r>
          </a:p>
          <a:p>
            <a:pPr lvl="1" algn="just"/>
            <a:r>
              <a:rPr lang="en-US" sz="2000" b="1" dirty="0"/>
              <a:t>Shape:</a:t>
            </a:r>
            <a:r>
              <a:rPr lang="en-US" sz="2000" dirty="0"/>
              <a:t> Distributions can be symmetrical, skewed, have thick or thin tails. The shape of the PDF and CDF reflects this variability.</a:t>
            </a:r>
          </a:p>
          <a:p>
            <a:pPr lvl="1" algn="just"/>
            <a:r>
              <a:rPr lang="en-US" sz="2000" b="1" dirty="0"/>
              <a:t>Spread:</a:t>
            </a:r>
            <a:r>
              <a:rPr lang="en-US" sz="2000" dirty="0"/>
              <a:t> Some distributions might be tightly clustered around a mean (low variance), while others are spread out (high variance).</a:t>
            </a:r>
          </a:p>
          <a:p>
            <a:pPr algn="just"/>
            <a:r>
              <a:rPr lang="en-US" sz="3600" b="1" dirty="0"/>
              <a:t>4. Specific Real-World Applications</a:t>
            </a:r>
          </a:p>
          <a:p>
            <a:pPr lvl="1" algn="just"/>
            <a:r>
              <a:rPr lang="en-US" sz="2000" b="1" dirty="0"/>
              <a:t>Weibull Distribution:</a:t>
            </a:r>
            <a:r>
              <a:rPr lang="en-US" sz="2000" dirty="0"/>
              <a:t> Used in reliability analysis and failure times because it can model different rates of failure over time.</a:t>
            </a:r>
          </a:p>
          <a:p>
            <a:pPr lvl="1" algn="just"/>
            <a:r>
              <a:rPr lang="en-US" sz="2000" b="1" dirty="0"/>
              <a:t>Chi-Square Distribution:</a:t>
            </a:r>
            <a:r>
              <a:rPr lang="en-US" sz="2000" dirty="0"/>
              <a:t> Used in hypothesis testing for categorical data.</a:t>
            </a:r>
          </a:p>
        </p:txBody>
      </p:sp>
    </p:spTree>
    <p:extLst>
      <p:ext uri="{BB962C8B-B14F-4D97-AF65-F5344CB8AC3E}">
        <p14:creationId xmlns:p14="http://schemas.microsoft.com/office/powerpoint/2010/main" val="344319187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How PDFs and CDFs Reflect These Differences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PDF Shape:</a:t>
            </a:r>
            <a:r>
              <a:rPr kumimoji="0" lang="en-US" altLang="en-US" sz="3200" b="0" i="0" u="none" strike="noStrike" cap="none" normalizeH="0" baseline="0" dirty="0">
                <a:ln>
                  <a:noFill/>
                </a:ln>
                <a:solidFill>
                  <a:schemeClr val="tx1"/>
                </a:solidFill>
                <a:effectLst/>
                <a:latin typeface="Arial" panose="020B0604020202020204" pitchFamily="34" charset="0"/>
              </a:rPr>
              <a:t> The PDF shows the likelihood of different outcomes. For example, the normal distribution has a bell-shaped PDF, indicating most values are around the mean, while the exponential distribution has a decreasing PDF, showing the likelihood of longer waiting times decreases over time.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CDF Growth:</a:t>
            </a:r>
            <a:r>
              <a:rPr kumimoji="0" lang="en-US" altLang="en-US" sz="3200" b="0" i="0" u="none" strike="noStrike" cap="none" normalizeH="0" baseline="0" dirty="0">
                <a:ln>
                  <a:noFill/>
                </a:ln>
                <a:solidFill>
                  <a:schemeClr val="tx1"/>
                </a:solidFill>
                <a:effectLst/>
                <a:latin typeface="Arial" panose="020B0604020202020204" pitchFamily="34" charset="0"/>
              </a:rPr>
              <a:t> The CDF shows the cumulative probability up to a point. For example, the CDF of a normal distribution grows smoothly and symmetrically, while the CDF of an exponential distribution grows quickly at first and then levels off. </a:t>
            </a:r>
          </a:p>
        </p:txBody>
      </p:sp>
    </p:spTree>
    <p:extLst>
      <p:ext uri="{BB962C8B-B14F-4D97-AF65-F5344CB8AC3E}">
        <p14:creationId xmlns:p14="http://schemas.microsoft.com/office/powerpoint/2010/main" val="118542955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Example Comparisons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Normal vs. Exponential:</a:t>
            </a:r>
            <a:r>
              <a:rPr kumimoji="0" lang="en-US" altLang="en-US" sz="3200" b="0" i="0" u="none" strike="noStrike" cap="none" normalizeH="0" baseline="0" dirty="0">
                <a:ln>
                  <a:noFill/>
                </a:ln>
                <a:solidFill>
                  <a:schemeClr val="tx1"/>
                </a:solidFill>
                <a:effectLst/>
                <a:latin typeface="Arial" panose="020B0604020202020204" pitchFamily="34" charset="0"/>
              </a:rPr>
              <a:t> The normal distribution's PDF is symmetric around the mean, while the exponential distribution’s PDF is only for positive values and decreases exponentially.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Binomial vs. Poisson:</a:t>
            </a:r>
            <a:r>
              <a:rPr kumimoji="0" lang="en-US" altLang="en-US" sz="3200" b="0" i="0" u="none" strike="noStrike" cap="none" normalizeH="0" baseline="0" dirty="0">
                <a:ln>
                  <a:noFill/>
                </a:ln>
                <a:solidFill>
                  <a:schemeClr val="tx1"/>
                </a:solidFill>
                <a:effectLst/>
                <a:latin typeface="Arial" panose="020B0604020202020204" pitchFamily="34" charset="0"/>
              </a:rPr>
              <a:t> The binomial distribution’s PDF is for a fixed number of trials, showing probabilities for each number of successes. The Poisson distribution’s PDF shows probabilities for the number of events happening in a fixed interval and can theoretically go to infinity. </a:t>
            </a:r>
          </a:p>
        </p:txBody>
      </p:sp>
    </p:spTree>
    <p:extLst>
      <p:ext uri="{BB962C8B-B14F-4D97-AF65-F5344CB8AC3E}">
        <p14:creationId xmlns:p14="http://schemas.microsoft.com/office/powerpoint/2010/main" val="44759207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Data Type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b="1" dirty="0"/>
              <a:t>A. Discrete Distributions</a:t>
            </a:r>
          </a:p>
          <a:p>
            <a:pPr lvl="1" algn="just"/>
            <a:r>
              <a:rPr lang="en-US" dirty="0"/>
              <a:t>These distributions deal with countable outcomes.</a:t>
            </a:r>
          </a:p>
          <a:p>
            <a:pPr lvl="1" algn="just"/>
            <a:r>
              <a:rPr lang="en-US" b="1" dirty="0"/>
              <a:t>Bernoulli Distribution:</a:t>
            </a:r>
            <a:r>
              <a:rPr lang="en-US" dirty="0"/>
              <a:t> Describes a single experiment with two possible outcomes (success/failure).</a:t>
            </a:r>
          </a:p>
          <a:p>
            <a:pPr lvl="1" algn="just"/>
            <a:r>
              <a:rPr lang="en-US" b="1" dirty="0"/>
              <a:t>Binomial Distribution:</a:t>
            </a:r>
            <a:r>
              <a:rPr lang="en-US" dirty="0"/>
              <a:t> Describes the number of successes in a fixed number of independent Bernoulli trials.</a:t>
            </a:r>
          </a:p>
          <a:p>
            <a:pPr lvl="1" algn="just"/>
            <a:r>
              <a:rPr lang="en-US" b="1" dirty="0"/>
              <a:t>Geometric Distribution:</a:t>
            </a:r>
            <a:r>
              <a:rPr lang="en-US" dirty="0"/>
              <a:t> Describes the number of trials needed for the first success.</a:t>
            </a:r>
          </a:p>
          <a:p>
            <a:pPr lvl="1" algn="just"/>
            <a:r>
              <a:rPr lang="en-US" b="1" dirty="0"/>
              <a:t>Poisson Distribution:</a:t>
            </a:r>
            <a:r>
              <a:rPr lang="en-US" dirty="0"/>
              <a:t> Describes the number of events happening in a fixed interval of time or space, given a constant mean rate and independent occurrences.</a:t>
            </a:r>
          </a:p>
        </p:txBody>
      </p:sp>
    </p:spTree>
    <p:extLst>
      <p:ext uri="{BB962C8B-B14F-4D97-AF65-F5344CB8AC3E}">
        <p14:creationId xmlns:p14="http://schemas.microsoft.com/office/powerpoint/2010/main" val="76633922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Data Type</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a:bodyPr>
          <a:lstStyle/>
          <a:p>
            <a:pPr algn="just"/>
            <a:r>
              <a:rPr lang="en-US" b="1" dirty="0"/>
              <a:t>B. Continuous Distributions</a:t>
            </a:r>
          </a:p>
          <a:p>
            <a:pPr lvl="1" algn="just"/>
            <a:r>
              <a:rPr lang="en-US" dirty="0"/>
              <a:t>These distributions deal with outcomes that can take any value within a range.</a:t>
            </a:r>
          </a:p>
          <a:p>
            <a:pPr lvl="1" algn="just"/>
            <a:r>
              <a:rPr lang="en-US" b="1" dirty="0"/>
              <a:t>Normal Distribution:</a:t>
            </a:r>
            <a:r>
              <a:rPr lang="en-US" dirty="0"/>
              <a:t> Describes data that clusters around a mean with symmetric tails.</a:t>
            </a:r>
          </a:p>
          <a:p>
            <a:pPr lvl="1" algn="just"/>
            <a:r>
              <a:rPr lang="en-US" b="1" dirty="0"/>
              <a:t>Exponential Distribution:</a:t>
            </a:r>
            <a:r>
              <a:rPr lang="en-US" dirty="0"/>
              <a:t> Describes the time between events in a Poisson process.</a:t>
            </a:r>
          </a:p>
          <a:p>
            <a:pPr lvl="1" algn="just"/>
            <a:r>
              <a:rPr lang="en-US" b="1" dirty="0"/>
              <a:t>Uniform Distribution:</a:t>
            </a:r>
            <a:r>
              <a:rPr lang="en-US" dirty="0"/>
              <a:t> Describes data where every value in a range is equally likely.</a:t>
            </a:r>
          </a:p>
          <a:p>
            <a:pPr lvl="1" algn="just"/>
            <a:r>
              <a:rPr lang="en-US" b="1" dirty="0"/>
              <a:t>Weibull Distribution:</a:t>
            </a:r>
            <a:r>
              <a:rPr lang="en-US" dirty="0"/>
              <a:t> Used in reliability analysis and failure times.</a:t>
            </a:r>
          </a:p>
          <a:p>
            <a:pPr lvl="1" algn="just"/>
            <a:r>
              <a:rPr lang="en-US" b="1" dirty="0"/>
              <a:t>Beta Distribution:</a:t>
            </a:r>
            <a:r>
              <a:rPr lang="en-US" dirty="0"/>
              <a:t> Used to model the distribution of probabilities.</a:t>
            </a:r>
          </a:p>
          <a:p>
            <a:pPr lvl="1" algn="just"/>
            <a:r>
              <a:rPr lang="en-US" b="1" dirty="0"/>
              <a:t>Gamma Distribution:</a:t>
            </a:r>
            <a:r>
              <a:rPr lang="en-US" dirty="0"/>
              <a:t> Generalizes the exponential distribution to model waiting times for multiple events.</a:t>
            </a:r>
          </a:p>
        </p:txBody>
      </p:sp>
    </p:spTree>
    <p:extLst>
      <p:ext uri="{BB962C8B-B14F-4D97-AF65-F5344CB8AC3E}">
        <p14:creationId xmlns:p14="http://schemas.microsoft.com/office/powerpoint/2010/main" val="354648233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Shape and Characteristics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600" b="1" dirty="0"/>
              <a:t>A. Symmetric Distributions</a:t>
            </a:r>
          </a:p>
          <a:p>
            <a:pPr lvl="1" algn="just"/>
            <a:r>
              <a:rPr lang="en-US" sz="3200" dirty="0"/>
              <a:t>These distributions have a mirror-image shape around their center.</a:t>
            </a:r>
          </a:p>
          <a:p>
            <a:pPr lvl="1" algn="just"/>
            <a:r>
              <a:rPr lang="en-US" sz="3200" b="1" dirty="0"/>
              <a:t>Normal Distribution:</a:t>
            </a:r>
            <a:r>
              <a:rPr lang="en-US" sz="3200" dirty="0"/>
              <a:t> Also known as the Gaussian distribution; characterized by its bell-shaped curve.</a:t>
            </a:r>
          </a:p>
          <a:p>
            <a:pPr lvl="1" algn="just"/>
            <a:r>
              <a:rPr lang="en-US" sz="3200" b="1" dirty="0"/>
              <a:t>t-Distribution:</a:t>
            </a:r>
            <a:r>
              <a:rPr lang="en-US" sz="3200" dirty="0"/>
              <a:t> Similar to the normal distribution but with heavier tails, used when sample sizes are small.</a:t>
            </a:r>
          </a:p>
        </p:txBody>
      </p:sp>
    </p:spTree>
    <p:extLst>
      <p:ext uri="{BB962C8B-B14F-4D97-AF65-F5344CB8AC3E}">
        <p14:creationId xmlns:p14="http://schemas.microsoft.com/office/powerpoint/2010/main" val="63332301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Shape and Characteristics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4000" b="1" dirty="0"/>
              <a:t>B. Skewed Distributions</a:t>
            </a:r>
          </a:p>
          <a:p>
            <a:pPr lvl="1" algn="just"/>
            <a:r>
              <a:rPr lang="en-US" sz="3200" dirty="0"/>
              <a:t>These distributions are not symmetric.</a:t>
            </a:r>
          </a:p>
          <a:p>
            <a:pPr lvl="1" algn="just"/>
            <a:r>
              <a:rPr lang="en-US" sz="3200" b="1" dirty="0"/>
              <a:t>Exponential Distribution:</a:t>
            </a:r>
            <a:r>
              <a:rPr lang="en-US" sz="3200" dirty="0"/>
              <a:t> Right-skewed, used to model time between events.</a:t>
            </a:r>
          </a:p>
          <a:p>
            <a:pPr lvl="1" algn="just"/>
            <a:r>
              <a:rPr lang="en-US" sz="3200" b="1" dirty="0"/>
              <a:t>Weibull Distribution:</a:t>
            </a:r>
            <a:r>
              <a:rPr lang="en-US" sz="3200" dirty="0"/>
              <a:t> Can be right-skewed or left-skewed depending on its parameters.</a:t>
            </a:r>
          </a:p>
        </p:txBody>
      </p:sp>
    </p:spTree>
    <p:extLst>
      <p:ext uri="{BB962C8B-B14F-4D97-AF65-F5344CB8AC3E}">
        <p14:creationId xmlns:p14="http://schemas.microsoft.com/office/powerpoint/2010/main" val="402965939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Shape and Characteristics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600" b="1" dirty="0"/>
              <a:t>C. Distributions with Bounded Support</a:t>
            </a:r>
          </a:p>
          <a:p>
            <a:pPr lvl="1" algn="just"/>
            <a:r>
              <a:rPr lang="en-US" sz="3200" dirty="0"/>
              <a:t>These distributions are defined within a specific range.</a:t>
            </a:r>
          </a:p>
          <a:p>
            <a:pPr lvl="1" algn="just"/>
            <a:r>
              <a:rPr lang="en-US" sz="3200" b="1" dirty="0"/>
              <a:t>Uniform Distribution:</a:t>
            </a:r>
            <a:r>
              <a:rPr lang="en-US" sz="3200" dirty="0"/>
              <a:t> All outcomes within a range are equally likely.</a:t>
            </a:r>
          </a:p>
          <a:p>
            <a:pPr lvl="1" algn="just"/>
            <a:r>
              <a:rPr lang="en-US" sz="3200" b="1" dirty="0"/>
              <a:t>Beta Distribution:</a:t>
            </a:r>
            <a:r>
              <a:rPr lang="en-US" sz="3200" dirty="0"/>
              <a:t> Defined on the interval [0, 1], useful for modeling probabilities.</a:t>
            </a:r>
          </a:p>
        </p:txBody>
      </p:sp>
    </p:spTree>
    <p:extLst>
      <p:ext uri="{BB962C8B-B14F-4D97-AF65-F5344CB8AC3E}">
        <p14:creationId xmlns:p14="http://schemas.microsoft.com/office/powerpoint/2010/main" val="409043667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Applications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3600" b="1" dirty="0"/>
              <a:t>A. Hypothesis Testing and Inference</a:t>
            </a:r>
          </a:p>
          <a:p>
            <a:pPr lvl="1" algn="just"/>
            <a:r>
              <a:rPr lang="en-US" sz="3200" b="1" dirty="0"/>
              <a:t>Chi-Square Distribution:</a:t>
            </a:r>
            <a:r>
              <a:rPr lang="en-US" sz="3200" dirty="0"/>
              <a:t> Used in tests of independence and goodness-of-fit.</a:t>
            </a:r>
          </a:p>
          <a:p>
            <a:pPr lvl="1" algn="just"/>
            <a:r>
              <a:rPr lang="en-US" sz="3200" b="1" dirty="0"/>
              <a:t>t-Distribution:</a:t>
            </a:r>
            <a:r>
              <a:rPr lang="en-US" sz="3200" dirty="0"/>
              <a:t> Used in estimating population parameters when the sample size is small.</a:t>
            </a:r>
          </a:p>
          <a:p>
            <a:pPr lvl="1" algn="just"/>
            <a:r>
              <a:rPr lang="en-US" sz="3200" b="1" dirty="0"/>
              <a:t>F-Distribution:</a:t>
            </a:r>
            <a:r>
              <a:rPr lang="en-US" sz="3200" dirty="0"/>
              <a:t> Used in comparing variances (ANOVA).</a:t>
            </a:r>
          </a:p>
        </p:txBody>
      </p:sp>
    </p:spTree>
    <p:extLst>
      <p:ext uri="{BB962C8B-B14F-4D97-AF65-F5344CB8AC3E}">
        <p14:creationId xmlns:p14="http://schemas.microsoft.com/office/powerpoint/2010/main" val="147874603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Based on Applications</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sz="4000" b="1" dirty="0"/>
              <a:t>B. Reliability and Life Data Analysis</a:t>
            </a:r>
          </a:p>
          <a:p>
            <a:pPr lvl="1" algn="just"/>
            <a:r>
              <a:rPr lang="en-US" sz="3600" b="1" dirty="0"/>
              <a:t>Exponential Distribution:</a:t>
            </a:r>
            <a:r>
              <a:rPr lang="en-US" sz="3600" dirty="0"/>
              <a:t> Models time until failure for a process with a constant failure rate.</a:t>
            </a:r>
          </a:p>
          <a:p>
            <a:pPr lvl="1" algn="just"/>
            <a:r>
              <a:rPr lang="en-US" sz="3600" b="1" dirty="0"/>
              <a:t>Weibull Distribution:</a:t>
            </a:r>
            <a:r>
              <a:rPr lang="en-US" sz="3600" dirty="0"/>
              <a:t> Models various types of failure rates, widely used in reliability engineering.</a:t>
            </a:r>
          </a:p>
        </p:txBody>
      </p:sp>
    </p:spTree>
    <p:extLst>
      <p:ext uri="{BB962C8B-B14F-4D97-AF65-F5344CB8AC3E}">
        <p14:creationId xmlns:p14="http://schemas.microsoft.com/office/powerpoint/2010/main" val="398363942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ANOVA (Analysis of Variance)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sz="3600" dirty="0"/>
              <a:t>Analysis of Variance (ANOVA) is a statistical method used to compare the means of three or more groups to determine if at least one group mean is significantly different from the others. It is widely used in experimental design and analysis to test hypotheses about differences among group means.</a:t>
            </a:r>
            <a:endParaRPr lang="en-US" sz="4400" dirty="0"/>
          </a:p>
        </p:txBody>
      </p:sp>
    </p:spTree>
    <p:extLst>
      <p:ext uri="{BB962C8B-B14F-4D97-AF65-F5344CB8AC3E}">
        <p14:creationId xmlns:p14="http://schemas.microsoft.com/office/powerpoint/2010/main" val="47185925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ANOVA (Analysis of Variance)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ctr">
              <a:buNone/>
            </a:pPr>
            <a:r>
              <a:rPr lang="en-US" sz="3200" dirty="0"/>
              <a:t>The outcome of ANOVA is the ‘F statistic’. This ratio shows the difference between the within group variance and the between group variance, which ultimately produces a figure which allows a conclusion that the null hypothesis is supported or rejected. If there is a significant difference between the groups, the null hypothesis is not supported, and the F-ratio will be larger.</a:t>
            </a:r>
            <a:endParaRPr lang="en-US" sz="4000" dirty="0"/>
          </a:p>
        </p:txBody>
      </p:sp>
    </p:spTree>
    <p:extLst>
      <p:ext uri="{BB962C8B-B14F-4D97-AF65-F5344CB8AC3E}">
        <p14:creationId xmlns:p14="http://schemas.microsoft.com/office/powerpoint/2010/main" val="4952694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ANOVA terminology</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algn="just"/>
            <a:r>
              <a:rPr lang="en-US" sz="3200" dirty="0"/>
              <a:t>Dependent variable: This is the item being measured that is theorized to be affected by the independent variables.</a:t>
            </a:r>
          </a:p>
          <a:p>
            <a:pPr algn="just"/>
            <a:endParaRPr lang="en-US" sz="3200" dirty="0"/>
          </a:p>
          <a:p>
            <a:pPr algn="just"/>
            <a:r>
              <a:rPr lang="en-US" sz="3200" dirty="0"/>
              <a:t>Independent variable/s: These are the items being measured that may have an effect on the dependent variable.</a:t>
            </a:r>
          </a:p>
          <a:p>
            <a:pPr algn="just"/>
            <a:endParaRPr lang="en-US" sz="3200" dirty="0"/>
          </a:p>
          <a:p>
            <a:pPr algn="just"/>
            <a:r>
              <a:rPr lang="en-US" sz="3200" dirty="0"/>
              <a:t>A null hypothesis (H0): This is when there is no difference between the groups or means. Depending on the result of the ANOVA test, the null hypothesis will either be accepted or rejected.</a:t>
            </a:r>
          </a:p>
        </p:txBody>
      </p:sp>
    </p:spTree>
    <p:extLst>
      <p:ext uri="{BB962C8B-B14F-4D97-AF65-F5344CB8AC3E}">
        <p14:creationId xmlns:p14="http://schemas.microsoft.com/office/powerpoint/2010/main" val="255311398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ANOVA terminology</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7500" lnSpcReduction="20000"/>
          </a:bodyPr>
          <a:lstStyle/>
          <a:p>
            <a:pPr algn="just"/>
            <a:r>
              <a:rPr lang="en-US" sz="3200" dirty="0"/>
              <a:t>An alternative hypothesis (H1): When it is theorized that there is a difference between groups and means.</a:t>
            </a:r>
          </a:p>
          <a:p>
            <a:pPr algn="just"/>
            <a:endParaRPr lang="en-US" sz="3200" dirty="0"/>
          </a:p>
          <a:p>
            <a:pPr algn="just"/>
            <a:r>
              <a:rPr lang="en-US" sz="3200" dirty="0"/>
              <a:t>Factors and levels: In ANOVA terminology, an independent variable is called a factor which affects the dependent variable. Level denotes the different values of the independent variable that are used in an experiment.</a:t>
            </a:r>
          </a:p>
          <a:p>
            <a:pPr algn="just"/>
            <a:endParaRPr lang="en-US" sz="3200" dirty="0"/>
          </a:p>
          <a:p>
            <a:pPr algn="just"/>
            <a:r>
              <a:rPr lang="en-US" sz="3200" dirty="0"/>
              <a:t>Fixed-factor model: Some experiments use only a discrete set of levels for factors. For example, a fixed-factor test would be testing three different dosages of a drug and not looking at any other dosages.</a:t>
            </a:r>
          </a:p>
          <a:p>
            <a:pPr algn="just"/>
            <a:endParaRPr lang="en-US" sz="3200" dirty="0"/>
          </a:p>
          <a:p>
            <a:pPr algn="just"/>
            <a:r>
              <a:rPr lang="en-US" sz="3200" dirty="0"/>
              <a:t>Random-factor model: This model draws a random value of level from all the possible values of the independent variable.</a:t>
            </a:r>
            <a:endParaRPr lang="en-US" sz="4000" dirty="0"/>
          </a:p>
        </p:txBody>
      </p:sp>
    </p:spTree>
    <p:extLst>
      <p:ext uri="{BB962C8B-B14F-4D97-AF65-F5344CB8AC3E}">
        <p14:creationId xmlns:p14="http://schemas.microsoft.com/office/powerpoint/2010/main" val="87632480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Types of ANOVA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One-Way ANOVA: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Used to compare the means of three or more independent groups based on one factor (independent variable).</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Comparing the average test scores of students from different schools.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Two-Way ANOVA: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Used to compare the means of groups based on two factors, which may have an interaction effect.</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Studying the effects of different teaching methods and gender on test scores.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Repeated Measures ANOVA: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Used when the same subjects are measured multiple times under different conditions.</a:t>
            </a:r>
          </a:p>
          <a:p>
            <a:pPr marL="457200" lvl="1" indent="0" algn="just"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Measuring the effect of a drug on the same group of patients at different time points.</a:t>
            </a:r>
          </a:p>
        </p:txBody>
      </p:sp>
    </p:spTree>
    <p:extLst>
      <p:ext uri="{BB962C8B-B14F-4D97-AF65-F5344CB8AC3E}">
        <p14:creationId xmlns:p14="http://schemas.microsoft.com/office/powerpoint/2010/main" val="222384497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Assumptions of ANOVA</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Independence: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observations in each group must be independent of each other.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Normality: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data in each group should be approximately normally distributed.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Homogeneity of Variance (Homoscedasticity):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variance within each group should be roughly equal.</a:t>
            </a:r>
          </a:p>
        </p:txBody>
      </p:sp>
    </p:spTree>
    <p:extLst>
      <p:ext uri="{BB962C8B-B14F-4D97-AF65-F5344CB8AC3E}">
        <p14:creationId xmlns:p14="http://schemas.microsoft.com/office/powerpoint/2010/main" val="390230256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One-Way ANOVA</a:t>
            </a:r>
          </a:p>
        </p:txBody>
      </p:sp>
      <p:pic>
        <p:nvPicPr>
          <p:cNvPr id="7" name="Picture 6">
            <a:extLst>
              <a:ext uri="{FF2B5EF4-FFF2-40B4-BE49-F238E27FC236}">
                <a16:creationId xmlns:a16="http://schemas.microsoft.com/office/drawing/2014/main" id="{FD852034-1711-628C-C9A5-E35EE47AFF93}"/>
              </a:ext>
            </a:extLst>
          </p:cNvPr>
          <p:cNvPicPr>
            <a:picLocks noChangeAspect="1"/>
          </p:cNvPicPr>
          <p:nvPr/>
        </p:nvPicPr>
        <p:blipFill>
          <a:blip r:embed="rId3"/>
          <a:stretch>
            <a:fillRect/>
          </a:stretch>
        </p:blipFill>
        <p:spPr>
          <a:xfrm>
            <a:off x="367053" y="1649555"/>
            <a:ext cx="11457893" cy="3558890"/>
          </a:xfrm>
          <a:prstGeom prst="rect">
            <a:avLst/>
          </a:prstGeom>
        </p:spPr>
      </p:pic>
    </p:spTree>
    <p:extLst>
      <p:ext uri="{BB962C8B-B14F-4D97-AF65-F5344CB8AC3E}">
        <p14:creationId xmlns:p14="http://schemas.microsoft.com/office/powerpoint/2010/main" val="107243785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ANOVA Table</a:t>
            </a:r>
          </a:p>
        </p:txBody>
      </p:sp>
      <p:pic>
        <p:nvPicPr>
          <p:cNvPr id="4" name="Picture 3">
            <a:extLst>
              <a:ext uri="{FF2B5EF4-FFF2-40B4-BE49-F238E27FC236}">
                <a16:creationId xmlns:a16="http://schemas.microsoft.com/office/drawing/2014/main" id="{F1082A98-86CB-BA8D-691C-A5520152C766}"/>
              </a:ext>
            </a:extLst>
          </p:cNvPr>
          <p:cNvPicPr>
            <a:picLocks noChangeAspect="1"/>
          </p:cNvPicPr>
          <p:nvPr/>
        </p:nvPicPr>
        <p:blipFill>
          <a:blip r:embed="rId3"/>
          <a:stretch>
            <a:fillRect/>
          </a:stretch>
        </p:blipFill>
        <p:spPr>
          <a:xfrm>
            <a:off x="1824067" y="1314270"/>
            <a:ext cx="8543866" cy="5543730"/>
          </a:xfrm>
          <a:prstGeom prst="rect">
            <a:avLst/>
          </a:prstGeom>
        </p:spPr>
      </p:pic>
    </p:spTree>
    <p:extLst>
      <p:ext uri="{BB962C8B-B14F-4D97-AF65-F5344CB8AC3E}">
        <p14:creationId xmlns:p14="http://schemas.microsoft.com/office/powerpoint/2010/main" val="31230356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F-statistic</a:t>
            </a:r>
          </a:p>
        </p:txBody>
      </p:sp>
      <p:pic>
        <p:nvPicPr>
          <p:cNvPr id="5" name="Picture 4">
            <a:extLst>
              <a:ext uri="{FF2B5EF4-FFF2-40B4-BE49-F238E27FC236}">
                <a16:creationId xmlns:a16="http://schemas.microsoft.com/office/drawing/2014/main" id="{E4A2B582-57C0-E32D-2ED0-DA7EC38295B4}"/>
              </a:ext>
            </a:extLst>
          </p:cNvPr>
          <p:cNvPicPr>
            <a:picLocks noChangeAspect="1"/>
          </p:cNvPicPr>
          <p:nvPr/>
        </p:nvPicPr>
        <p:blipFill>
          <a:blip r:embed="rId3"/>
          <a:stretch>
            <a:fillRect/>
          </a:stretch>
        </p:blipFill>
        <p:spPr>
          <a:xfrm>
            <a:off x="302362" y="1860997"/>
            <a:ext cx="11587276" cy="3136006"/>
          </a:xfrm>
          <a:prstGeom prst="rect">
            <a:avLst/>
          </a:prstGeom>
        </p:spPr>
      </p:pic>
    </p:spTree>
    <p:extLst>
      <p:ext uri="{BB962C8B-B14F-4D97-AF65-F5344CB8AC3E}">
        <p14:creationId xmlns:p14="http://schemas.microsoft.com/office/powerpoint/2010/main" val="261533077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Decision Rule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Calculate the F-statistic using the formula above.</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Compare the calculated F-statistic to the critical value from the F-distribution table at a chosen significance level (e.g., α=0.05).</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If the calculated F-statistic is greater than the critical value, reject the null hypothesis (H0​). </a:t>
            </a:r>
          </a:p>
        </p:txBody>
      </p:sp>
    </p:spTree>
    <p:extLst>
      <p:ext uri="{BB962C8B-B14F-4D97-AF65-F5344CB8AC3E}">
        <p14:creationId xmlns:p14="http://schemas.microsoft.com/office/powerpoint/2010/main" val="285094730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Problem</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just">
              <a:buNone/>
            </a:pPr>
            <a:r>
              <a:rPr lang="en-US" dirty="0"/>
              <a:t>A researcher wants to test if there is a significant difference in the average scores of students taught by three different teaching methods. The researcher collects the following data:</a:t>
            </a:r>
          </a:p>
          <a:p>
            <a:pPr marL="0" indent="0" algn="just">
              <a:buNone/>
            </a:pPr>
            <a:r>
              <a:rPr lang="en-US" b="1" dirty="0"/>
              <a:t>Group 1 (Method A):</a:t>
            </a:r>
            <a:r>
              <a:rPr lang="en-US" dirty="0"/>
              <a:t> 85, 88, 90, 92, 87</a:t>
            </a:r>
          </a:p>
          <a:p>
            <a:pPr marL="0" indent="0" algn="just">
              <a:buNone/>
            </a:pPr>
            <a:r>
              <a:rPr lang="en-US" b="1" dirty="0"/>
              <a:t>Group 2 (Method B):</a:t>
            </a:r>
            <a:r>
              <a:rPr lang="en-US" dirty="0"/>
              <a:t> 78, 85, 86, 83, 82</a:t>
            </a:r>
          </a:p>
          <a:p>
            <a:pPr marL="0" indent="0" algn="just">
              <a:buNone/>
            </a:pPr>
            <a:r>
              <a:rPr lang="en-US" b="1" dirty="0"/>
              <a:t>Group 3 (Method C):</a:t>
            </a:r>
            <a:r>
              <a:rPr lang="en-US" dirty="0"/>
              <a:t> 91, 89, 93, 95, 92</a:t>
            </a:r>
          </a:p>
          <a:p>
            <a:pPr marL="0" indent="0" algn="just">
              <a:buNone/>
            </a:pPr>
            <a:r>
              <a:rPr lang="en-US" dirty="0"/>
              <a:t>Is there a statistically significant difference in the mean scores among the three teaching methods at a significance level of α=0.05?</a:t>
            </a:r>
          </a:p>
        </p:txBody>
      </p:sp>
    </p:spTree>
    <p:extLst>
      <p:ext uri="{BB962C8B-B14F-4D97-AF65-F5344CB8AC3E}">
        <p14:creationId xmlns:p14="http://schemas.microsoft.com/office/powerpoint/2010/main" val="279922422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Two-Way ANOVA</a:t>
            </a:r>
          </a:p>
        </p:txBody>
      </p:sp>
      <p:pic>
        <p:nvPicPr>
          <p:cNvPr id="4" name="Picture 3">
            <a:extLst>
              <a:ext uri="{FF2B5EF4-FFF2-40B4-BE49-F238E27FC236}">
                <a16:creationId xmlns:a16="http://schemas.microsoft.com/office/drawing/2014/main" id="{CCBF3581-556C-13B3-9A00-AE159173BCD9}"/>
              </a:ext>
            </a:extLst>
          </p:cNvPr>
          <p:cNvPicPr>
            <a:picLocks noChangeAspect="1"/>
          </p:cNvPicPr>
          <p:nvPr/>
        </p:nvPicPr>
        <p:blipFill>
          <a:blip r:embed="rId3"/>
          <a:stretch>
            <a:fillRect/>
          </a:stretch>
        </p:blipFill>
        <p:spPr>
          <a:xfrm>
            <a:off x="72405" y="1744984"/>
            <a:ext cx="12047189" cy="3368031"/>
          </a:xfrm>
          <a:prstGeom prst="rect">
            <a:avLst/>
          </a:prstGeom>
        </p:spPr>
      </p:pic>
    </p:spTree>
    <p:extLst>
      <p:ext uri="{BB962C8B-B14F-4D97-AF65-F5344CB8AC3E}">
        <p14:creationId xmlns:p14="http://schemas.microsoft.com/office/powerpoint/2010/main" val="192637702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ANOVA Table for Two-Way ANOVA</a:t>
            </a:r>
            <a:endParaRPr lang="en-IN" dirty="0"/>
          </a:p>
        </p:txBody>
      </p:sp>
      <p:pic>
        <p:nvPicPr>
          <p:cNvPr id="5" name="Picture 4">
            <a:extLst>
              <a:ext uri="{FF2B5EF4-FFF2-40B4-BE49-F238E27FC236}">
                <a16:creationId xmlns:a16="http://schemas.microsoft.com/office/drawing/2014/main" id="{D455D96A-C527-6FD9-B1E9-FCEE58A31715}"/>
              </a:ext>
            </a:extLst>
          </p:cNvPr>
          <p:cNvPicPr>
            <a:picLocks noChangeAspect="1"/>
          </p:cNvPicPr>
          <p:nvPr/>
        </p:nvPicPr>
        <p:blipFill>
          <a:blip r:embed="rId3"/>
          <a:stretch>
            <a:fillRect/>
          </a:stretch>
        </p:blipFill>
        <p:spPr>
          <a:xfrm>
            <a:off x="481913" y="1344654"/>
            <a:ext cx="11228173" cy="4168691"/>
          </a:xfrm>
          <a:prstGeom prst="rect">
            <a:avLst/>
          </a:prstGeom>
        </p:spPr>
      </p:pic>
    </p:spTree>
    <p:extLst>
      <p:ext uri="{BB962C8B-B14F-4D97-AF65-F5344CB8AC3E}">
        <p14:creationId xmlns:p14="http://schemas.microsoft.com/office/powerpoint/2010/main" val="57591206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ANOVA Table for Two-Way ANOVA</a:t>
            </a:r>
            <a:endParaRPr lang="en-IN" dirty="0"/>
          </a:p>
        </p:txBody>
      </p:sp>
      <p:pic>
        <p:nvPicPr>
          <p:cNvPr id="4" name="Picture 3">
            <a:extLst>
              <a:ext uri="{FF2B5EF4-FFF2-40B4-BE49-F238E27FC236}">
                <a16:creationId xmlns:a16="http://schemas.microsoft.com/office/drawing/2014/main" id="{C1DC54BB-8ACB-44D4-0A3D-0517FFCDBA0A}"/>
              </a:ext>
            </a:extLst>
          </p:cNvPr>
          <p:cNvPicPr>
            <a:picLocks noChangeAspect="1"/>
          </p:cNvPicPr>
          <p:nvPr/>
        </p:nvPicPr>
        <p:blipFill>
          <a:blip r:embed="rId3"/>
          <a:stretch>
            <a:fillRect/>
          </a:stretch>
        </p:blipFill>
        <p:spPr>
          <a:xfrm>
            <a:off x="1321143" y="1529622"/>
            <a:ext cx="9549714" cy="4963253"/>
          </a:xfrm>
          <a:prstGeom prst="rect">
            <a:avLst/>
          </a:prstGeom>
        </p:spPr>
      </p:pic>
    </p:spTree>
    <p:extLst>
      <p:ext uri="{BB962C8B-B14F-4D97-AF65-F5344CB8AC3E}">
        <p14:creationId xmlns:p14="http://schemas.microsoft.com/office/powerpoint/2010/main" val="80074816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Decision Rule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Calculate the F-statistics for the main effects and interaction effect.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Compare each F-statistic to its critical value from the F-distribution table.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Reject the null hypothesis for any factor if its F-statistic is greater than the critical value. </a:t>
            </a:r>
          </a:p>
        </p:txBody>
      </p:sp>
    </p:spTree>
    <p:extLst>
      <p:ext uri="{BB962C8B-B14F-4D97-AF65-F5344CB8AC3E}">
        <p14:creationId xmlns:p14="http://schemas.microsoft.com/office/powerpoint/2010/main" val="399197900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Post-Hoc Tests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a:bodyPr>
          <a:lstStyle/>
          <a:p>
            <a:pPr algn="just"/>
            <a:r>
              <a:rPr lang="en-US" dirty="0"/>
              <a:t>If the null hypothesis is rejected in ANOVA, it indicates that at least one group mean is different, but it does not specify which groups differ. Post-hoc tests are used to make pairwise comparisons between group means to determine which specific means differ.</a:t>
            </a:r>
          </a:p>
          <a:p>
            <a:pPr algn="just"/>
            <a:endParaRPr lang="en-US" dirty="0"/>
          </a:p>
          <a:p>
            <a:pPr algn="just">
              <a:buFont typeface="Arial" panose="020B0604020202020204" pitchFamily="34" charset="0"/>
              <a:buChar char="•"/>
            </a:pPr>
            <a:r>
              <a:rPr lang="en-US" b="1" dirty="0"/>
              <a:t>Tukey's HSD (Honestly Significant Difference):</a:t>
            </a:r>
            <a:r>
              <a:rPr lang="en-US" dirty="0"/>
              <a:t> A commonly used post-hoc test to compare all pairs of group means while controlling for Type I error.</a:t>
            </a:r>
          </a:p>
          <a:p>
            <a:pPr algn="just">
              <a:buFont typeface="Arial" panose="020B0604020202020204" pitchFamily="34" charset="0"/>
              <a:buChar char="•"/>
            </a:pPr>
            <a:endParaRPr lang="en-US" dirty="0"/>
          </a:p>
          <a:p>
            <a:pPr algn="just">
              <a:buFont typeface="Arial" panose="020B0604020202020204" pitchFamily="34" charset="0"/>
              <a:buChar char="•"/>
            </a:pPr>
            <a:r>
              <a:rPr lang="en-US" b="1" dirty="0"/>
              <a:t>Bonferroni Correction:</a:t>
            </a:r>
            <a:r>
              <a:rPr lang="en-US" dirty="0"/>
              <a:t> Adjusts the significance level when performing multiple comparisons to reduce the chance of Type I errors.</a:t>
            </a:r>
          </a:p>
        </p:txBody>
      </p:sp>
    </p:spTree>
    <p:extLst>
      <p:ext uri="{BB962C8B-B14F-4D97-AF65-F5344CB8AC3E}">
        <p14:creationId xmlns:p14="http://schemas.microsoft.com/office/powerpoint/2010/main" val="243429786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Assumptions and Limitations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ANOVA Assumptions:</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Independence of observations.</a:t>
            </a:r>
          </a:p>
          <a:p>
            <a:pPr marL="457200" lvl="1" indent="0" algn="just"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Normality of the residuals.</a:t>
            </a:r>
          </a:p>
          <a:p>
            <a:pPr marL="457200" lvl="1" indent="0" algn="just"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Homogeneity of variances (equal variances across groups).</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Violations:</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Non-Normality:</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If the data are not normally distributed, the results may be inaccurate.</a:t>
            </a:r>
          </a:p>
          <a:p>
            <a:pPr marL="457200" lvl="1" indent="0" algn="just" eaLnBrk="0" fontAlgn="base" hangingPunct="0">
              <a:lnSpc>
                <a:spcPct val="100000"/>
              </a:lnSpc>
              <a:spcBef>
                <a:spcPct val="0"/>
              </a:spcBef>
              <a:spcAft>
                <a:spcPct val="0"/>
              </a:spcAft>
              <a:buFontTx/>
              <a:buChar char="•"/>
              <a:defRPr/>
            </a:pPr>
            <a:r>
              <a:rPr kumimoji="0" lang="en-US" alt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Unequal Variances:</a:t>
            </a: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Violating the homogeneity of variances can lead to misleading conclusions. The Welch’s ANOVA can be used as an alternative when variances are unequal.</a:t>
            </a:r>
          </a:p>
          <a:p>
            <a:pPr marL="0" marR="0" lvl="0" indent="0" algn="just" defTabSz="914400" rtl="0" eaLnBrk="0" fontAlgn="base" latinLnBrk="0" hangingPunct="0">
              <a:lnSpc>
                <a:spcPct val="100000"/>
              </a:lnSpc>
              <a:spcBef>
                <a:spcPct val="0"/>
              </a:spcBef>
              <a:spcAft>
                <a:spcPct val="0"/>
              </a:spcAft>
              <a:buClrTx/>
              <a:buSzTx/>
              <a:buFontTx/>
              <a:buChar char="•"/>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Limitations:</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457200" lvl="1" indent="0" algn="just"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ANOVA only tells you that there is a difference between groups but not which groups are different. Post-hoc tests are required for that.</a:t>
            </a:r>
          </a:p>
          <a:p>
            <a:pPr marL="457200" lvl="1" indent="0" algn="just" eaLnBrk="0" fontAlgn="base" hangingPunct="0">
              <a:lnSpc>
                <a:spcPct val="100000"/>
              </a:lnSpc>
              <a:spcBef>
                <a:spcPct val="0"/>
              </a:spcBef>
              <a:spcAft>
                <a:spcPct val="0"/>
              </a:spcAft>
              <a:buFontTx/>
              <a:buChar char="•"/>
              <a:defRPr/>
            </a:pPr>
            <a:r>
              <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Sensitive to outliers, which can distort results.</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0815462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Chi-Square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ctr" defTabSz="914400" rtl="0" eaLnBrk="0" fontAlgn="base" latinLnBrk="0" hangingPunct="0">
              <a:lnSpc>
                <a:spcPct val="100000"/>
              </a:lnSpc>
              <a:spcBef>
                <a:spcPct val="0"/>
              </a:spcBef>
              <a:spcAft>
                <a:spcPct val="0"/>
              </a:spcAft>
              <a:buClrTx/>
              <a:buSzTx/>
              <a:buNone/>
              <a:tabLst/>
              <a:defRPr/>
            </a:pPr>
            <a:r>
              <a:rPr lang="en-US" dirty="0"/>
              <a:t>The Chi-Square test is a statistical method used to determine whether there is a significant association between categorical variables. It is applicable when the data consists of frequencies or counts rather than continuous data. The Chi-Square test is widely used in hypothesis testing, especially in testing relationships between categorical variables and checking for goodness of fit.</a:t>
            </a:r>
            <a:endParaRPr kumimoji="0" lang="en-US" altLang="en-US"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7594284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Types of Chi-Square Tests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Chi-Square Test of Independence: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Used to determine whether there is a significant association between two categorical variables in a contingency table.</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Example: Testing if there is an association between gender and voting preference.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Chi-Square Goodness-of-Fit Test: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Used to determine whether an observed frequency distribution differs significantly from an expected theoretical distribution.</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Example: Testing if a die is fair based on observed rolls.</a:t>
            </a:r>
          </a:p>
        </p:txBody>
      </p:sp>
    </p:spTree>
    <p:extLst>
      <p:ext uri="{BB962C8B-B14F-4D97-AF65-F5344CB8AC3E}">
        <p14:creationId xmlns:p14="http://schemas.microsoft.com/office/powerpoint/2010/main" val="369511132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Assumptions of the Chi-Square Test</a:t>
            </a:r>
            <a:endParaRPr lang="en-IN"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data must be in the form of counts or frequencies in discrete categories.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Observations must be independent. This means each data point belongs to one category only.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expected frequency in each cell of the contingency table should be at least 5 to ensure the validity of the test.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sample size should be large enough to provide reliable results.</a:t>
            </a:r>
          </a:p>
        </p:txBody>
      </p:sp>
    </p:spTree>
    <p:extLst>
      <p:ext uri="{BB962C8B-B14F-4D97-AF65-F5344CB8AC3E}">
        <p14:creationId xmlns:p14="http://schemas.microsoft.com/office/powerpoint/2010/main" val="324524673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Chi-Square Test of Independence</a:t>
            </a:r>
          </a:p>
        </p:txBody>
      </p:sp>
      <p:sp>
        <p:nvSpPr>
          <p:cNvPr id="5" name="Content Placeholder 4">
            <a:extLst>
              <a:ext uri="{FF2B5EF4-FFF2-40B4-BE49-F238E27FC236}">
                <a16:creationId xmlns:a16="http://schemas.microsoft.com/office/drawing/2014/main" id="{8763E98F-C6EB-9839-AAF8-CAA302C1701A}"/>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180ABA53-E164-8FC5-1F4D-693591591379}"/>
              </a:ext>
            </a:extLst>
          </p:cNvPr>
          <p:cNvPicPr>
            <a:picLocks noChangeAspect="1"/>
          </p:cNvPicPr>
          <p:nvPr/>
        </p:nvPicPr>
        <p:blipFill>
          <a:blip r:embed="rId3"/>
          <a:stretch>
            <a:fillRect/>
          </a:stretch>
        </p:blipFill>
        <p:spPr>
          <a:xfrm>
            <a:off x="177342" y="1658687"/>
            <a:ext cx="11837316" cy="3540625"/>
          </a:xfrm>
          <a:prstGeom prst="rect">
            <a:avLst/>
          </a:prstGeom>
        </p:spPr>
      </p:pic>
    </p:spTree>
    <p:extLst>
      <p:ext uri="{BB962C8B-B14F-4D97-AF65-F5344CB8AC3E}">
        <p14:creationId xmlns:p14="http://schemas.microsoft.com/office/powerpoint/2010/main" val="220204746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Chi-Square Test of Independence</a:t>
            </a:r>
          </a:p>
        </p:txBody>
      </p:sp>
      <p:sp>
        <p:nvSpPr>
          <p:cNvPr id="5" name="Content Placeholder 4">
            <a:extLst>
              <a:ext uri="{FF2B5EF4-FFF2-40B4-BE49-F238E27FC236}">
                <a16:creationId xmlns:a16="http://schemas.microsoft.com/office/drawing/2014/main" id="{8763E98F-C6EB-9839-AAF8-CAA302C1701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094C9A3A-C285-5F6F-15CA-48A6C1756895}"/>
              </a:ext>
            </a:extLst>
          </p:cNvPr>
          <p:cNvPicPr>
            <a:picLocks noChangeAspect="1"/>
          </p:cNvPicPr>
          <p:nvPr/>
        </p:nvPicPr>
        <p:blipFill>
          <a:blip r:embed="rId3"/>
          <a:stretch>
            <a:fillRect/>
          </a:stretch>
        </p:blipFill>
        <p:spPr>
          <a:xfrm>
            <a:off x="1601787" y="1397972"/>
            <a:ext cx="8988425" cy="5206644"/>
          </a:xfrm>
          <a:prstGeom prst="rect">
            <a:avLst/>
          </a:prstGeom>
        </p:spPr>
      </p:pic>
    </p:spTree>
    <p:extLst>
      <p:ext uri="{BB962C8B-B14F-4D97-AF65-F5344CB8AC3E}">
        <p14:creationId xmlns:p14="http://schemas.microsoft.com/office/powerpoint/2010/main" val="236120786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Chi-Square Test of Independence</a:t>
            </a:r>
          </a:p>
        </p:txBody>
      </p:sp>
      <p:sp>
        <p:nvSpPr>
          <p:cNvPr id="5" name="Content Placeholder 4">
            <a:extLst>
              <a:ext uri="{FF2B5EF4-FFF2-40B4-BE49-F238E27FC236}">
                <a16:creationId xmlns:a16="http://schemas.microsoft.com/office/drawing/2014/main" id="{8763E98F-C6EB-9839-AAF8-CAA302C1701A}"/>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59A94E33-A739-D926-A712-C51237FA1812}"/>
              </a:ext>
            </a:extLst>
          </p:cNvPr>
          <p:cNvPicPr>
            <a:picLocks noChangeAspect="1"/>
          </p:cNvPicPr>
          <p:nvPr/>
        </p:nvPicPr>
        <p:blipFill>
          <a:blip r:embed="rId3"/>
          <a:stretch>
            <a:fillRect/>
          </a:stretch>
        </p:blipFill>
        <p:spPr>
          <a:xfrm>
            <a:off x="44607" y="2548007"/>
            <a:ext cx="12102786" cy="2906574"/>
          </a:xfrm>
          <a:prstGeom prst="rect">
            <a:avLst/>
          </a:prstGeom>
        </p:spPr>
      </p:pic>
    </p:spTree>
    <p:extLst>
      <p:ext uri="{BB962C8B-B14F-4D97-AF65-F5344CB8AC3E}">
        <p14:creationId xmlns:p14="http://schemas.microsoft.com/office/powerpoint/2010/main" val="357013452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Chi-Square Goodness-of-Fit Test</a:t>
            </a:r>
          </a:p>
        </p:txBody>
      </p:sp>
      <p:sp>
        <p:nvSpPr>
          <p:cNvPr id="5" name="Content Placeholder 4">
            <a:extLst>
              <a:ext uri="{FF2B5EF4-FFF2-40B4-BE49-F238E27FC236}">
                <a16:creationId xmlns:a16="http://schemas.microsoft.com/office/drawing/2014/main" id="{8763E98F-C6EB-9839-AAF8-CAA302C1701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2C0CDF6-1444-1CE1-F25D-3723CCDAD49B}"/>
              </a:ext>
            </a:extLst>
          </p:cNvPr>
          <p:cNvPicPr>
            <a:picLocks noChangeAspect="1"/>
          </p:cNvPicPr>
          <p:nvPr/>
        </p:nvPicPr>
        <p:blipFill>
          <a:blip r:embed="rId3"/>
          <a:stretch>
            <a:fillRect/>
          </a:stretch>
        </p:blipFill>
        <p:spPr>
          <a:xfrm>
            <a:off x="708860" y="1810238"/>
            <a:ext cx="10774279" cy="4382112"/>
          </a:xfrm>
          <a:prstGeom prst="rect">
            <a:avLst/>
          </a:prstGeom>
        </p:spPr>
      </p:pic>
    </p:spTree>
    <p:extLst>
      <p:ext uri="{BB962C8B-B14F-4D97-AF65-F5344CB8AC3E}">
        <p14:creationId xmlns:p14="http://schemas.microsoft.com/office/powerpoint/2010/main" val="121614239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Fisher’s Exact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b="1" dirty="0"/>
              <a:t>Fisher’s Exact Test</a:t>
            </a:r>
            <a:r>
              <a:rPr lang="en-US" dirty="0"/>
              <a:t> is a statistical significance test used to determine whether there is a non-random association between two categorical variables in a contingency table. It is particularly useful when the sample size is small, and the assumptions of the Chi-Square test are not met, such as when expected frequencies in the table are less than 5.</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790353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Fisher’s Exact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Categorical Variables: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Fisher’s Exact Test is applied when analyzing categorical (qualitative) data.</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Example: Testing whether there is a relationship between gender (male/female) and preference for a product (like/dislike).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Contingency Table: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contingency table</a:t>
            </a:r>
            <a:r>
              <a:rPr kumimoji="0" lang="en-US" altLang="en-US" b="0" i="0" u="none" strike="noStrike" cap="none" normalizeH="0" baseline="0" dirty="0">
                <a:ln>
                  <a:noFill/>
                </a:ln>
                <a:solidFill>
                  <a:schemeClr val="tx1"/>
                </a:solidFill>
                <a:effectLst/>
                <a:latin typeface="Arial" panose="020B0604020202020204" pitchFamily="34" charset="0"/>
              </a:rPr>
              <a:t> is a matrix format where rows and columns represent different categories of the variables. Fisher’s Exact Test is typically used for 2x2 tables but can be extended to larger tables.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Exact Test: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Unlike the Chi-Square test, Fisher's Exact Test calculates the exact probability of observing the given distribution of data under the null hypothesis, without relying on large-sample approximations.</a:t>
            </a:r>
          </a:p>
        </p:txBody>
      </p:sp>
    </p:spTree>
    <p:extLst>
      <p:ext uri="{BB962C8B-B14F-4D97-AF65-F5344CB8AC3E}">
        <p14:creationId xmlns:p14="http://schemas.microsoft.com/office/powerpoint/2010/main" val="239316015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Fisher’s Exact Test</a:t>
            </a:r>
          </a:p>
        </p:txBody>
      </p:sp>
      <p:pic>
        <p:nvPicPr>
          <p:cNvPr id="7" name="Picture 6">
            <a:extLst>
              <a:ext uri="{FF2B5EF4-FFF2-40B4-BE49-F238E27FC236}">
                <a16:creationId xmlns:a16="http://schemas.microsoft.com/office/drawing/2014/main" id="{ABBEDDCC-9FAA-9E98-7989-E4EDCE96BAF3}"/>
              </a:ext>
            </a:extLst>
          </p:cNvPr>
          <p:cNvPicPr>
            <a:picLocks noChangeAspect="1"/>
          </p:cNvPicPr>
          <p:nvPr/>
        </p:nvPicPr>
        <p:blipFill>
          <a:blip r:embed="rId3"/>
          <a:stretch>
            <a:fillRect/>
          </a:stretch>
        </p:blipFill>
        <p:spPr>
          <a:xfrm>
            <a:off x="29002" y="1690688"/>
            <a:ext cx="12154760" cy="4070972"/>
          </a:xfrm>
          <a:prstGeom prst="rect">
            <a:avLst/>
          </a:prstGeom>
        </p:spPr>
      </p:pic>
    </p:spTree>
    <p:extLst>
      <p:ext uri="{BB962C8B-B14F-4D97-AF65-F5344CB8AC3E}">
        <p14:creationId xmlns:p14="http://schemas.microsoft.com/office/powerpoint/2010/main" val="173167425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Contingency Table</a:t>
            </a:r>
          </a:p>
        </p:txBody>
      </p:sp>
      <p:pic>
        <p:nvPicPr>
          <p:cNvPr id="7" name="Picture 6">
            <a:extLst>
              <a:ext uri="{FF2B5EF4-FFF2-40B4-BE49-F238E27FC236}">
                <a16:creationId xmlns:a16="http://schemas.microsoft.com/office/drawing/2014/main" id="{68535A26-2608-07CD-A63A-7D99A7BBBE6A}"/>
              </a:ext>
            </a:extLst>
          </p:cNvPr>
          <p:cNvPicPr>
            <a:picLocks noChangeAspect="1"/>
          </p:cNvPicPr>
          <p:nvPr/>
        </p:nvPicPr>
        <p:blipFill>
          <a:blip r:embed="rId3"/>
          <a:stretch>
            <a:fillRect/>
          </a:stretch>
        </p:blipFill>
        <p:spPr>
          <a:xfrm>
            <a:off x="59802" y="1369178"/>
            <a:ext cx="12072395" cy="2406589"/>
          </a:xfrm>
          <a:prstGeom prst="rect">
            <a:avLst/>
          </a:prstGeom>
        </p:spPr>
      </p:pic>
      <p:pic>
        <p:nvPicPr>
          <p:cNvPr id="11" name="Picture 10">
            <a:extLst>
              <a:ext uri="{FF2B5EF4-FFF2-40B4-BE49-F238E27FC236}">
                <a16:creationId xmlns:a16="http://schemas.microsoft.com/office/drawing/2014/main" id="{92622F44-1651-9AD1-E64A-2A9700B95A83}"/>
              </a:ext>
            </a:extLst>
          </p:cNvPr>
          <p:cNvPicPr>
            <a:picLocks noChangeAspect="1"/>
          </p:cNvPicPr>
          <p:nvPr/>
        </p:nvPicPr>
        <p:blipFill>
          <a:blip r:embed="rId4"/>
          <a:stretch>
            <a:fillRect/>
          </a:stretch>
        </p:blipFill>
        <p:spPr>
          <a:xfrm>
            <a:off x="2180161" y="3775767"/>
            <a:ext cx="7831675" cy="3082233"/>
          </a:xfrm>
          <a:prstGeom prst="rect">
            <a:avLst/>
          </a:prstGeom>
        </p:spPr>
      </p:pic>
    </p:spTree>
    <p:extLst>
      <p:ext uri="{BB962C8B-B14F-4D97-AF65-F5344CB8AC3E}">
        <p14:creationId xmlns:p14="http://schemas.microsoft.com/office/powerpoint/2010/main" val="305012508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Contingency Table</a:t>
            </a:r>
          </a:p>
        </p:txBody>
      </p:sp>
      <p:pic>
        <p:nvPicPr>
          <p:cNvPr id="4" name="Picture 3">
            <a:extLst>
              <a:ext uri="{FF2B5EF4-FFF2-40B4-BE49-F238E27FC236}">
                <a16:creationId xmlns:a16="http://schemas.microsoft.com/office/drawing/2014/main" id="{21C4F6C3-D934-93B0-4C6F-373250A30080}"/>
              </a:ext>
            </a:extLst>
          </p:cNvPr>
          <p:cNvPicPr>
            <a:picLocks noChangeAspect="1"/>
          </p:cNvPicPr>
          <p:nvPr/>
        </p:nvPicPr>
        <p:blipFill>
          <a:blip r:embed="rId3"/>
          <a:stretch>
            <a:fillRect/>
          </a:stretch>
        </p:blipFill>
        <p:spPr>
          <a:xfrm>
            <a:off x="168961" y="1690688"/>
            <a:ext cx="11854078" cy="4152870"/>
          </a:xfrm>
          <a:prstGeom prst="rect">
            <a:avLst/>
          </a:prstGeom>
        </p:spPr>
      </p:pic>
    </p:spTree>
    <p:extLst>
      <p:ext uri="{BB962C8B-B14F-4D97-AF65-F5344CB8AC3E}">
        <p14:creationId xmlns:p14="http://schemas.microsoft.com/office/powerpoint/2010/main" val="370361959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AA4AD21-DC12-6D37-65F2-AD10682A0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9775" y="0"/>
            <a:ext cx="81708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7568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P-value interpretation</a:t>
            </a:r>
          </a:p>
        </p:txBody>
      </p:sp>
      <p:pic>
        <p:nvPicPr>
          <p:cNvPr id="9" name="Picture 8">
            <a:extLst>
              <a:ext uri="{FF2B5EF4-FFF2-40B4-BE49-F238E27FC236}">
                <a16:creationId xmlns:a16="http://schemas.microsoft.com/office/drawing/2014/main" id="{D54E6829-7F69-C27F-2D6F-0ACEA2EC42A7}"/>
              </a:ext>
            </a:extLst>
          </p:cNvPr>
          <p:cNvPicPr>
            <a:picLocks noChangeAspect="1"/>
          </p:cNvPicPr>
          <p:nvPr/>
        </p:nvPicPr>
        <p:blipFill>
          <a:blip r:embed="rId3"/>
          <a:stretch>
            <a:fillRect/>
          </a:stretch>
        </p:blipFill>
        <p:spPr>
          <a:xfrm>
            <a:off x="42440" y="2055142"/>
            <a:ext cx="12107119" cy="2747715"/>
          </a:xfrm>
          <a:prstGeom prst="rect">
            <a:avLst/>
          </a:prstGeom>
        </p:spPr>
      </p:pic>
    </p:spTree>
    <p:extLst>
      <p:ext uri="{BB962C8B-B14F-4D97-AF65-F5344CB8AC3E}">
        <p14:creationId xmlns:p14="http://schemas.microsoft.com/office/powerpoint/2010/main" val="243557842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b="1" dirty="0"/>
              <a:t>Two-Tailed or One-Tailed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Two-tailed test</a:t>
            </a:r>
            <a:r>
              <a:rPr kumimoji="0" lang="en-US" altLang="en-US" sz="2800" b="0" i="0" u="none" strike="noStrike" cap="none" normalizeH="0" baseline="0" dirty="0">
                <a:ln>
                  <a:noFill/>
                </a:ln>
                <a:solidFill>
                  <a:schemeClr val="tx1"/>
                </a:solidFill>
                <a:effectLst/>
                <a:latin typeface="Arial" panose="020B0604020202020204" pitchFamily="34" charset="0"/>
              </a:rPr>
              <a:t>: Used when you are testing whether there is </a:t>
            </a:r>
            <a:r>
              <a:rPr kumimoji="0" lang="en-US" altLang="en-US" sz="2800" b="1" i="0" u="none" strike="noStrike" cap="none" normalizeH="0" baseline="0" dirty="0">
                <a:ln>
                  <a:noFill/>
                </a:ln>
                <a:solidFill>
                  <a:schemeClr val="tx1"/>
                </a:solidFill>
                <a:effectLst/>
                <a:latin typeface="Arial" panose="020B0604020202020204" pitchFamily="34" charset="0"/>
              </a:rPr>
              <a:t>any association</a:t>
            </a:r>
            <a:r>
              <a:rPr kumimoji="0" lang="en-US" altLang="en-US" sz="2800" b="0" i="0" u="none" strike="noStrike" cap="none" normalizeH="0" baseline="0" dirty="0">
                <a:ln>
                  <a:noFill/>
                </a:ln>
                <a:solidFill>
                  <a:schemeClr val="tx1"/>
                </a:solidFill>
                <a:effectLst/>
                <a:latin typeface="Arial" panose="020B0604020202020204" pitchFamily="34" charset="0"/>
              </a:rPr>
              <a:t> (positive or negative) between the two variables. This is the most commonly used version of Fisher's Exact Test.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Two-tailed p-value</a:t>
            </a:r>
            <a:r>
              <a:rPr kumimoji="0" lang="en-US" altLang="en-US" sz="2800" b="0" i="0" u="none" strike="noStrike" cap="none" normalizeH="0" baseline="0" dirty="0">
                <a:ln>
                  <a:noFill/>
                </a:ln>
                <a:solidFill>
                  <a:schemeClr val="tx1"/>
                </a:solidFill>
                <a:effectLst/>
                <a:latin typeface="Arial" panose="020B0604020202020204" pitchFamily="34" charset="0"/>
              </a:rPr>
              <a:t>: It accounts for tables that are as extreme as the observed one, in both directions (i.e., in favor of either outcome or group).</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One-tailed test</a:t>
            </a:r>
            <a:r>
              <a:rPr kumimoji="0" lang="en-US" altLang="en-US" sz="2800" b="0" i="0" u="none" strike="noStrike" cap="none" normalizeH="0" baseline="0" dirty="0">
                <a:ln>
                  <a:noFill/>
                </a:ln>
                <a:solidFill>
                  <a:schemeClr val="tx1"/>
                </a:solidFill>
                <a:effectLst/>
                <a:latin typeface="Arial" panose="020B0604020202020204" pitchFamily="34" charset="0"/>
              </a:rPr>
              <a:t>: Used when you are specifically testing for an association in </a:t>
            </a:r>
            <a:r>
              <a:rPr kumimoji="0" lang="en-US" altLang="en-US" sz="2800" b="1" i="0" u="none" strike="noStrike" cap="none" normalizeH="0" baseline="0" dirty="0">
                <a:ln>
                  <a:noFill/>
                </a:ln>
                <a:solidFill>
                  <a:schemeClr val="tx1"/>
                </a:solidFill>
                <a:effectLst/>
                <a:latin typeface="Arial" panose="020B0604020202020204" pitchFamily="34" charset="0"/>
              </a:rPr>
              <a:t>one direction</a:t>
            </a:r>
            <a:r>
              <a:rPr kumimoji="0" lang="en-US" altLang="en-US" sz="2800" b="0" i="0" u="none" strike="noStrike" cap="none" normalizeH="0" baseline="0" dirty="0">
                <a:ln>
                  <a:noFill/>
                </a:ln>
                <a:solidFill>
                  <a:schemeClr val="tx1"/>
                </a:solidFill>
                <a:effectLst/>
                <a:latin typeface="Arial" panose="020B0604020202020204" pitchFamily="34" charset="0"/>
              </a:rPr>
              <a:t> (either positive or negative). For instance, you might be interested in whether </a:t>
            </a:r>
            <a:r>
              <a:rPr kumimoji="0" lang="en-US" altLang="en-US" sz="2800" b="1" i="0" u="none" strike="noStrike" cap="none" normalizeH="0" baseline="0" dirty="0">
                <a:ln>
                  <a:noFill/>
                </a:ln>
                <a:solidFill>
                  <a:schemeClr val="tx1"/>
                </a:solidFill>
                <a:effectLst/>
                <a:latin typeface="Arial" panose="020B0604020202020204" pitchFamily="34" charset="0"/>
              </a:rPr>
              <a:t>Group 1</a:t>
            </a:r>
            <a:r>
              <a:rPr kumimoji="0" lang="en-US" altLang="en-US" sz="2800" b="0" i="0" u="none" strike="noStrike" cap="none" normalizeH="0" baseline="0" dirty="0">
                <a:ln>
                  <a:noFill/>
                </a:ln>
                <a:solidFill>
                  <a:schemeClr val="tx1"/>
                </a:solidFill>
                <a:effectLst/>
                <a:latin typeface="Arial" panose="020B0604020202020204" pitchFamily="34" charset="0"/>
              </a:rPr>
              <a:t> has a significantly higher chance of </a:t>
            </a:r>
            <a:r>
              <a:rPr kumimoji="0" lang="en-US" altLang="en-US" sz="2800" b="1" i="0" u="none" strike="noStrike" cap="none" normalizeH="0" baseline="0" dirty="0">
                <a:ln>
                  <a:noFill/>
                </a:ln>
                <a:solidFill>
                  <a:schemeClr val="tx1"/>
                </a:solidFill>
                <a:effectLst/>
                <a:latin typeface="Arial" panose="020B0604020202020204" pitchFamily="34" charset="0"/>
              </a:rPr>
              <a:t>Outcome 1</a:t>
            </a:r>
            <a:r>
              <a:rPr kumimoji="0" lang="en-US" altLang="en-US" sz="2800" b="0" i="0" u="none" strike="noStrike" cap="none" normalizeH="0" baseline="0" dirty="0">
                <a:ln>
                  <a:noFill/>
                </a:ln>
                <a:solidFill>
                  <a:schemeClr val="tx1"/>
                </a:solidFill>
                <a:effectLst/>
                <a:latin typeface="Arial" panose="020B0604020202020204" pitchFamily="34" charset="0"/>
              </a:rPr>
              <a:t> compared to </a:t>
            </a:r>
            <a:r>
              <a:rPr kumimoji="0" lang="en-US" altLang="en-US" sz="2800" b="1" i="0" u="none" strike="noStrike" cap="none" normalizeH="0" baseline="0" dirty="0">
                <a:ln>
                  <a:noFill/>
                </a:ln>
                <a:solidFill>
                  <a:schemeClr val="tx1"/>
                </a:solidFill>
                <a:effectLst/>
                <a:latin typeface="Arial" panose="020B0604020202020204" pitchFamily="34" charset="0"/>
              </a:rPr>
              <a:t>Group 2</a:t>
            </a:r>
            <a:r>
              <a:rPr kumimoji="0" lang="en-US" altLang="en-US" sz="2800" b="0" i="0" u="none" strike="noStrike" cap="none" normalizeH="0" baseline="0" dirty="0">
                <a:ln>
                  <a:noFill/>
                </a:ln>
                <a:solidFill>
                  <a:schemeClr val="tx1"/>
                </a:solidFill>
                <a:effectLst/>
                <a:latin typeface="Arial" panose="020B0604020202020204" pitchFamily="34" charset="0"/>
              </a:rPr>
              <a:t>, and not in the opposite direction.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One-tailed p-value</a:t>
            </a:r>
            <a:r>
              <a:rPr kumimoji="0" lang="en-US" altLang="en-US" sz="2800" b="0" i="0" u="none" strike="noStrike" cap="none" normalizeH="0" baseline="0" dirty="0">
                <a:ln>
                  <a:noFill/>
                </a:ln>
                <a:solidFill>
                  <a:schemeClr val="tx1"/>
                </a:solidFill>
                <a:effectLst/>
                <a:latin typeface="Arial" panose="020B0604020202020204" pitchFamily="34" charset="0"/>
              </a:rPr>
              <a:t>: Only considers tables that are extreme in one direction.</a:t>
            </a:r>
          </a:p>
        </p:txBody>
      </p:sp>
    </p:spTree>
    <p:extLst>
      <p:ext uri="{BB962C8B-B14F-4D97-AF65-F5344CB8AC3E}">
        <p14:creationId xmlns:p14="http://schemas.microsoft.com/office/powerpoint/2010/main" val="371907725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Relevance of Fisher’s Exact Test for Data Science</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00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Small Sample Sizes: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Fisher’s Exact Test is particularly valuable when dealing with small datasets, where the expected frequencies in some cells are too small for a Chi-Square test to be valid. It ensures the accuracy of statistical inference even with limited data.</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Testing Relationships Between Categorical Variables: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 data science, we often deal with categorical variables (e.g., customer behavior, demographics). Fisher’s Exact Test helps assess the strength and significance of associations between these variables, guiding decisions about product features, marketing strategies, and more.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Feature Selection: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 supervised learning, Fisher's Exact Test can be used as part of feature selection to identify which categorical features are significantly associated with the target variable. For example, in a classification problem, Fisher’s test can help identify whether a particular feature has a significant association with the class labels.</a:t>
            </a:r>
          </a:p>
        </p:txBody>
      </p:sp>
    </p:spTree>
    <p:extLst>
      <p:ext uri="{BB962C8B-B14F-4D97-AF65-F5344CB8AC3E}">
        <p14:creationId xmlns:p14="http://schemas.microsoft.com/office/powerpoint/2010/main" val="212483422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Relevance of Fisher’s Exact Test for Data Science</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7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Medical and A/B Testing:</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 clinical trials or A/B testing with small sample sizes, Fisher's Exact Test is used to evaluate whether treatment effects or variations in outcomes are statistically significant. For instance, comparing the effectiveness of a drug against a placebo or testing different designs for a webpage to assess user engagement.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Handling Sparse Data:</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Fisher's Exact Test is well-suited for situations with sparse data (where many cells in the contingency table have small values), ensuring accurate p-values in situations where other tests may provide misleading results.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Precise Probability Calculations: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 contrast to approximate methods like the Chi-Square test, Fisher’s Exact Test provides an exact p-value, which can be critical in data-driven decisions requiring high precision (e.g., sensitive medical or financial decisions).</a:t>
            </a:r>
          </a:p>
        </p:txBody>
      </p:sp>
    </p:spTree>
    <p:extLst>
      <p:ext uri="{BB962C8B-B14F-4D97-AF65-F5344CB8AC3E}">
        <p14:creationId xmlns:p14="http://schemas.microsoft.com/office/powerpoint/2010/main" val="175956488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t-Tests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A </a:t>
            </a:r>
            <a:r>
              <a:rPr lang="en-US" b="1" dirty="0"/>
              <a:t>t-test</a:t>
            </a:r>
            <a:r>
              <a:rPr lang="en-US" dirty="0"/>
              <a:t> is a statistical hypothesis test used to compare the means of two groups to determine if they are significantly different from each other. It is often used when the population standard deviation is unknown, and the sample size is small. The t-test assumes that the data is approximately normally distributed, and it helps evaluate whether any observed differences in sample means are statistically significant.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60845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Types of t-Tests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00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One-Sample t-Test: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Compares the sample mean to a known population mean to determine if they are significantly different.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Example: Testing if the average height of students in a class is different from the national average height.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Independent (Two-Sample) t-Test: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Compares the means of two independent groups to determine if they are significantly different.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Example: Testing if the average salary of employees at two different companies is the same.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Paired (Dependent) t-Test: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Compares the means of two related groups (e.g., before-and-after measurements) to determine if they are significantly different.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Example: Testing if a training program has improved employee performance by comparing pre-training and post-training scores.</a:t>
            </a:r>
          </a:p>
        </p:txBody>
      </p:sp>
    </p:spTree>
    <p:extLst>
      <p:ext uri="{BB962C8B-B14F-4D97-AF65-F5344CB8AC3E}">
        <p14:creationId xmlns:p14="http://schemas.microsoft.com/office/powerpoint/2010/main" val="123029599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One-Sample t-Test</a:t>
            </a:r>
            <a:endParaRPr lang="en-IN" b="1" dirty="0"/>
          </a:p>
        </p:txBody>
      </p:sp>
      <p:pic>
        <p:nvPicPr>
          <p:cNvPr id="7" name="Picture 6">
            <a:extLst>
              <a:ext uri="{FF2B5EF4-FFF2-40B4-BE49-F238E27FC236}">
                <a16:creationId xmlns:a16="http://schemas.microsoft.com/office/drawing/2014/main" id="{4086FF26-C7C8-D5CC-53D2-E2CEA5CE72F1}"/>
              </a:ext>
            </a:extLst>
          </p:cNvPr>
          <p:cNvPicPr>
            <a:picLocks noChangeAspect="1"/>
          </p:cNvPicPr>
          <p:nvPr/>
        </p:nvPicPr>
        <p:blipFill>
          <a:blip r:embed="rId3"/>
          <a:stretch>
            <a:fillRect/>
          </a:stretch>
        </p:blipFill>
        <p:spPr>
          <a:xfrm>
            <a:off x="85715" y="1706495"/>
            <a:ext cx="12020570" cy="3445010"/>
          </a:xfrm>
          <a:prstGeom prst="rect">
            <a:avLst/>
          </a:prstGeom>
        </p:spPr>
      </p:pic>
    </p:spTree>
    <p:extLst>
      <p:ext uri="{BB962C8B-B14F-4D97-AF65-F5344CB8AC3E}">
        <p14:creationId xmlns:p14="http://schemas.microsoft.com/office/powerpoint/2010/main" val="361237159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One-Sample t-Test</a:t>
            </a:r>
            <a:endParaRPr lang="en-IN" b="1" dirty="0"/>
          </a:p>
        </p:txBody>
      </p:sp>
      <p:pic>
        <p:nvPicPr>
          <p:cNvPr id="4" name="Picture 3">
            <a:extLst>
              <a:ext uri="{FF2B5EF4-FFF2-40B4-BE49-F238E27FC236}">
                <a16:creationId xmlns:a16="http://schemas.microsoft.com/office/drawing/2014/main" id="{6CAEE8F6-EE84-4FB0-5CEB-B282446F31EF}"/>
              </a:ext>
            </a:extLst>
          </p:cNvPr>
          <p:cNvPicPr>
            <a:picLocks noChangeAspect="1"/>
          </p:cNvPicPr>
          <p:nvPr/>
        </p:nvPicPr>
        <p:blipFill>
          <a:blip r:embed="rId3"/>
          <a:stretch>
            <a:fillRect/>
          </a:stretch>
        </p:blipFill>
        <p:spPr>
          <a:xfrm>
            <a:off x="3184609" y="1310552"/>
            <a:ext cx="5822781" cy="5547448"/>
          </a:xfrm>
          <a:prstGeom prst="rect">
            <a:avLst/>
          </a:prstGeom>
        </p:spPr>
      </p:pic>
    </p:spTree>
    <p:extLst>
      <p:ext uri="{BB962C8B-B14F-4D97-AF65-F5344CB8AC3E}">
        <p14:creationId xmlns:p14="http://schemas.microsoft.com/office/powerpoint/2010/main" val="936872684"/>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Independent (Two-Sample) t-Test</a:t>
            </a:r>
            <a:endParaRPr lang="en-IN" b="1" dirty="0"/>
          </a:p>
        </p:txBody>
      </p:sp>
      <p:pic>
        <p:nvPicPr>
          <p:cNvPr id="5" name="Picture 4">
            <a:extLst>
              <a:ext uri="{FF2B5EF4-FFF2-40B4-BE49-F238E27FC236}">
                <a16:creationId xmlns:a16="http://schemas.microsoft.com/office/drawing/2014/main" id="{DFB58DCD-9B7B-6374-0852-BF3B3B5FF39C}"/>
              </a:ext>
            </a:extLst>
          </p:cNvPr>
          <p:cNvPicPr>
            <a:picLocks noChangeAspect="1"/>
          </p:cNvPicPr>
          <p:nvPr/>
        </p:nvPicPr>
        <p:blipFill>
          <a:blip r:embed="rId3"/>
          <a:stretch>
            <a:fillRect/>
          </a:stretch>
        </p:blipFill>
        <p:spPr>
          <a:xfrm>
            <a:off x="1267720" y="1690688"/>
            <a:ext cx="9656559" cy="5167312"/>
          </a:xfrm>
          <a:prstGeom prst="rect">
            <a:avLst/>
          </a:prstGeom>
        </p:spPr>
      </p:pic>
    </p:spTree>
    <p:extLst>
      <p:ext uri="{BB962C8B-B14F-4D97-AF65-F5344CB8AC3E}">
        <p14:creationId xmlns:p14="http://schemas.microsoft.com/office/powerpoint/2010/main" val="98489015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Independent (Two-Sample) t-Test</a:t>
            </a:r>
            <a:endParaRPr lang="en-IN" b="1" dirty="0"/>
          </a:p>
        </p:txBody>
      </p:sp>
      <p:pic>
        <p:nvPicPr>
          <p:cNvPr id="4" name="Picture 3">
            <a:extLst>
              <a:ext uri="{FF2B5EF4-FFF2-40B4-BE49-F238E27FC236}">
                <a16:creationId xmlns:a16="http://schemas.microsoft.com/office/drawing/2014/main" id="{2EAFD21A-3B39-6291-B7FB-105FD3DAD988}"/>
              </a:ext>
            </a:extLst>
          </p:cNvPr>
          <p:cNvPicPr>
            <a:picLocks noChangeAspect="1"/>
          </p:cNvPicPr>
          <p:nvPr/>
        </p:nvPicPr>
        <p:blipFill>
          <a:blip r:embed="rId3"/>
          <a:stretch>
            <a:fillRect/>
          </a:stretch>
        </p:blipFill>
        <p:spPr>
          <a:xfrm>
            <a:off x="3015226" y="1339131"/>
            <a:ext cx="6161547" cy="5518869"/>
          </a:xfrm>
          <a:prstGeom prst="rect">
            <a:avLst/>
          </a:prstGeom>
        </p:spPr>
      </p:pic>
    </p:spTree>
    <p:extLst>
      <p:ext uri="{BB962C8B-B14F-4D97-AF65-F5344CB8AC3E}">
        <p14:creationId xmlns:p14="http://schemas.microsoft.com/office/powerpoint/2010/main" val="333971627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Paired (Dependent) t-Test</a:t>
            </a:r>
            <a:endParaRPr lang="en-IN" b="1" dirty="0"/>
          </a:p>
        </p:txBody>
      </p:sp>
      <p:pic>
        <p:nvPicPr>
          <p:cNvPr id="5" name="Picture 4">
            <a:extLst>
              <a:ext uri="{FF2B5EF4-FFF2-40B4-BE49-F238E27FC236}">
                <a16:creationId xmlns:a16="http://schemas.microsoft.com/office/drawing/2014/main" id="{04D6825C-1741-8DC7-EADE-5C81A478E5CC}"/>
              </a:ext>
            </a:extLst>
          </p:cNvPr>
          <p:cNvPicPr>
            <a:picLocks noChangeAspect="1"/>
          </p:cNvPicPr>
          <p:nvPr/>
        </p:nvPicPr>
        <p:blipFill>
          <a:blip r:embed="rId3"/>
          <a:stretch>
            <a:fillRect/>
          </a:stretch>
        </p:blipFill>
        <p:spPr>
          <a:xfrm>
            <a:off x="103072" y="1877733"/>
            <a:ext cx="11985855" cy="3102533"/>
          </a:xfrm>
          <a:prstGeom prst="rect">
            <a:avLst/>
          </a:prstGeom>
        </p:spPr>
      </p:pic>
    </p:spTree>
    <p:extLst>
      <p:ext uri="{BB962C8B-B14F-4D97-AF65-F5344CB8AC3E}">
        <p14:creationId xmlns:p14="http://schemas.microsoft.com/office/powerpoint/2010/main" val="338041640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Paired (Dependent) t-Test</a:t>
            </a:r>
            <a:endParaRPr lang="en-IN" b="1" dirty="0"/>
          </a:p>
        </p:txBody>
      </p:sp>
      <p:pic>
        <p:nvPicPr>
          <p:cNvPr id="4" name="Picture 3">
            <a:extLst>
              <a:ext uri="{FF2B5EF4-FFF2-40B4-BE49-F238E27FC236}">
                <a16:creationId xmlns:a16="http://schemas.microsoft.com/office/drawing/2014/main" id="{49A15534-8560-98E3-102B-372803449BD9}"/>
              </a:ext>
            </a:extLst>
          </p:cNvPr>
          <p:cNvPicPr>
            <a:picLocks noChangeAspect="1"/>
          </p:cNvPicPr>
          <p:nvPr/>
        </p:nvPicPr>
        <p:blipFill>
          <a:blip r:embed="rId3"/>
          <a:stretch>
            <a:fillRect/>
          </a:stretch>
        </p:blipFill>
        <p:spPr>
          <a:xfrm>
            <a:off x="1392524" y="1368793"/>
            <a:ext cx="9406951" cy="5489207"/>
          </a:xfrm>
          <a:prstGeom prst="rect">
            <a:avLst/>
          </a:prstGeom>
        </p:spPr>
      </p:pic>
    </p:spTree>
    <p:extLst>
      <p:ext uri="{BB962C8B-B14F-4D97-AF65-F5344CB8AC3E}">
        <p14:creationId xmlns:p14="http://schemas.microsoft.com/office/powerpoint/2010/main" val="43959143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One-Tailed vs. Two-Tailed t-Test</a:t>
            </a:r>
            <a:endParaRPr lang="en-IN" b="1" dirty="0"/>
          </a:p>
        </p:txBody>
      </p:sp>
      <p:pic>
        <p:nvPicPr>
          <p:cNvPr id="5" name="Picture 4">
            <a:extLst>
              <a:ext uri="{FF2B5EF4-FFF2-40B4-BE49-F238E27FC236}">
                <a16:creationId xmlns:a16="http://schemas.microsoft.com/office/drawing/2014/main" id="{7B13A2A0-FCA1-DC9D-9372-F4F7F8A24053}"/>
              </a:ext>
            </a:extLst>
          </p:cNvPr>
          <p:cNvPicPr>
            <a:picLocks noChangeAspect="1"/>
          </p:cNvPicPr>
          <p:nvPr/>
        </p:nvPicPr>
        <p:blipFill>
          <a:blip r:embed="rId3"/>
          <a:stretch>
            <a:fillRect/>
          </a:stretch>
        </p:blipFill>
        <p:spPr>
          <a:xfrm>
            <a:off x="1423692" y="1325563"/>
            <a:ext cx="9344615" cy="5532437"/>
          </a:xfrm>
          <a:prstGeom prst="rect">
            <a:avLst/>
          </a:prstGeom>
        </p:spPr>
      </p:pic>
    </p:spTree>
    <p:extLst>
      <p:ext uri="{BB962C8B-B14F-4D97-AF65-F5344CB8AC3E}">
        <p14:creationId xmlns:p14="http://schemas.microsoft.com/office/powerpoint/2010/main" val="284467633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Power of a Test</a:t>
            </a:r>
            <a:endParaRPr lang="en-IN" b="1" dirty="0"/>
          </a:p>
        </p:txBody>
      </p:sp>
      <p:pic>
        <p:nvPicPr>
          <p:cNvPr id="9" name="Picture 8">
            <a:extLst>
              <a:ext uri="{FF2B5EF4-FFF2-40B4-BE49-F238E27FC236}">
                <a16:creationId xmlns:a16="http://schemas.microsoft.com/office/drawing/2014/main" id="{AF0EA712-6AEE-CA9C-5D15-4DAF8187CB4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9069" y="1690688"/>
            <a:ext cx="11633862" cy="4306306"/>
          </a:xfrm>
          <a:prstGeom prst="rect">
            <a:avLst/>
          </a:prstGeom>
        </p:spPr>
      </p:pic>
    </p:spTree>
    <p:extLst>
      <p:ext uri="{BB962C8B-B14F-4D97-AF65-F5344CB8AC3E}">
        <p14:creationId xmlns:p14="http://schemas.microsoft.com/office/powerpoint/2010/main" val="386459087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Type I and Type II Errors</a:t>
            </a:r>
            <a:endParaRPr lang="en-IN" b="1" dirty="0"/>
          </a:p>
        </p:txBody>
      </p:sp>
      <p:pic>
        <p:nvPicPr>
          <p:cNvPr id="9" name="Picture 8">
            <a:extLst>
              <a:ext uri="{FF2B5EF4-FFF2-40B4-BE49-F238E27FC236}">
                <a16:creationId xmlns:a16="http://schemas.microsoft.com/office/drawing/2014/main" id="{AF0EA712-6AEE-CA9C-5D15-4DAF8187CB4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21" y="2066286"/>
            <a:ext cx="12178358" cy="2725427"/>
          </a:xfrm>
          <a:prstGeom prst="rect">
            <a:avLst/>
          </a:prstGeom>
        </p:spPr>
      </p:pic>
    </p:spTree>
    <p:extLst>
      <p:ext uri="{BB962C8B-B14F-4D97-AF65-F5344CB8AC3E}">
        <p14:creationId xmlns:p14="http://schemas.microsoft.com/office/powerpoint/2010/main" val="124916341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Factors Affecting Power</a:t>
            </a:r>
            <a:endParaRPr lang="en-IN" b="1" dirty="0"/>
          </a:p>
        </p:txBody>
      </p:sp>
      <p:pic>
        <p:nvPicPr>
          <p:cNvPr id="9" name="Picture 8">
            <a:extLst>
              <a:ext uri="{FF2B5EF4-FFF2-40B4-BE49-F238E27FC236}">
                <a16:creationId xmlns:a16="http://schemas.microsoft.com/office/drawing/2014/main" id="{AF0EA712-6AEE-CA9C-5D15-4DAF8187CB4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21" y="2066286"/>
            <a:ext cx="12178358" cy="2725427"/>
          </a:xfrm>
          <a:prstGeom prst="rect">
            <a:avLst/>
          </a:prstGeom>
        </p:spPr>
      </p:pic>
    </p:spTree>
    <p:extLst>
      <p:ext uri="{BB962C8B-B14F-4D97-AF65-F5344CB8AC3E}">
        <p14:creationId xmlns:p14="http://schemas.microsoft.com/office/powerpoint/2010/main" val="124600253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Power Calculation</a:t>
            </a:r>
            <a:endParaRPr lang="en-IN" b="1" dirty="0"/>
          </a:p>
        </p:txBody>
      </p:sp>
      <p:pic>
        <p:nvPicPr>
          <p:cNvPr id="9" name="Picture 8">
            <a:extLst>
              <a:ext uri="{FF2B5EF4-FFF2-40B4-BE49-F238E27FC236}">
                <a16:creationId xmlns:a16="http://schemas.microsoft.com/office/drawing/2014/main" id="{AF0EA712-6AEE-CA9C-5D15-4DAF8187CB46}"/>
              </a:ext>
            </a:extLst>
          </p:cNvPr>
          <p:cNvPicPr>
            <a:picLocks noChangeAspect="1"/>
          </p:cNvPicPr>
          <p:nvPr/>
        </p:nvPicPr>
        <p:blipFill>
          <a:blip r:embed="rId3"/>
          <a:stretch>
            <a:fillRect/>
          </a:stretch>
        </p:blipFill>
        <p:spPr>
          <a:xfrm>
            <a:off x="1724161" y="1253079"/>
            <a:ext cx="8743677" cy="5604921"/>
          </a:xfrm>
          <a:prstGeom prst="rect">
            <a:avLst/>
          </a:prstGeom>
        </p:spPr>
      </p:pic>
    </p:spTree>
    <p:extLst>
      <p:ext uri="{BB962C8B-B14F-4D97-AF65-F5344CB8AC3E}">
        <p14:creationId xmlns:p14="http://schemas.microsoft.com/office/powerpoint/2010/main" val="297042368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Sample Size Calculation</a:t>
            </a:r>
            <a:endParaRPr lang="en-IN" b="1" dirty="0"/>
          </a:p>
        </p:txBody>
      </p:sp>
      <p:pic>
        <p:nvPicPr>
          <p:cNvPr id="4" name="Picture 3">
            <a:extLst>
              <a:ext uri="{FF2B5EF4-FFF2-40B4-BE49-F238E27FC236}">
                <a16:creationId xmlns:a16="http://schemas.microsoft.com/office/drawing/2014/main" id="{A5B8142B-1E9B-2EA9-D0D6-F600CB8D01B0}"/>
              </a:ext>
            </a:extLst>
          </p:cNvPr>
          <p:cNvPicPr>
            <a:picLocks noChangeAspect="1"/>
          </p:cNvPicPr>
          <p:nvPr/>
        </p:nvPicPr>
        <p:blipFill>
          <a:blip r:embed="rId3"/>
          <a:srcRect t="7137"/>
          <a:stretch/>
        </p:blipFill>
        <p:spPr>
          <a:xfrm>
            <a:off x="1423147" y="1340544"/>
            <a:ext cx="9345706" cy="5517456"/>
          </a:xfrm>
          <a:prstGeom prst="rect">
            <a:avLst/>
          </a:prstGeom>
        </p:spPr>
      </p:pic>
    </p:spTree>
    <p:extLst>
      <p:ext uri="{BB962C8B-B14F-4D97-AF65-F5344CB8AC3E}">
        <p14:creationId xmlns:p14="http://schemas.microsoft.com/office/powerpoint/2010/main" val="360298119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Cumulative Distribution Function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The </a:t>
            </a:r>
            <a:r>
              <a:rPr lang="en-US" b="1" dirty="0"/>
              <a:t>Cumulative Distribution Function (CDF)</a:t>
            </a:r>
            <a:r>
              <a:rPr lang="en-US" dirty="0"/>
              <a:t> of a random variable provides the probability that the variable takes a value less than or equal to a given value. Methods based on the CDF are widely used in statistical analysis, particularly in non-parametric testing, probability estimation, and assessing the goodness of fit of models.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690633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Cumulative Distribution Function</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stretch>
            <a:fillRect/>
          </a:stretch>
        </p:blipFill>
        <p:spPr>
          <a:xfrm>
            <a:off x="317157" y="1690688"/>
            <a:ext cx="11557686" cy="4316911"/>
          </a:xfrm>
          <a:prstGeom prst="rect">
            <a:avLst/>
          </a:prstGeom>
        </p:spPr>
      </p:pic>
    </p:spTree>
    <p:extLst>
      <p:ext uri="{BB962C8B-B14F-4D97-AF65-F5344CB8AC3E}">
        <p14:creationId xmlns:p14="http://schemas.microsoft.com/office/powerpoint/2010/main" val="17351211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Cumulative Distribution Function</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17157" y="1690688"/>
            <a:ext cx="11557686" cy="4104001"/>
          </a:xfrm>
          <a:prstGeom prst="rect">
            <a:avLst/>
          </a:prstGeom>
        </p:spPr>
      </p:pic>
    </p:spTree>
    <p:extLst>
      <p:ext uri="{BB962C8B-B14F-4D97-AF65-F5344CB8AC3E}">
        <p14:creationId xmlns:p14="http://schemas.microsoft.com/office/powerpoint/2010/main" val="429358253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Applications of CDF-Based Methods</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64925" y="1690688"/>
            <a:ext cx="10062150" cy="4104001"/>
          </a:xfrm>
          <a:prstGeom prst="rect">
            <a:avLst/>
          </a:prstGeom>
        </p:spPr>
      </p:pic>
    </p:spTree>
    <p:extLst>
      <p:ext uri="{BB962C8B-B14F-4D97-AF65-F5344CB8AC3E}">
        <p14:creationId xmlns:p14="http://schemas.microsoft.com/office/powerpoint/2010/main" val="237306632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Applications of CDF-Based Methods</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14032" y="1690688"/>
            <a:ext cx="10363936" cy="4512582"/>
          </a:xfrm>
          <a:prstGeom prst="rect">
            <a:avLst/>
          </a:prstGeom>
        </p:spPr>
      </p:pic>
    </p:spTree>
    <p:extLst>
      <p:ext uri="{BB962C8B-B14F-4D97-AF65-F5344CB8AC3E}">
        <p14:creationId xmlns:p14="http://schemas.microsoft.com/office/powerpoint/2010/main" val="248166031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Applications of CDF-Based Methods</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58506" y="1567119"/>
            <a:ext cx="9274988" cy="5209383"/>
          </a:xfrm>
          <a:prstGeom prst="rect">
            <a:avLst/>
          </a:prstGeom>
        </p:spPr>
      </p:pic>
    </p:spTree>
    <p:extLst>
      <p:ext uri="{BB962C8B-B14F-4D97-AF65-F5344CB8AC3E}">
        <p14:creationId xmlns:p14="http://schemas.microsoft.com/office/powerpoint/2010/main" val="56822276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Applications of CDF-Based Methods</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89776" y="1567119"/>
            <a:ext cx="8612447" cy="5209383"/>
          </a:xfrm>
          <a:prstGeom prst="rect">
            <a:avLst/>
          </a:prstGeom>
        </p:spPr>
      </p:pic>
    </p:spTree>
    <p:extLst>
      <p:ext uri="{BB962C8B-B14F-4D97-AF65-F5344CB8AC3E}">
        <p14:creationId xmlns:p14="http://schemas.microsoft.com/office/powerpoint/2010/main" val="38792363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Applications of CDF-Based Methods</a:t>
            </a:r>
            <a:endParaRPr lang="en-IN" b="1" dirty="0"/>
          </a:p>
        </p:txBody>
      </p:sp>
      <p:pic>
        <p:nvPicPr>
          <p:cNvPr id="5" name="Picture 4">
            <a:extLst>
              <a:ext uri="{FF2B5EF4-FFF2-40B4-BE49-F238E27FC236}">
                <a16:creationId xmlns:a16="http://schemas.microsoft.com/office/drawing/2014/main" id="{F64734AD-C8F9-6DD9-B398-DCB6FA6B30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9096" y="1690688"/>
            <a:ext cx="10413808" cy="4474774"/>
          </a:xfrm>
          <a:prstGeom prst="rect">
            <a:avLst/>
          </a:prstGeom>
        </p:spPr>
      </p:pic>
    </p:spTree>
    <p:extLst>
      <p:ext uri="{BB962C8B-B14F-4D97-AF65-F5344CB8AC3E}">
        <p14:creationId xmlns:p14="http://schemas.microsoft.com/office/powerpoint/2010/main" val="401986168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Applications in Data Science</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6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Goodness-of-Fit Testing</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CDF-based methods are extensively used to check whether data follow a specified distribution (e.g., normality tests in regression analysis). For example, the Kolmogorov-Smirnov and Anderson-Darling tests can be used to validate assumptions about data distributions.</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Survival Analysis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In survival analysis, the CDF is used to calculate survival probabilities and to model time-to-event data. The Kaplan-Meier estimator is a commonly used non-parametric estimator for the survival function, which is closely related to the empirical CDF.</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Non-Parametric Testing</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Many non-parametric tests, such as the Mann-Whitney U test, are based on ranks or the empirical CDF, making them useful in situations where assumptions of normality or equal variance are violated.</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Probability Estimation</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 CDF is used in probability estimation tasks, such as finding the probability that a variable will fall within a given range or above/below a certain value. This is particularly useful in fields like finance, where estimating the probability of rare events is important.</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Q-Q Plots in Model Validation</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In machine learning and regression analysis, Q-Q plots are used to validate model assumptions, such as the normality of residuals, to ensure that models are performing as expected.</a:t>
            </a:r>
          </a:p>
        </p:txBody>
      </p:sp>
    </p:spTree>
    <p:extLst>
      <p:ext uri="{BB962C8B-B14F-4D97-AF65-F5344CB8AC3E}">
        <p14:creationId xmlns:p14="http://schemas.microsoft.com/office/powerpoint/2010/main" val="2669981196"/>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Advantages and Disadvantages of CDF-Based Methods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a:bodyPr>
          <a:lstStyle/>
          <a:p>
            <a:pPr algn="just"/>
            <a:r>
              <a:rPr lang="en-US" b="1" dirty="0"/>
              <a:t>Advantages:</a:t>
            </a:r>
          </a:p>
          <a:p>
            <a:pPr algn="just">
              <a:buFont typeface="+mj-lt"/>
              <a:buAutoNum type="arabicPeriod"/>
            </a:pPr>
            <a:r>
              <a:rPr lang="en-US" b="1" dirty="0"/>
              <a:t>Non-Parametric</a:t>
            </a:r>
            <a:r>
              <a:rPr lang="en-US" dirty="0"/>
              <a:t>:</a:t>
            </a:r>
          </a:p>
          <a:p>
            <a:pPr marL="742950" lvl="1" indent="-285750" algn="just">
              <a:buFont typeface="+mj-lt"/>
              <a:buAutoNum type="arabicPeriod"/>
            </a:pPr>
            <a:r>
              <a:rPr lang="en-US" dirty="0"/>
              <a:t>Methods based on the empirical CDF are non-parametric and make few assumptions about the underlying distribution, making them flexible and widely applicable.</a:t>
            </a:r>
          </a:p>
          <a:p>
            <a:pPr algn="just">
              <a:buFont typeface="+mj-lt"/>
              <a:buAutoNum type="arabicPeriod"/>
            </a:pPr>
            <a:r>
              <a:rPr lang="en-US" b="1" dirty="0"/>
              <a:t>Visual Tools</a:t>
            </a:r>
            <a:r>
              <a:rPr lang="en-US" dirty="0"/>
              <a:t>:</a:t>
            </a:r>
          </a:p>
          <a:p>
            <a:pPr marL="742950" lvl="1" indent="-285750" algn="just">
              <a:buFont typeface="+mj-lt"/>
              <a:buAutoNum type="arabicPeriod"/>
            </a:pPr>
            <a:r>
              <a:rPr lang="en-US" dirty="0"/>
              <a:t>Methods like Q-Q plots provide powerful visual tools to assess whether a dataset follows a specific distribution, which helps in model diagnostics and data analysis.</a:t>
            </a:r>
          </a:p>
          <a:p>
            <a:pPr algn="just">
              <a:buFont typeface="+mj-lt"/>
              <a:buAutoNum type="arabicPeriod"/>
            </a:pPr>
            <a:r>
              <a:rPr lang="en-US" b="1" dirty="0"/>
              <a:t>Applicability to Small Samples</a:t>
            </a:r>
            <a:r>
              <a:rPr lang="en-US" dirty="0"/>
              <a:t>:</a:t>
            </a:r>
          </a:p>
          <a:p>
            <a:pPr marL="742950" lvl="1" indent="-285750" algn="just">
              <a:buFont typeface="+mj-lt"/>
              <a:buAutoNum type="arabicPeriod"/>
            </a:pPr>
            <a:r>
              <a:rPr lang="en-US" dirty="0"/>
              <a:t>CDF-based methods can be applied to small sample sizes, where parametric tests might not perform well.</a:t>
            </a:r>
          </a:p>
        </p:txBody>
      </p:sp>
    </p:spTree>
    <p:extLst>
      <p:ext uri="{BB962C8B-B14F-4D97-AF65-F5344CB8AC3E}">
        <p14:creationId xmlns:p14="http://schemas.microsoft.com/office/powerpoint/2010/main" val="130426519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Advantages and Disadvantages of CDF-Based Methods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r>
              <a:rPr lang="en-US" b="1" dirty="0"/>
              <a:t>Disadvantages:</a:t>
            </a:r>
          </a:p>
          <a:p>
            <a:pPr>
              <a:buFont typeface="+mj-lt"/>
              <a:buAutoNum type="arabicPeriod"/>
            </a:pPr>
            <a:r>
              <a:rPr lang="en-US" b="1" dirty="0"/>
              <a:t>Sensitivity to Sample Size</a:t>
            </a:r>
            <a:r>
              <a:rPr lang="en-US" dirty="0"/>
              <a:t>:</a:t>
            </a:r>
          </a:p>
          <a:p>
            <a:pPr marL="742950" lvl="1" indent="-285750">
              <a:buFont typeface="+mj-lt"/>
              <a:buAutoNum type="arabicPeriod"/>
            </a:pPr>
            <a:r>
              <a:rPr lang="en-US" dirty="0"/>
              <a:t>Some CDF-based tests, like the Kolmogorov-Smirnov test, may have limited power with small sample sizes or may be overly sensitive with very large samples, detecting trivial deviations from the theoretical distribution.</a:t>
            </a:r>
          </a:p>
          <a:p>
            <a:pPr>
              <a:buFont typeface="+mj-lt"/>
              <a:buAutoNum type="arabicPeriod"/>
            </a:pPr>
            <a:r>
              <a:rPr lang="en-US" b="1" dirty="0"/>
              <a:t>Computationally Intensive</a:t>
            </a:r>
            <a:r>
              <a:rPr lang="en-US" dirty="0"/>
              <a:t>:</a:t>
            </a:r>
          </a:p>
          <a:p>
            <a:pPr marL="742950" lvl="1" indent="-285750">
              <a:buFont typeface="+mj-lt"/>
              <a:buAutoNum type="arabicPeriod"/>
            </a:pPr>
            <a:r>
              <a:rPr lang="en-US" dirty="0"/>
              <a:t>Certain methods, such as the Cramer-von Mises and Anderson-Darling tests, involve complex calculations, which can be computationally intensive for large datasets.</a:t>
            </a:r>
          </a:p>
        </p:txBody>
      </p:sp>
    </p:spTree>
    <p:extLst>
      <p:ext uri="{BB962C8B-B14F-4D97-AF65-F5344CB8AC3E}">
        <p14:creationId xmlns:p14="http://schemas.microsoft.com/office/powerpoint/2010/main" val="147727310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The Empirical CDF (ECDF)</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dirty="0"/>
              <a:t>The </a:t>
            </a:r>
            <a:r>
              <a:rPr lang="en-US" b="1" dirty="0"/>
              <a:t>Empirical Cumulative Distribution Function (ECDF)</a:t>
            </a:r>
            <a:r>
              <a:rPr lang="en-US" dirty="0"/>
              <a:t> is a non-parametric estimator of the Cumulative Distribution Function (CDF) for a dataset. It provides a way to visualize and analyze the distribution of data points and is widely used in exploratory data analysis, hypothesis testing, and statistical modeling. Unlike theoretical CDFs, which assume a specific distribution, the ECDF is based directly on the observed data, making it flexible and assumption-free.</a:t>
            </a:r>
          </a:p>
        </p:txBody>
      </p:sp>
    </p:spTree>
    <p:extLst>
      <p:ext uri="{BB962C8B-B14F-4D97-AF65-F5344CB8AC3E}">
        <p14:creationId xmlns:p14="http://schemas.microsoft.com/office/powerpoint/2010/main" val="112282350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The Empirical CDF (ECDF)</a:t>
            </a:r>
            <a:endParaRPr lang="en-IN" b="1" dirty="0"/>
          </a:p>
        </p:txBody>
      </p:sp>
      <p:pic>
        <p:nvPicPr>
          <p:cNvPr id="7" name="Picture 6">
            <a:extLst>
              <a:ext uri="{FF2B5EF4-FFF2-40B4-BE49-F238E27FC236}">
                <a16:creationId xmlns:a16="http://schemas.microsoft.com/office/drawing/2014/main" id="{3E569761-0F85-E6C4-D726-29B105D6066A}"/>
              </a:ext>
            </a:extLst>
          </p:cNvPr>
          <p:cNvPicPr>
            <a:picLocks noChangeAspect="1"/>
          </p:cNvPicPr>
          <p:nvPr/>
        </p:nvPicPr>
        <p:blipFill>
          <a:blip r:embed="rId3"/>
          <a:stretch>
            <a:fillRect/>
          </a:stretch>
        </p:blipFill>
        <p:spPr>
          <a:xfrm>
            <a:off x="68853" y="1690688"/>
            <a:ext cx="12054293" cy="4633247"/>
          </a:xfrm>
          <a:prstGeom prst="rect">
            <a:avLst/>
          </a:prstGeom>
        </p:spPr>
      </p:pic>
    </p:spTree>
    <p:extLst>
      <p:ext uri="{BB962C8B-B14F-4D97-AF65-F5344CB8AC3E}">
        <p14:creationId xmlns:p14="http://schemas.microsoft.com/office/powerpoint/2010/main" val="215107298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of the Empirical CDF</a:t>
            </a:r>
            <a:endParaRPr lang="en-IN" b="1" dirty="0"/>
          </a:p>
        </p:txBody>
      </p:sp>
      <p:pic>
        <p:nvPicPr>
          <p:cNvPr id="4" name="Picture 3">
            <a:extLst>
              <a:ext uri="{FF2B5EF4-FFF2-40B4-BE49-F238E27FC236}">
                <a16:creationId xmlns:a16="http://schemas.microsoft.com/office/drawing/2014/main" id="{389340A4-D4AC-BC40-1E79-8C75B884A095}"/>
              </a:ext>
            </a:extLst>
          </p:cNvPr>
          <p:cNvPicPr>
            <a:picLocks noChangeAspect="1"/>
          </p:cNvPicPr>
          <p:nvPr/>
        </p:nvPicPr>
        <p:blipFill>
          <a:blip r:embed="rId3"/>
          <a:srcRect b="41862"/>
          <a:stretch/>
        </p:blipFill>
        <p:spPr>
          <a:xfrm>
            <a:off x="1272876" y="1690688"/>
            <a:ext cx="9646248" cy="4659758"/>
          </a:xfrm>
          <a:prstGeom prst="rect">
            <a:avLst/>
          </a:prstGeom>
        </p:spPr>
      </p:pic>
    </p:spTree>
    <p:extLst>
      <p:ext uri="{BB962C8B-B14F-4D97-AF65-F5344CB8AC3E}">
        <p14:creationId xmlns:p14="http://schemas.microsoft.com/office/powerpoint/2010/main" val="1475960290"/>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Properties of the Empirical CDF</a:t>
            </a:r>
            <a:endParaRPr lang="en-IN" b="1" dirty="0"/>
          </a:p>
        </p:txBody>
      </p:sp>
      <p:pic>
        <p:nvPicPr>
          <p:cNvPr id="5" name="Picture 4">
            <a:extLst>
              <a:ext uri="{FF2B5EF4-FFF2-40B4-BE49-F238E27FC236}">
                <a16:creationId xmlns:a16="http://schemas.microsoft.com/office/drawing/2014/main" id="{33E0380D-7193-F756-E2B0-47E09513817B}"/>
              </a:ext>
            </a:extLst>
          </p:cNvPr>
          <p:cNvPicPr>
            <a:picLocks noChangeAspect="1"/>
          </p:cNvPicPr>
          <p:nvPr/>
        </p:nvPicPr>
        <p:blipFill>
          <a:blip r:embed="rId3"/>
          <a:srcRect t="58859"/>
          <a:stretch/>
        </p:blipFill>
        <p:spPr>
          <a:xfrm>
            <a:off x="266947" y="1690688"/>
            <a:ext cx="11658106" cy="3985182"/>
          </a:xfrm>
          <a:prstGeom prst="rect">
            <a:avLst/>
          </a:prstGeom>
        </p:spPr>
      </p:pic>
    </p:spTree>
    <p:extLst>
      <p:ext uri="{BB962C8B-B14F-4D97-AF65-F5344CB8AC3E}">
        <p14:creationId xmlns:p14="http://schemas.microsoft.com/office/powerpoint/2010/main" val="137160244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How to Construct the Empirical CDF</a:t>
            </a:r>
            <a:endParaRPr lang="en-IN" b="1" dirty="0"/>
          </a:p>
        </p:txBody>
      </p:sp>
      <p:pic>
        <p:nvPicPr>
          <p:cNvPr id="4" name="Picture 3">
            <a:extLst>
              <a:ext uri="{FF2B5EF4-FFF2-40B4-BE49-F238E27FC236}">
                <a16:creationId xmlns:a16="http://schemas.microsoft.com/office/drawing/2014/main" id="{F3B9E9F2-618E-AF32-8ACE-4D7A35FAA5DF}"/>
              </a:ext>
            </a:extLst>
          </p:cNvPr>
          <p:cNvPicPr>
            <a:picLocks noChangeAspect="1"/>
          </p:cNvPicPr>
          <p:nvPr/>
        </p:nvPicPr>
        <p:blipFill>
          <a:blip r:embed="rId3"/>
          <a:stretch>
            <a:fillRect/>
          </a:stretch>
        </p:blipFill>
        <p:spPr>
          <a:xfrm>
            <a:off x="1034675" y="1690688"/>
            <a:ext cx="10122649" cy="5105528"/>
          </a:xfrm>
          <a:prstGeom prst="rect">
            <a:avLst/>
          </a:prstGeom>
        </p:spPr>
      </p:pic>
    </p:spTree>
    <p:extLst>
      <p:ext uri="{BB962C8B-B14F-4D97-AF65-F5344CB8AC3E}">
        <p14:creationId xmlns:p14="http://schemas.microsoft.com/office/powerpoint/2010/main" val="115760324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How to Construct the Empirical CDF</a:t>
            </a:r>
            <a:endParaRPr lang="en-IN" b="1" dirty="0"/>
          </a:p>
        </p:txBody>
      </p:sp>
      <p:pic>
        <p:nvPicPr>
          <p:cNvPr id="4" name="Picture 3">
            <a:extLst>
              <a:ext uri="{FF2B5EF4-FFF2-40B4-BE49-F238E27FC236}">
                <a16:creationId xmlns:a16="http://schemas.microsoft.com/office/drawing/2014/main" id="{F3B9E9F2-618E-AF32-8ACE-4D7A35FAA5D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563977" y="1326974"/>
            <a:ext cx="7064045" cy="5520705"/>
          </a:xfrm>
          <a:prstGeom prst="rect">
            <a:avLst/>
          </a:prstGeom>
        </p:spPr>
      </p:pic>
    </p:spTree>
    <p:extLst>
      <p:ext uri="{BB962C8B-B14F-4D97-AF65-F5344CB8AC3E}">
        <p14:creationId xmlns:p14="http://schemas.microsoft.com/office/powerpoint/2010/main" val="55570983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Applications of the Empirical CDF</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550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Exploratory Data Analysis (EDA)</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ECDF is commonly used in EDA to visualize the distribution of the data without making any assumptions about the underlying distribution.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allows for a clear view of how data points are distributed, highlighting features such as concentration, gaps, or outliers.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Comparison of Distributions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ECDF is a useful tool for comparing the distributions of different samples. By plotting the ECDFs of two or more samples on the same graph, you can visually compare how the distributions differ.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more formal comparison can be made using the </a:t>
            </a:r>
            <a:r>
              <a:rPr kumimoji="0" lang="en-US" altLang="en-US" sz="2800" b="1" i="0" u="none" strike="noStrike" cap="none" normalizeH="0" baseline="0" dirty="0">
                <a:ln>
                  <a:noFill/>
                </a:ln>
                <a:solidFill>
                  <a:schemeClr val="tx1"/>
                </a:solidFill>
                <a:effectLst/>
                <a:latin typeface="Arial" panose="020B0604020202020204" pitchFamily="34" charset="0"/>
              </a:rPr>
              <a:t>Kolmogorov-Smirnov test</a:t>
            </a:r>
            <a:r>
              <a:rPr kumimoji="0" lang="en-US" altLang="en-US" sz="2800" b="0" i="0" u="none" strike="noStrike" cap="none" normalizeH="0" baseline="0" dirty="0">
                <a:ln>
                  <a:noFill/>
                </a:ln>
                <a:solidFill>
                  <a:schemeClr val="tx1"/>
                </a:solidFill>
                <a:effectLst/>
                <a:latin typeface="Arial" panose="020B0604020202020204" pitchFamily="34" charset="0"/>
              </a:rPr>
              <a:t>, which compares the ECDFs of two samples.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Goodness-of-Fit Testing</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ECDF can be used to assess whether a dataset fits a particular theoretical distribution. For example, you can compare the ECDF of a sample to the theoretical CDF of a normal distribution to see if the data is normally distributed.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a:t>
            </a:r>
            <a:r>
              <a:rPr kumimoji="0" lang="en-US" altLang="en-US" sz="2800" b="1" i="0" u="none" strike="noStrike" cap="none" normalizeH="0" baseline="0" dirty="0">
                <a:ln>
                  <a:noFill/>
                </a:ln>
                <a:solidFill>
                  <a:schemeClr val="tx1"/>
                </a:solidFill>
                <a:effectLst/>
                <a:latin typeface="Arial" panose="020B0604020202020204" pitchFamily="34" charset="0"/>
              </a:rPr>
              <a:t>Q-Q plot</a:t>
            </a:r>
            <a:r>
              <a:rPr kumimoji="0" lang="en-US" altLang="en-US" sz="2800" b="0" i="0" u="none" strike="noStrike" cap="none" normalizeH="0" baseline="0" dirty="0">
                <a:ln>
                  <a:noFill/>
                </a:ln>
                <a:solidFill>
                  <a:schemeClr val="tx1"/>
                </a:solidFill>
                <a:effectLst/>
                <a:latin typeface="Arial" panose="020B0604020202020204" pitchFamily="34" charset="0"/>
              </a:rPr>
              <a:t> (Quantile-Quantile plot) is one graphical tool that uses the ECDF to check for goodness-of-fit.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Confidence Intervals for the CDF</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Confidence intervals can be constructed for the ECDF to give a range of plausible values for the true underlying CDF. These intervals are useful for assessing the uncertainty around the estimated distribution of the data.</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Survival Analysis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 survival analysis, the ECDF plays a central role in estimating the survival function, which is the probability that a subject survives beyond a certain time point.</a:t>
            </a:r>
          </a:p>
        </p:txBody>
      </p:sp>
    </p:spTree>
    <p:extLst>
      <p:ext uri="{BB962C8B-B14F-4D97-AF65-F5344CB8AC3E}">
        <p14:creationId xmlns:p14="http://schemas.microsoft.com/office/powerpoint/2010/main" val="664168509"/>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Advantages and Disadvantages of the ECDF</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b="1" dirty="0"/>
              <a:t>Advantages:</a:t>
            </a:r>
          </a:p>
          <a:p>
            <a:pPr algn="just">
              <a:buFont typeface="+mj-lt"/>
              <a:buAutoNum type="arabicPeriod"/>
            </a:pPr>
            <a:r>
              <a:rPr lang="en-US" b="1" dirty="0"/>
              <a:t>Non-parametric</a:t>
            </a:r>
            <a:r>
              <a:rPr lang="en-US" dirty="0"/>
              <a:t>:</a:t>
            </a:r>
          </a:p>
          <a:p>
            <a:pPr marL="742950" lvl="1" indent="-285750" algn="just">
              <a:buFont typeface="+mj-lt"/>
              <a:buAutoNum type="arabicPeriod"/>
            </a:pPr>
            <a:r>
              <a:rPr lang="en-US" dirty="0"/>
              <a:t>The ECDF does not require any assumptions about the underlying distribution of the data, making it a flexible tool for data analysis.</a:t>
            </a:r>
          </a:p>
          <a:p>
            <a:pPr algn="just">
              <a:buFont typeface="+mj-lt"/>
              <a:buAutoNum type="arabicPeriod"/>
            </a:pPr>
            <a:r>
              <a:rPr lang="en-US" b="1" dirty="0"/>
              <a:t>Complete Information</a:t>
            </a:r>
            <a:r>
              <a:rPr lang="en-US" dirty="0"/>
              <a:t>:</a:t>
            </a:r>
          </a:p>
          <a:p>
            <a:pPr marL="742950" lvl="1" indent="-285750" algn="just">
              <a:buFont typeface="+mj-lt"/>
              <a:buAutoNum type="arabicPeriod"/>
            </a:pPr>
            <a:r>
              <a:rPr lang="en-US" dirty="0"/>
              <a:t>The ECDF provides a complete summary of the data’s distribution. It shows the cumulative frequency of observations and can be used to visualize the entire distribution without losing any information.</a:t>
            </a:r>
          </a:p>
          <a:p>
            <a:pPr algn="just">
              <a:buFont typeface="+mj-lt"/>
              <a:buAutoNum type="arabicPeriod"/>
            </a:pPr>
            <a:r>
              <a:rPr lang="en-US" b="1" dirty="0"/>
              <a:t>Easy to Calculate</a:t>
            </a:r>
            <a:r>
              <a:rPr lang="en-US" dirty="0"/>
              <a:t>:</a:t>
            </a:r>
          </a:p>
          <a:p>
            <a:pPr marL="742950" lvl="1" indent="-285750" algn="just">
              <a:buFont typeface="+mj-lt"/>
              <a:buAutoNum type="arabicPeriod"/>
            </a:pPr>
            <a:r>
              <a:rPr lang="en-US" dirty="0"/>
              <a:t>The ECDF is simple to compute and visualize, even for small datasets.</a:t>
            </a:r>
          </a:p>
        </p:txBody>
      </p:sp>
    </p:spTree>
    <p:extLst>
      <p:ext uri="{BB962C8B-B14F-4D97-AF65-F5344CB8AC3E}">
        <p14:creationId xmlns:p14="http://schemas.microsoft.com/office/powerpoint/2010/main" val="97123056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Advantages and Disadvantages of the ECDF</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algn="just"/>
            <a:r>
              <a:rPr lang="en-US" b="1" dirty="0"/>
              <a:t>Disadvantages:</a:t>
            </a:r>
          </a:p>
          <a:p>
            <a:pPr algn="just">
              <a:buFont typeface="+mj-lt"/>
              <a:buAutoNum type="arabicPeriod"/>
            </a:pPr>
            <a:r>
              <a:rPr lang="en-US" b="1" dirty="0"/>
              <a:t>Step Function</a:t>
            </a:r>
            <a:r>
              <a:rPr lang="en-US" dirty="0"/>
              <a:t>:</a:t>
            </a:r>
          </a:p>
          <a:p>
            <a:pPr marL="742950" lvl="1" indent="-285750" algn="just">
              <a:buFont typeface="+mj-lt"/>
              <a:buAutoNum type="arabicPeriod"/>
            </a:pPr>
            <a:r>
              <a:rPr lang="en-US" dirty="0"/>
              <a:t>Since the ECDF is a step function, it can be less smooth and harder to interpret for continuous data compared to fitted parametric distributions.</a:t>
            </a:r>
          </a:p>
          <a:p>
            <a:pPr marL="742950" lvl="1" indent="-285750" algn="just">
              <a:buFont typeface="+mj-lt"/>
              <a:buAutoNum type="arabicPeriod"/>
            </a:pPr>
            <a:r>
              <a:rPr lang="en-US" dirty="0"/>
              <a:t>The step-like nature of the ECDF might not provide an intuitive understanding of the overall distribution, especially with sparse data.</a:t>
            </a:r>
          </a:p>
          <a:p>
            <a:pPr algn="just">
              <a:buFont typeface="+mj-lt"/>
              <a:buAutoNum type="arabicPeriod"/>
            </a:pPr>
            <a:r>
              <a:rPr lang="en-US" b="1" dirty="0"/>
              <a:t>Less Power for Hypothesis Testing</a:t>
            </a:r>
            <a:r>
              <a:rPr lang="en-US" dirty="0"/>
              <a:t>:</a:t>
            </a:r>
          </a:p>
          <a:p>
            <a:pPr marL="742950" lvl="1" indent="-285750" algn="just">
              <a:buFont typeface="+mj-lt"/>
              <a:buAutoNum type="arabicPeriod"/>
            </a:pPr>
            <a:r>
              <a:rPr lang="en-US" dirty="0"/>
              <a:t>In some cases, parametric methods (e.g., fitting a normal distribution) can provide more powerful hypothesis tests if the assumptions hold true, as they leverage more information from the data.</a:t>
            </a:r>
          </a:p>
          <a:p>
            <a:pPr algn="just">
              <a:buFont typeface="+mj-lt"/>
              <a:buAutoNum type="arabicPeriod"/>
            </a:pPr>
            <a:r>
              <a:rPr lang="en-US" b="1" dirty="0"/>
              <a:t>Sensitive to Outliers</a:t>
            </a:r>
            <a:r>
              <a:rPr lang="en-US" dirty="0"/>
              <a:t>:</a:t>
            </a:r>
          </a:p>
          <a:p>
            <a:pPr marL="742950" lvl="1" indent="-285750" algn="just">
              <a:buFont typeface="+mj-lt"/>
              <a:buAutoNum type="arabicPeriod"/>
            </a:pPr>
            <a:r>
              <a:rPr lang="en-US" dirty="0"/>
              <a:t>The ECDF can be sensitive to outliers, as large jumps occur at each data point, including extreme values.</a:t>
            </a:r>
          </a:p>
        </p:txBody>
      </p:sp>
    </p:spTree>
    <p:extLst>
      <p:ext uri="{BB962C8B-B14F-4D97-AF65-F5344CB8AC3E}">
        <p14:creationId xmlns:p14="http://schemas.microsoft.com/office/powerpoint/2010/main" val="296084705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Comparison to Parametric CDFs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285750" indent="-285750" algn="just"/>
            <a:r>
              <a:rPr lang="en-US" dirty="0"/>
              <a:t>The ECDF is a data-driven approach and makes no assumptions about the underlying distribution, whereas parametric CDFs assume that the data follows a specific distribution (e.g., normal, exponential, binomial).</a:t>
            </a:r>
          </a:p>
          <a:p>
            <a:pPr marL="285750" indent="-285750" algn="just"/>
            <a:endParaRPr lang="en-US" dirty="0"/>
          </a:p>
          <a:p>
            <a:pPr marL="285750" indent="-285750" algn="just"/>
            <a:r>
              <a:rPr lang="en-US" dirty="0"/>
              <a:t>Parametric CDFs are useful when you have prior knowledge or assumptions about the distribution, but the ECDF is more flexible when such assumptions cannot be made.</a:t>
            </a:r>
          </a:p>
        </p:txBody>
      </p:sp>
    </p:spTree>
    <p:extLst>
      <p:ext uri="{BB962C8B-B14F-4D97-AF65-F5344CB8AC3E}">
        <p14:creationId xmlns:p14="http://schemas.microsoft.com/office/powerpoint/2010/main" val="2832304678"/>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The Survival Function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285750" indent="-285750" algn="just"/>
            <a:r>
              <a:rPr lang="en-US" dirty="0"/>
              <a:t>The </a:t>
            </a:r>
            <a:r>
              <a:rPr lang="en-US" b="1" dirty="0"/>
              <a:t>Survival Function</a:t>
            </a:r>
            <a:r>
              <a:rPr lang="en-US" dirty="0"/>
              <a:t> is a fundamental concept in survival analysis, a branch of statistics that deals with the analysis of time-to-event data. The survival function represents the probability that an individual or object will survive beyond a certain time. It is commonly used in medical research, reliability engineering, and other fields where time until an event (e.g., death, failure) is of interest.</a:t>
            </a:r>
          </a:p>
        </p:txBody>
      </p:sp>
    </p:spTree>
    <p:extLst>
      <p:ext uri="{BB962C8B-B14F-4D97-AF65-F5344CB8AC3E}">
        <p14:creationId xmlns:p14="http://schemas.microsoft.com/office/powerpoint/2010/main" val="4059957968"/>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The Survival Function</a:t>
            </a:r>
            <a:endParaRPr lang="en-IN" b="1" dirty="0"/>
          </a:p>
        </p:txBody>
      </p:sp>
      <p:pic>
        <p:nvPicPr>
          <p:cNvPr id="7" name="Picture 6">
            <a:extLst>
              <a:ext uri="{FF2B5EF4-FFF2-40B4-BE49-F238E27FC236}">
                <a16:creationId xmlns:a16="http://schemas.microsoft.com/office/drawing/2014/main" id="{FC0BE13B-FC75-7E4C-721D-DF6430ECA68B}"/>
              </a:ext>
            </a:extLst>
          </p:cNvPr>
          <p:cNvPicPr>
            <a:picLocks noChangeAspect="1"/>
          </p:cNvPicPr>
          <p:nvPr/>
        </p:nvPicPr>
        <p:blipFill>
          <a:blip r:embed="rId3"/>
          <a:stretch>
            <a:fillRect/>
          </a:stretch>
        </p:blipFill>
        <p:spPr>
          <a:xfrm>
            <a:off x="112948" y="1690688"/>
            <a:ext cx="11966103" cy="4802187"/>
          </a:xfrm>
          <a:prstGeom prst="rect">
            <a:avLst/>
          </a:prstGeom>
        </p:spPr>
      </p:pic>
    </p:spTree>
    <p:extLst>
      <p:ext uri="{BB962C8B-B14F-4D97-AF65-F5344CB8AC3E}">
        <p14:creationId xmlns:p14="http://schemas.microsoft.com/office/powerpoint/2010/main" val="3302277505"/>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normAutofit fontScale="90000"/>
          </a:bodyPr>
          <a:lstStyle/>
          <a:p>
            <a:r>
              <a:rPr lang="en-US" dirty="0"/>
              <a:t>Relationship Between the Survival Function and the Cumulative Distribution Function (CDF)</a:t>
            </a:r>
            <a:endParaRPr lang="en-IN" b="1" dirty="0"/>
          </a:p>
        </p:txBody>
      </p:sp>
      <p:pic>
        <p:nvPicPr>
          <p:cNvPr id="7" name="Picture 6">
            <a:extLst>
              <a:ext uri="{FF2B5EF4-FFF2-40B4-BE49-F238E27FC236}">
                <a16:creationId xmlns:a16="http://schemas.microsoft.com/office/drawing/2014/main" id="{FC0BE13B-FC75-7E4C-721D-DF6430ECA6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3946" y="1690688"/>
            <a:ext cx="11464106" cy="4802187"/>
          </a:xfrm>
          <a:prstGeom prst="rect">
            <a:avLst/>
          </a:prstGeom>
        </p:spPr>
      </p:pic>
    </p:spTree>
    <p:extLst>
      <p:ext uri="{BB962C8B-B14F-4D97-AF65-F5344CB8AC3E}">
        <p14:creationId xmlns:p14="http://schemas.microsoft.com/office/powerpoint/2010/main" val="426522364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normAutofit/>
          </a:bodyPr>
          <a:lstStyle/>
          <a:p>
            <a:r>
              <a:rPr lang="en-US" dirty="0"/>
              <a:t>Properties of the Survival Function</a:t>
            </a:r>
            <a:endParaRPr lang="en-IN" b="1" dirty="0"/>
          </a:p>
        </p:txBody>
      </p:sp>
      <p:pic>
        <p:nvPicPr>
          <p:cNvPr id="7" name="Picture 6">
            <a:extLst>
              <a:ext uri="{FF2B5EF4-FFF2-40B4-BE49-F238E27FC236}">
                <a16:creationId xmlns:a16="http://schemas.microsoft.com/office/drawing/2014/main" id="{FC0BE13B-FC75-7E4C-721D-DF6430ECA6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36903" y="1690688"/>
            <a:ext cx="9118194" cy="5167312"/>
          </a:xfrm>
          <a:prstGeom prst="rect">
            <a:avLst/>
          </a:prstGeom>
        </p:spPr>
      </p:pic>
    </p:spTree>
    <p:extLst>
      <p:ext uri="{BB962C8B-B14F-4D97-AF65-F5344CB8AC3E}">
        <p14:creationId xmlns:p14="http://schemas.microsoft.com/office/powerpoint/2010/main" val="421689383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Density Curves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285750" indent="-285750" algn="just"/>
            <a:r>
              <a:rPr lang="en-US" dirty="0"/>
              <a:t>A </a:t>
            </a:r>
            <a:r>
              <a:rPr lang="en-US" b="1" dirty="0"/>
              <a:t>density curve</a:t>
            </a:r>
            <a:r>
              <a:rPr lang="en-US" dirty="0"/>
              <a:t> is a graphical representation of the distribution of a continuous random variable. It shows the overall pattern of the data by illustrating how the values are distributed across the range of possible values. The area under a density curve represents probabilities, and for a probability distribution, the total area under the curve is always equal to 1. Density curves are widely used in statistics to visualize distributions and understand their characteristics.</a:t>
            </a:r>
          </a:p>
        </p:txBody>
      </p:sp>
    </p:spTree>
    <p:extLst>
      <p:ext uri="{BB962C8B-B14F-4D97-AF65-F5344CB8AC3E}">
        <p14:creationId xmlns:p14="http://schemas.microsoft.com/office/powerpoint/2010/main" val="772305020"/>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Density Curves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Properties of Density Curves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Non-negative</a:t>
            </a:r>
            <a:r>
              <a:rPr kumimoji="0" lang="en-US" altLang="en-US" b="0" i="0" u="none" strike="noStrike" cap="none" normalizeH="0" baseline="0" dirty="0">
                <a:ln>
                  <a:noFill/>
                </a:ln>
                <a:solidFill>
                  <a:schemeClr val="tx1"/>
                </a:solidFill>
                <a:effectLst/>
                <a:latin typeface="Arial" panose="020B0604020202020204" pitchFamily="34" charset="0"/>
              </a:rPr>
              <a:t>: The curve cannot dip below the x-axis; it must always be at or above 0.</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Total Area = 1</a:t>
            </a:r>
            <a:r>
              <a:rPr kumimoji="0" lang="en-US" altLang="en-US" b="0" i="0" u="none" strike="noStrike" cap="none" normalizeH="0" baseline="0" dirty="0">
                <a:ln>
                  <a:noFill/>
                </a:ln>
                <a:solidFill>
                  <a:schemeClr val="tx1"/>
                </a:solidFill>
                <a:effectLst/>
                <a:latin typeface="Arial" panose="020B0604020202020204" pitchFamily="34" charset="0"/>
              </a:rPr>
              <a:t>: The total area under the curve is always equal to 1, representing the fact that the total probability for all possible outcomes of a random variable is 100%.</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Arial" panose="020B0604020202020204" pitchFamily="34" charset="0"/>
              </a:rPr>
              <a:t>Interpretation</a:t>
            </a:r>
            <a:r>
              <a:rPr kumimoji="0" lang="en-US" altLang="en-US"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 height of the density curve at a given point represents the likelihood of the random variable taking values near that point. Higher regions of the curve correspond to values that are more likely.</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Probabilities are calculated by finding the area under the curve between two points.</a:t>
            </a:r>
          </a:p>
        </p:txBody>
      </p:sp>
    </p:spTree>
    <p:extLst>
      <p:ext uri="{BB962C8B-B14F-4D97-AF65-F5344CB8AC3E}">
        <p14:creationId xmlns:p14="http://schemas.microsoft.com/office/powerpoint/2010/main" val="207527787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Probability Density Function (PDF)</a:t>
            </a:r>
            <a:endParaRPr lang="en-IN" b="1" dirty="0"/>
          </a:p>
        </p:txBody>
      </p:sp>
      <p:pic>
        <p:nvPicPr>
          <p:cNvPr id="7" name="Picture 6">
            <a:extLst>
              <a:ext uri="{FF2B5EF4-FFF2-40B4-BE49-F238E27FC236}">
                <a16:creationId xmlns:a16="http://schemas.microsoft.com/office/drawing/2014/main" id="{C9C21494-FCE1-F31C-7736-CF9C474533F3}"/>
              </a:ext>
            </a:extLst>
          </p:cNvPr>
          <p:cNvPicPr>
            <a:picLocks noChangeAspect="1"/>
          </p:cNvPicPr>
          <p:nvPr/>
        </p:nvPicPr>
        <p:blipFill>
          <a:blip r:embed="rId3"/>
          <a:stretch>
            <a:fillRect/>
          </a:stretch>
        </p:blipFill>
        <p:spPr>
          <a:xfrm>
            <a:off x="194485" y="2106686"/>
            <a:ext cx="11803029" cy="3394677"/>
          </a:xfrm>
          <a:prstGeom prst="rect">
            <a:avLst/>
          </a:prstGeom>
        </p:spPr>
      </p:pic>
    </p:spTree>
    <p:extLst>
      <p:ext uri="{BB962C8B-B14F-4D97-AF65-F5344CB8AC3E}">
        <p14:creationId xmlns:p14="http://schemas.microsoft.com/office/powerpoint/2010/main" val="331057229"/>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Common Density Curves</a:t>
            </a:r>
            <a:endParaRPr lang="en-IN" b="1" dirty="0"/>
          </a:p>
        </p:txBody>
      </p:sp>
      <p:pic>
        <p:nvPicPr>
          <p:cNvPr id="7" name="Picture 6">
            <a:extLst>
              <a:ext uri="{FF2B5EF4-FFF2-40B4-BE49-F238E27FC236}">
                <a16:creationId xmlns:a16="http://schemas.microsoft.com/office/drawing/2014/main" id="{C9C21494-FCE1-F31C-7736-CF9C474533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7460" y="1690688"/>
            <a:ext cx="11857080" cy="4277639"/>
          </a:xfrm>
          <a:prstGeom prst="rect">
            <a:avLst/>
          </a:prstGeom>
        </p:spPr>
      </p:pic>
    </p:spTree>
    <p:extLst>
      <p:ext uri="{BB962C8B-B14F-4D97-AF65-F5344CB8AC3E}">
        <p14:creationId xmlns:p14="http://schemas.microsoft.com/office/powerpoint/2010/main" val="3263860548"/>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Common Density Curves</a:t>
            </a:r>
            <a:endParaRPr lang="en-IN" b="1" dirty="0"/>
          </a:p>
        </p:txBody>
      </p:sp>
      <p:pic>
        <p:nvPicPr>
          <p:cNvPr id="7" name="Picture 6">
            <a:extLst>
              <a:ext uri="{FF2B5EF4-FFF2-40B4-BE49-F238E27FC236}">
                <a16:creationId xmlns:a16="http://schemas.microsoft.com/office/drawing/2014/main" id="{C9C21494-FCE1-F31C-7736-CF9C474533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35537" y="1690688"/>
            <a:ext cx="11520926" cy="4277639"/>
          </a:xfrm>
          <a:prstGeom prst="rect">
            <a:avLst/>
          </a:prstGeom>
        </p:spPr>
      </p:pic>
    </p:spTree>
    <p:extLst>
      <p:ext uri="{BB962C8B-B14F-4D97-AF65-F5344CB8AC3E}">
        <p14:creationId xmlns:p14="http://schemas.microsoft.com/office/powerpoint/2010/main" val="157650842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Common Density Curves</a:t>
            </a:r>
            <a:endParaRPr lang="en-IN" b="1" dirty="0"/>
          </a:p>
        </p:txBody>
      </p:sp>
      <p:pic>
        <p:nvPicPr>
          <p:cNvPr id="7" name="Picture 6">
            <a:extLst>
              <a:ext uri="{FF2B5EF4-FFF2-40B4-BE49-F238E27FC236}">
                <a16:creationId xmlns:a16="http://schemas.microsoft.com/office/drawing/2014/main" id="{C9C21494-FCE1-F31C-7736-CF9C474533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35537" y="1922416"/>
            <a:ext cx="11520926" cy="3814183"/>
          </a:xfrm>
          <a:prstGeom prst="rect">
            <a:avLst/>
          </a:prstGeom>
        </p:spPr>
      </p:pic>
    </p:spTree>
    <p:extLst>
      <p:ext uri="{BB962C8B-B14F-4D97-AF65-F5344CB8AC3E}">
        <p14:creationId xmlns:p14="http://schemas.microsoft.com/office/powerpoint/2010/main" val="322731971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Histograms vs. Density Curves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a:t>
            </a:r>
            <a:r>
              <a:rPr kumimoji="0" lang="en-US" altLang="en-US" sz="2800" b="1" i="0" u="none" strike="noStrike" cap="none" normalizeH="0" baseline="0" dirty="0">
                <a:ln>
                  <a:noFill/>
                </a:ln>
                <a:solidFill>
                  <a:schemeClr val="tx1"/>
                </a:solidFill>
                <a:effectLst/>
                <a:latin typeface="Arial" panose="020B0604020202020204" pitchFamily="34" charset="0"/>
              </a:rPr>
              <a:t>histogram</a:t>
            </a:r>
            <a:r>
              <a:rPr kumimoji="0" lang="en-US" altLang="en-US" sz="2800" b="0" i="0" u="none" strike="noStrike" cap="none" normalizeH="0" baseline="0" dirty="0">
                <a:ln>
                  <a:noFill/>
                </a:ln>
                <a:solidFill>
                  <a:schemeClr val="tx1"/>
                </a:solidFill>
                <a:effectLst/>
                <a:latin typeface="Arial" panose="020B0604020202020204" pitchFamily="34" charset="0"/>
              </a:rPr>
              <a:t> is an approximation of a density curve. It divides the data into bins and shows the frequency or proportion of observations in each bin.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a:t>
            </a:r>
            <a:r>
              <a:rPr kumimoji="0" lang="en-US" altLang="en-US" sz="2800" b="1" i="0" u="none" strike="noStrike" cap="none" normalizeH="0" baseline="0" dirty="0">
                <a:ln>
                  <a:noFill/>
                </a:ln>
                <a:solidFill>
                  <a:schemeClr val="tx1"/>
                </a:solidFill>
                <a:effectLst/>
                <a:latin typeface="Arial" panose="020B0604020202020204" pitchFamily="34" charset="0"/>
              </a:rPr>
              <a:t>density curve</a:t>
            </a:r>
            <a:r>
              <a:rPr kumimoji="0" lang="en-US" altLang="en-US" sz="2800" b="0" i="0" u="none" strike="noStrike" cap="none" normalizeH="0" baseline="0" dirty="0">
                <a:ln>
                  <a:noFill/>
                </a:ln>
                <a:solidFill>
                  <a:schemeClr val="tx1"/>
                </a:solidFill>
                <a:effectLst/>
                <a:latin typeface="Arial" panose="020B0604020202020204" pitchFamily="34" charset="0"/>
              </a:rPr>
              <a:t> is a smooth representation of the data's distribution, which can be overlaid on a histogram to provide a clearer view of the data's overall pattern.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common method for estimating the density curve from data is </a:t>
            </a:r>
            <a:r>
              <a:rPr kumimoji="0" lang="en-US" altLang="en-US" sz="2800" b="1" i="0" u="none" strike="noStrike" cap="none" normalizeH="0" baseline="0" dirty="0">
                <a:ln>
                  <a:noFill/>
                </a:ln>
                <a:solidFill>
                  <a:schemeClr val="tx1"/>
                </a:solidFill>
                <a:effectLst/>
                <a:latin typeface="Arial" panose="020B0604020202020204" pitchFamily="34" charset="0"/>
              </a:rPr>
              <a:t>kernel density estimation (KDE)</a:t>
            </a:r>
            <a:r>
              <a:rPr kumimoji="0" lang="en-US" altLang="en-US" sz="2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127105988"/>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b="1" dirty="0"/>
              <a:t>Kernel Density Estimation (KDE)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KDE is a non-parametric method for estimating the probability density function of a random variable based on a finite sample.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KDE smooths out the data points and creates a continuous curve that represents the distribution.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a:t>
            </a:r>
            <a:r>
              <a:rPr kumimoji="0" lang="en-US" altLang="en-US" sz="2800" b="1" i="0" u="none" strike="noStrike" cap="none" normalizeH="0" baseline="0" dirty="0">
                <a:ln>
                  <a:noFill/>
                </a:ln>
                <a:solidFill>
                  <a:schemeClr val="tx1"/>
                </a:solidFill>
                <a:effectLst/>
                <a:latin typeface="Arial" panose="020B0604020202020204" pitchFamily="34" charset="0"/>
              </a:rPr>
              <a:t>bandwidth</a:t>
            </a:r>
            <a:r>
              <a:rPr kumimoji="0" lang="en-US" altLang="en-US" sz="2800" b="0" i="0" u="none" strike="noStrike" cap="none" normalizeH="0" baseline="0" dirty="0">
                <a:ln>
                  <a:noFill/>
                </a:ln>
                <a:solidFill>
                  <a:schemeClr val="tx1"/>
                </a:solidFill>
                <a:effectLst/>
                <a:latin typeface="Arial" panose="020B0604020202020204" pitchFamily="34" charset="0"/>
              </a:rPr>
              <a:t> of the KDE controls the smoothness of the resulting curve; a smaller bandwidth results in a more detailed, but less smooth, curve. </a:t>
            </a:r>
          </a:p>
        </p:txBody>
      </p:sp>
    </p:spTree>
    <p:extLst>
      <p:ext uri="{BB962C8B-B14F-4D97-AF65-F5344CB8AC3E}">
        <p14:creationId xmlns:p14="http://schemas.microsoft.com/office/powerpoint/2010/main" val="3123901215"/>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Stem-and-Leaf Plots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t>A </a:t>
            </a:r>
            <a:r>
              <a:rPr lang="en-US" b="1" dirty="0"/>
              <a:t>stem-and-leaf plot</a:t>
            </a:r>
            <a:r>
              <a:rPr lang="en-US" dirty="0"/>
              <a:t> is a graphical method used to display quantitative data. It is similar to a histogram but retains the original data values, which allows for a more detailed and precise visualization. Stem-and-leaf plots are particularly useful for small to moderately sized datasets and are often used in exploratory data analysis to quickly assess the distribution, central tendency, and spread of the data.</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021064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Stem-and-Leaf Plots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dirty="0"/>
              <a:t>A stem-and-leaf plot breaks each data point into two parts:</a:t>
            </a:r>
          </a:p>
          <a:p>
            <a:pPr algn="just">
              <a:buFont typeface="+mj-lt"/>
              <a:buAutoNum type="arabicPeriod"/>
            </a:pPr>
            <a:r>
              <a:rPr lang="en-US" b="1" dirty="0"/>
              <a:t>Stem</a:t>
            </a:r>
            <a:r>
              <a:rPr lang="en-US" dirty="0"/>
              <a:t>: The leading digit(s) of the data point (representing the tens, hundreds, etc.).</a:t>
            </a:r>
          </a:p>
          <a:p>
            <a:pPr algn="just">
              <a:buFont typeface="+mj-lt"/>
              <a:buAutoNum type="arabicPeriod"/>
            </a:pPr>
            <a:r>
              <a:rPr lang="en-US" b="1" dirty="0"/>
              <a:t>Leaf</a:t>
            </a:r>
            <a:r>
              <a:rPr lang="en-US" dirty="0"/>
              <a:t>: The last digit (usually representing the ones or tenths place, depending on the scale).</a:t>
            </a:r>
          </a:p>
        </p:txBody>
      </p:sp>
    </p:spTree>
    <p:extLst>
      <p:ext uri="{BB962C8B-B14F-4D97-AF65-F5344CB8AC3E}">
        <p14:creationId xmlns:p14="http://schemas.microsoft.com/office/powerpoint/2010/main" val="1670709287"/>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How to Create a Stem-and-Leaf Plot</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0000" lnSpcReduction="20000"/>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Sort the Data</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Arrange the data points in ascending order.</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Determine Stems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Divide each data point into a stem and a leaf.</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 stem represents the leading digits, and the leaf represents the last digit.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If necessary, you can adjust the scale of the stems (e.g., group tens, hundreds, or fractional digits).</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List Stems Vertically</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List the unique stem values in ascending order in a column.</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Add Leaves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For each stem, write the corresponding leaf values horizontally next to the stem.</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 leaves should be listed in ascending order to make the plot easier to interpret.</a:t>
            </a:r>
          </a:p>
          <a:p>
            <a:pPr marL="457200" lvl="1" indent="0" algn="just" eaLnBrk="0" fontAlgn="base" hangingPunct="0">
              <a:lnSpc>
                <a:spcPct val="100000"/>
              </a:lnSpc>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Title and Key</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Provide a title or label for the plot and include a </a:t>
            </a:r>
            <a:r>
              <a:rPr kumimoji="0" lang="en-US" altLang="en-US" sz="2800" b="1" i="0" u="none" strike="noStrike" cap="none" normalizeH="0" baseline="0" dirty="0">
                <a:ln>
                  <a:noFill/>
                </a:ln>
                <a:solidFill>
                  <a:schemeClr val="tx1"/>
                </a:solidFill>
                <a:effectLst/>
                <a:latin typeface="Arial" panose="020B0604020202020204" pitchFamily="34" charset="0"/>
              </a:rPr>
              <a:t>key</a:t>
            </a:r>
            <a:r>
              <a:rPr kumimoji="0" lang="en-US" altLang="en-US" sz="2800" b="0" i="0" u="none" strike="noStrike" cap="none" normalizeH="0" baseline="0" dirty="0">
                <a:ln>
                  <a:noFill/>
                </a:ln>
                <a:solidFill>
                  <a:schemeClr val="tx1"/>
                </a:solidFill>
                <a:effectLst/>
                <a:latin typeface="Arial" panose="020B0604020202020204" pitchFamily="34" charset="0"/>
              </a:rPr>
              <a:t> to clarify how the stems and leaves are interpreted (e.g., “Stem 4 | 7 means 47”).</a:t>
            </a:r>
          </a:p>
        </p:txBody>
      </p:sp>
    </p:spTree>
    <p:extLst>
      <p:ext uri="{BB962C8B-B14F-4D97-AF65-F5344CB8AC3E}">
        <p14:creationId xmlns:p14="http://schemas.microsoft.com/office/powerpoint/2010/main" val="243707915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Stem-and-Leaf Plots</a:t>
            </a:r>
            <a:endParaRPr lang="en-IN" b="1" dirty="0"/>
          </a:p>
        </p:txBody>
      </p:sp>
      <p:sp>
        <p:nvSpPr>
          <p:cNvPr id="6" name="AutoShape 2" descr="Stem and Leaf Plots">
            <a:extLst>
              <a:ext uri="{FF2B5EF4-FFF2-40B4-BE49-F238E27FC236}">
                <a16:creationId xmlns:a16="http://schemas.microsoft.com/office/drawing/2014/main" id="{E1FADB27-0ECA-AA6D-EEC3-684E59045156}"/>
              </a:ext>
            </a:extLst>
          </p:cNvPr>
          <p:cNvSpPr>
            <a:spLocks noChangeAspect="1" noChangeArrowheads="1"/>
          </p:cNvSpPr>
          <p:nvPr/>
        </p:nvSpPr>
        <p:spPr bwMode="auto">
          <a:xfrm>
            <a:off x="5943599" y="3276599"/>
            <a:ext cx="3735859" cy="37358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4" name="Picture 4">
            <a:extLst>
              <a:ext uri="{FF2B5EF4-FFF2-40B4-BE49-F238E27FC236}">
                <a16:creationId xmlns:a16="http://schemas.microsoft.com/office/drawing/2014/main" id="{AE5B7FDD-99E3-F07F-35B1-FCA27CC97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043" y="1351004"/>
            <a:ext cx="7339914" cy="5504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56536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Stem-and-Leaf Plots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algn="just"/>
            <a:r>
              <a:rPr lang="en-US" b="1" dirty="0"/>
              <a:t>Advantages:</a:t>
            </a:r>
          </a:p>
          <a:p>
            <a:pPr algn="just">
              <a:buFont typeface="+mj-lt"/>
              <a:buAutoNum type="arabicPeriod"/>
            </a:pPr>
            <a:r>
              <a:rPr lang="en-US" b="1" dirty="0"/>
              <a:t>Retains Original Data</a:t>
            </a:r>
            <a:r>
              <a:rPr lang="en-US" dirty="0"/>
              <a:t>:</a:t>
            </a:r>
          </a:p>
          <a:p>
            <a:pPr marL="742950" lvl="1" indent="-285750" algn="just">
              <a:buFont typeface="+mj-lt"/>
              <a:buAutoNum type="arabicPeriod"/>
            </a:pPr>
            <a:r>
              <a:rPr lang="en-US" dirty="0"/>
              <a:t>Unlike histograms or bar charts, stem-and-leaf plots preserve the actual data values, making it easy to see individual points.</a:t>
            </a:r>
          </a:p>
          <a:p>
            <a:pPr algn="just">
              <a:buFont typeface="+mj-lt"/>
              <a:buAutoNum type="arabicPeriod"/>
            </a:pPr>
            <a:r>
              <a:rPr lang="en-US" b="1" dirty="0"/>
              <a:t>Quick Visualization</a:t>
            </a:r>
            <a:r>
              <a:rPr lang="en-US" dirty="0"/>
              <a:t>:</a:t>
            </a:r>
          </a:p>
          <a:p>
            <a:pPr marL="742950" lvl="1" indent="-285750" algn="just">
              <a:buFont typeface="+mj-lt"/>
              <a:buAutoNum type="arabicPeriod"/>
            </a:pPr>
            <a:r>
              <a:rPr lang="en-US" dirty="0"/>
              <a:t>Stem-and-leaf plots are useful for quickly visualizing the distribution, central tendency, and variability of the data.</a:t>
            </a:r>
          </a:p>
          <a:p>
            <a:pPr algn="just">
              <a:buFont typeface="+mj-lt"/>
              <a:buAutoNum type="arabicPeriod"/>
            </a:pPr>
            <a:r>
              <a:rPr lang="en-US" b="1" dirty="0"/>
              <a:t>Useful for Small Data Sets</a:t>
            </a:r>
            <a:r>
              <a:rPr lang="en-US" dirty="0"/>
              <a:t>:</a:t>
            </a:r>
          </a:p>
          <a:p>
            <a:pPr marL="742950" lvl="1" indent="-285750" algn="just">
              <a:buFont typeface="+mj-lt"/>
              <a:buAutoNum type="arabicPeriod"/>
            </a:pPr>
            <a:r>
              <a:rPr lang="en-US" dirty="0"/>
              <a:t>Stem-and-leaf plots work best for small to moderately sized datasets (usually fewer than 100 points).</a:t>
            </a:r>
          </a:p>
          <a:p>
            <a:pPr algn="just">
              <a:buFont typeface="+mj-lt"/>
              <a:buAutoNum type="arabicPeriod"/>
            </a:pPr>
            <a:r>
              <a:rPr lang="en-US" b="1" dirty="0"/>
              <a:t>Shows Data Shape and Distribution</a:t>
            </a:r>
            <a:r>
              <a:rPr lang="en-US" dirty="0"/>
              <a:t>:</a:t>
            </a:r>
          </a:p>
          <a:p>
            <a:pPr marL="742950" lvl="1" indent="-285750" algn="just">
              <a:buFont typeface="+mj-lt"/>
              <a:buAutoNum type="arabicPeriod"/>
            </a:pPr>
            <a:r>
              <a:rPr lang="en-US" dirty="0"/>
              <a:t>Provides a clear view of the shape of the data distribution, including any clustering of values, gaps, or outliers.</a:t>
            </a:r>
          </a:p>
        </p:txBody>
      </p:sp>
    </p:spTree>
    <p:extLst>
      <p:ext uri="{BB962C8B-B14F-4D97-AF65-F5344CB8AC3E}">
        <p14:creationId xmlns:p14="http://schemas.microsoft.com/office/powerpoint/2010/main" val="312153441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Stem-and-Leaf Plots</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algn="just"/>
            <a:r>
              <a:rPr lang="en-US" b="1" dirty="0"/>
              <a:t>Disadvantages:</a:t>
            </a:r>
          </a:p>
          <a:p>
            <a:pPr algn="just">
              <a:buFont typeface="+mj-lt"/>
              <a:buAutoNum type="arabicPeriod"/>
            </a:pPr>
            <a:r>
              <a:rPr lang="en-US" b="1" dirty="0"/>
              <a:t>Limited Use for Large Data Sets</a:t>
            </a:r>
            <a:r>
              <a:rPr lang="en-US" dirty="0"/>
              <a:t>:</a:t>
            </a:r>
          </a:p>
          <a:p>
            <a:pPr marL="742950" lvl="1" indent="-285750" algn="just">
              <a:buFont typeface="+mj-lt"/>
              <a:buAutoNum type="arabicPeriod"/>
            </a:pPr>
            <a:r>
              <a:rPr lang="en-US" dirty="0"/>
              <a:t>For large datasets, stem-and-leaf plots can become cluttered and difficult to interpret. They are less useful when the number of data points exceeds 100.</a:t>
            </a:r>
          </a:p>
          <a:p>
            <a:pPr algn="just">
              <a:buFont typeface="+mj-lt"/>
              <a:buAutoNum type="arabicPeriod"/>
            </a:pPr>
            <a:r>
              <a:rPr lang="en-US" b="1" dirty="0"/>
              <a:t>Not Effective for Continuous Data</a:t>
            </a:r>
            <a:r>
              <a:rPr lang="en-US" dirty="0"/>
              <a:t>:</a:t>
            </a:r>
          </a:p>
          <a:p>
            <a:pPr marL="742950" lvl="1" indent="-285750" algn="just">
              <a:buFont typeface="+mj-lt"/>
              <a:buAutoNum type="arabicPeriod"/>
            </a:pPr>
            <a:r>
              <a:rPr lang="en-US" dirty="0"/>
              <a:t>For very precise or continuous data, stem-and-leaf plots can lose clarity, especially if decimal places are involved.</a:t>
            </a:r>
          </a:p>
          <a:p>
            <a:pPr algn="just">
              <a:buFont typeface="+mj-lt"/>
              <a:buAutoNum type="arabicPeriod"/>
            </a:pPr>
            <a:r>
              <a:rPr lang="en-US" b="1" dirty="0"/>
              <a:t>Choice of Stems and Leaves Can Affect Interpretation</a:t>
            </a:r>
            <a:r>
              <a:rPr lang="en-US" dirty="0"/>
              <a:t>:</a:t>
            </a:r>
          </a:p>
          <a:p>
            <a:pPr marL="742950" lvl="1" indent="-285750" algn="just">
              <a:buFont typeface="+mj-lt"/>
              <a:buAutoNum type="arabicPeriod"/>
            </a:pPr>
            <a:r>
              <a:rPr lang="en-US" dirty="0"/>
              <a:t>The choice of how to break the data into stems and leaves can influence the interpretation of the data. Poor choices in stem selection can make the plot misleading.</a:t>
            </a:r>
          </a:p>
        </p:txBody>
      </p:sp>
    </p:spTree>
    <p:extLst>
      <p:ext uri="{BB962C8B-B14F-4D97-AF65-F5344CB8AC3E}">
        <p14:creationId xmlns:p14="http://schemas.microsoft.com/office/powerpoint/2010/main" val="4032289035"/>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Measures of Location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b="1" dirty="0"/>
              <a:t>Measures of location</a:t>
            </a:r>
            <a:r>
              <a:rPr lang="en-US" dirty="0"/>
              <a:t> (also known as measures of central tendency) are statistical metrics used to describe the central point or typical value within a dataset. They provide a way to summarize a set of data with a single value that represents the "center" or "location" of the data. These measures help us understand where the data is concentrated, and they play a key role in data analysis and interpretation.</a:t>
            </a:r>
          </a:p>
        </p:txBody>
      </p:sp>
    </p:spTree>
    <p:extLst>
      <p:ext uri="{BB962C8B-B14F-4D97-AF65-F5344CB8AC3E}">
        <p14:creationId xmlns:p14="http://schemas.microsoft.com/office/powerpoint/2010/main" val="2398470946"/>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Key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stretch>
            <a:fillRect/>
          </a:stretch>
        </p:blipFill>
        <p:spPr>
          <a:xfrm>
            <a:off x="1175849" y="1690688"/>
            <a:ext cx="9840302" cy="4455764"/>
          </a:xfrm>
          <a:prstGeom prst="rect">
            <a:avLst/>
          </a:prstGeom>
        </p:spPr>
      </p:pic>
    </p:spTree>
    <p:extLst>
      <p:ext uri="{BB962C8B-B14F-4D97-AF65-F5344CB8AC3E}">
        <p14:creationId xmlns:p14="http://schemas.microsoft.com/office/powerpoint/2010/main" val="2451073418"/>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Key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42" y="1690688"/>
            <a:ext cx="11308916" cy="4092870"/>
          </a:xfrm>
          <a:prstGeom prst="rect">
            <a:avLst/>
          </a:prstGeom>
        </p:spPr>
      </p:pic>
    </p:spTree>
    <p:extLst>
      <p:ext uri="{BB962C8B-B14F-4D97-AF65-F5344CB8AC3E}">
        <p14:creationId xmlns:p14="http://schemas.microsoft.com/office/powerpoint/2010/main" val="3883055315"/>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Key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1542" y="2000872"/>
            <a:ext cx="11308916" cy="3472502"/>
          </a:xfrm>
          <a:prstGeom prst="rect">
            <a:avLst/>
          </a:prstGeom>
        </p:spPr>
      </p:pic>
    </p:spTree>
    <p:extLst>
      <p:ext uri="{BB962C8B-B14F-4D97-AF65-F5344CB8AC3E}">
        <p14:creationId xmlns:p14="http://schemas.microsoft.com/office/powerpoint/2010/main" val="2241434130"/>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Additional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8149" y="1499286"/>
            <a:ext cx="11375701" cy="4993589"/>
          </a:xfrm>
          <a:prstGeom prst="rect">
            <a:avLst/>
          </a:prstGeom>
        </p:spPr>
      </p:pic>
    </p:spTree>
    <p:extLst>
      <p:ext uri="{BB962C8B-B14F-4D97-AF65-F5344CB8AC3E}">
        <p14:creationId xmlns:p14="http://schemas.microsoft.com/office/powerpoint/2010/main" val="41861508"/>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Additional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8149" y="1713456"/>
            <a:ext cx="11375701" cy="4565248"/>
          </a:xfrm>
          <a:prstGeom prst="rect">
            <a:avLst/>
          </a:prstGeom>
        </p:spPr>
      </p:pic>
    </p:spTree>
    <p:extLst>
      <p:ext uri="{BB962C8B-B14F-4D97-AF65-F5344CB8AC3E}">
        <p14:creationId xmlns:p14="http://schemas.microsoft.com/office/powerpoint/2010/main" val="824149866"/>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Additional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19361" y="1493696"/>
            <a:ext cx="9753278" cy="5364304"/>
          </a:xfrm>
          <a:prstGeom prst="rect">
            <a:avLst/>
          </a:prstGeom>
        </p:spPr>
      </p:pic>
    </p:spTree>
    <p:extLst>
      <p:ext uri="{BB962C8B-B14F-4D97-AF65-F5344CB8AC3E}">
        <p14:creationId xmlns:p14="http://schemas.microsoft.com/office/powerpoint/2010/main" val="3126682734"/>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Additional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19361" y="1493696"/>
            <a:ext cx="9753278" cy="5364304"/>
          </a:xfrm>
          <a:prstGeom prst="rect">
            <a:avLst/>
          </a:prstGeom>
        </p:spPr>
      </p:pic>
    </p:spTree>
    <p:extLst>
      <p:ext uri="{BB962C8B-B14F-4D97-AF65-F5344CB8AC3E}">
        <p14:creationId xmlns:p14="http://schemas.microsoft.com/office/powerpoint/2010/main" val="3665405260"/>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Additional Measures of Location</a:t>
            </a:r>
            <a:endParaRPr lang="en-IN"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19361" y="1608618"/>
            <a:ext cx="9753278" cy="5134459"/>
          </a:xfrm>
          <a:prstGeom prst="rect">
            <a:avLst/>
          </a:prstGeom>
        </p:spPr>
      </p:pic>
    </p:spTree>
    <p:extLst>
      <p:ext uri="{BB962C8B-B14F-4D97-AF65-F5344CB8AC3E}">
        <p14:creationId xmlns:p14="http://schemas.microsoft.com/office/powerpoint/2010/main" val="366834103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Comparison of Measures of Location</a:t>
            </a:r>
            <a:endParaRPr lang="en-IN"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buFont typeface="+mj-lt"/>
              <a:buAutoNum type="arabicPeriod"/>
            </a:pPr>
            <a:r>
              <a:rPr lang="en-US" b="1" dirty="0"/>
              <a:t>Mean vs. Median</a:t>
            </a:r>
            <a:r>
              <a:rPr lang="en-US" dirty="0"/>
              <a:t>:</a:t>
            </a:r>
          </a:p>
          <a:p>
            <a:pPr marL="742950" lvl="1" indent="-285750" algn="just">
              <a:buFont typeface="+mj-lt"/>
              <a:buAutoNum type="arabicPeriod"/>
            </a:pPr>
            <a:r>
              <a:rPr lang="en-US" dirty="0"/>
              <a:t>The </a:t>
            </a:r>
            <a:r>
              <a:rPr lang="en-US" b="1" dirty="0"/>
              <a:t>mean</a:t>
            </a:r>
            <a:r>
              <a:rPr lang="en-US" dirty="0"/>
              <a:t> is affected by extreme values (outliers), while the </a:t>
            </a:r>
            <a:r>
              <a:rPr lang="en-US" b="1" dirty="0"/>
              <a:t>median</a:t>
            </a:r>
            <a:r>
              <a:rPr lang="en-US" dirty="0"/>
              <a:t> is not. This makes the </a:t>
            </a:r>
            <a:r>
              <a:rPr lang="en-US" b="1" dirty="0"/>
              <a:t>median</a:t>
            </a:r>
            <a:r>
              <a:rPr lang="en-US" dirty="0"/>
              <a:t> a better measure for skewed data.</a:t>
            </a:r>
          </a:p>
          <a:p>
            <a:pPr marL="742950" lvl="1" indent="-285750" algn="just">
              <a:buFont typeface="+mj-lt"/>
              <a:buAutoNum type="arabicPeriod"/>
            </a:pPr>
            <a:r>
              <a:rPr lang="en-US" dirty="0"/>
              <a:t>For symmetric distributions, the mean and median will be approximately the same.</a:t>
            </a:r>
          </a:p>
          <a:p>
            <a:pPr algn="just">
              <a:buFont typeface="+mj-lt"/>
              <a:buAutoNum type="arabicPeriod"/>
            </a:pPr>
            <a:r>
              <a:rPr lang="en-US" b="1" dirty="0"/>
              <a:t>Mean vs. Mode</a:t>
            </a:r>
            <a:r>
              <a:rPr lang="en-US" dirty="0"/>
              <a:t>:</a:t>
            </a:r>
          </a:p>
          <a:p>
            <a:pPr marL="742950" lvl="1" indent="-285750" algn="just">
              <a:buFont typeface="+mj-lt"/>
              <a:buAutoNum type="arabicPeriod"/>
            </a:pPr>
            <a:r>
              <a:rPr lang="en-US" dirty="0"/>
              <a:t>The </a:t>
            </a:r>
            <a:r>
              <a:rPr lang="en-US" b="1" dirty="0"/>
              <a:t>mean</a:t>
            </a:r>
            <a:r>
              <a:rPr lang="en-US" dirty="0"/>
              <a:t> considers all data points, while the </a:t>
            </a:r>
            <a:r>
              <a:rPr lang="en-US" b="1" dirty="0"/>
              <a:t>mode</a:t>
            </a:r>
            <a:r>
              <a:rPr lang="en-US" dirty="0"/>
              <a:t> only considers the most frequent value. The </a:t>
            </a:r>
            <a:r>
              <a:rPr lang="en-US" b="1" dirty="0"/>
              <a:t>mode</a:t>
            </a:r>
            <a:r>
              <a:rPr lang="en-US" dirty="0"/>
              <a:t> can be useful for categorical data, while the </a:t>
            </a:r>
            <a:r>
              <a:rPr lang="en-US" b="1" dirty="0"/>
              <a:t>mean</a:t>
            </a:r>
            <a:r>
              <a:rPr lang="en-US" dirty="0"/>
              <a:t> is better suited for numerical data.</a:t>
            </a:r>
          </a:p>
          <a:p>
            <a:pPr algn="just">
              <a:buFont typeface="+mj-lt"/>
              <a:buAutoNum type="arabicPeriod"/>
            </a:pPr>
            <a:r>
              <a:rPr lang="en-US" b="1" dirty="0"/>
              <a:t>Geometric vs. Arithmetic Mean</a:t>
            </a:r>
            <a:r>
              <a:rPr lang="en-US" dirty="0"/>
              <a:t>:</a:t>
            </a:r>
          </a:p>
          <a:p>
            <a:pPr marL="742950" lvl="1" indent="-285750" algn="just">
              <a:buFont typeface="+mj-lt"/>
              <a:buAutoNum type="arabicPeriod"/>
            </a:pPr>
            <a:r>
              <a:rPr lang="en-US" dirty="0"/>
              <a:t>The </a:t>
            </a:r>
            <a:r>
              <a:rPr lang="en-US" b="1" dirty="0"/>
              <a:t>geometric mean</a:t>
            </a:r>
            <a:r>
              <a:rPr lang="en-US" dirty="0"/>
              <a:t> is better suited for datasets involving growth rates or percentages, as it better handles multiplicative effects.</a:t>
            </a:r>
          </a:p>
          <a:p>
            <a:pPr marL="742950" lvl="1" indent="-285750" algn="just">
              <a:buFont typeface="+mj-lt"/>
              <a:buAutoNum type="arabicPeriod"/>
            </a:pPr>
            <a:r>
              <a:rPr lang="en-US" dirty="0"/>
              <a:t>The </a:t>
            </a:r>
            <a:r>
              <a:rPr lang="en-US" b="1" dirty="0"/>
              <a:t>arithmetic mean</a:t>
            </a:r>
            <a:r>
              <a:rPr lang="en-US" dirty="0"/>
              <a:t> is more commonly used in general numerical data.</a:t>
            </a:r>
          </a:p>
          <a:p>
            <a:pPr algn="just">
              <a:buFont typeface="+mj-lt"/>
              <a:buAutoNum type="arabicPeriod"/>
            </a:pPr>
            <a:r>
              <a:rPr lang="en-US" b="1" dirty="0"/>
              <a:t>Harmonic Mean vs. Arithmetic Mean</a:t>
            </a:r>
            <a:r>
              <a:rPr lang="en-US" dirty="0"/>
              <a:t>:</a:t>
            </a:r>
          </a:p>
          <a:p>
            <a:pPr marL="742950" lvl="1" indent="-285750" algn="just">
              <a:buFont typeface="+mj-lt"/>
              <a:buAutoNum type="arabicPeriod"/>
            </a:pPr>
            <a:r>
              <a:rPr lang="en-US" dirty="0"/>
              <a:t>The </a:t>
            </a:r>
            <a:r>
              <a:rPr lang="en-US" b="1" dirty="0"/>
              <a:t>harmonic mean</a:t>
            </a:r>
            <a:r>
              <a:rPr lang="en-US" dirty="0"/>
              <a:t> is used when averaging rates or ratios, while the </a:t>
            </a:r>
            <a:r>
              <a:rPr lang="en-US" b="1" dirty="0"/>
              <a:t>arithmetic mean</a:t>
            </a:r>
            <a:r>
              <a:rPr lang="en-US" dirty="0"/>
              <a:t> is used for standard numerical data.</a:t>
            </a:r>
          </a:p>
        </p:txBody>
      </p:sp>
    </p:spTree>
    <p:extLst>
      <p:ext uri="{BB962C8B-B14F-4D97-AF65-F5344CB8AC3E}">
        <p14:creationId xmlns:p14="http://schemas.microsoft.com/office/powerpoint/2010/main" val="371963015"/>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US" b="1" dirty="0"/>
              <a:t>Applications of Measures of Location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buFont typeface="+mj-lt"/>
              <a:buAutoNum type="arabicPeriod"/>
            </a:pPr>
            <a:r>
              <a:rPr lang="en-US" b="1" dirty="0"/>
              <a:t>Descriptive Statistics</a:t>
            </a:r>
            <a:r>
              <a:rPr lang="en-US" dirty="0"/>
              <a:t>:</a:t>
            </a:r>
          </a:p>
          <a:p>
            <a:pPr marL="742950" lvl="1" indent="-285750" algn="just">
              <a:buFont typeface="+mj-lt"/>
              <a:buAutoNum type="arabicPeriod"/>
            </a:pPr>
            <a:r>
              <a:rPr lang="en-US" dirty="0"/>
              <a:t>Measures of location are essential in summarizing datasets and providing a clear picture of the "center" or typical value of the data.</a:t>
            </a:r>
          </a:p>
          <a:p>
            <a:pPr marL="742950" lvl="1" indent="-285750" algn="just">
              <a:buFont typeface="+mj-lt"/>
              <a:buAutoNum type="arabicPeriod"/>
            </a:pPr>
            <a:r>
              <a:rPr lang="en-US" dirty="0"/>
              <a:t>Commonly used in summary statistics for reports, surveys, and research studies.</a:t>
            </a:r>
          </a:p>
          <a:p>
            <a:pPr algn="just">
              <a:buFont typeface="+mj-lt"/>
              <a:buAutoNum type="arabicPeriod"/>
            </a:pPr>
            <a:r>
              <a:rPr lang="en-US" b="1" dirty="0"/>
              <a:t>Economics and Business</a:t>
            </a:r>
            <a:r>
              <a:rPr lang="en-US" dirty="0"/>
              <a:t>:</a:t>
            </a:r>
          </a:p>
          <a:p>
            <a:pPr marL="742950" lvl="1" indent="-285750" algn="just">
              <a:buFont typeface="+mj-lt"/>
              <a:buAutoNum type="arabicPeriod"/>
            </a:pPr>
            <a:r>
              <a:rPr lang="en-US" dirty="0"/>
              <a:t>The </a:t>
            </a:r>
            <a:r>
              <a:rPr lang="en-US" b="1" dirty="0"/>
              <a:t>mean</a:t>
            </a:r>
            <a:r>
              <a:rPr lang="en-US" dirty="0"/>
              <a:t> is widely used in business for calculating averages like revenue, costs, or salaries.</a:t>
            </a:r>
          </a:p>
          <a:p>
            <a:pPr marL="742950" lvl="1" indent="-285750" algn="just">
              <a:buFont typeface="+mj-lt"/>
              <a:buAutoNum type="arabicPeriod"/>
            </a:pPr>
            <a:r>
              <a:rPr lang="en-US" dirty="0"/>
              <a:t>The </a:t>
            </a:r>
            <a:r>
              <a:rPr lang="en-US" b="1" dirty="0"/>
              <a:t>geometric mean</a:t>
            </a:r>
            <a:r>
              <a:rPr lang="en-US" dirty="0"/>
              <a:t> is often used in finance for calculating average growth rates, such as returns on investments over time.</a:t>
            </a:r>
          </a:p>
          <a:p>
            <a:pPr algn="just">
              <a:buFont typeface="+mj-lt"/>
              <a:buAutoNum type="arabicPeriod"/>
            </a:pPr>
            <a:r>
              <a:rPr lang="en-US" b="1" dirty="0"/>
              <a:t>Medicine</a:t>
            </a:r>
            <a:r>
              <a:rPr lang="en-US" dirty="0"/>
              <a:t>:</a:t>
            </a:r>
          </a:p>
          <a:p>
            <a:pPr marL="742950" lvl="1" indent="-285750" algn="just">
              <a:buFont typeface="+mj-lt"/>
              <a:buAutoNum type="arabicPeriod"/>
            </a:pPr>
            <a:r>
              <a:rPr lang="en-US" dirty="0"/>
              <a:t>The </a:t>
            </a:r>
            <a:r>
              <a:rPr lang="en-US" b="1" dirty="0"/>
              <a:t>median</a:t>
            </a:r>
            <a:r>
              <a:rPr lang="en-US" dirty="0"/>
              <a:t> is frequently used in medical studies to represent the "typical" outcome, especially when the data is skewed or contains outliers (e.g., survival times).</a:t>
            </a:r>
          </a:p>
          <a:p>
            <a:pPr algn="just">
              <a:buFont typeface="+mj-lt"/>
              <a:buAutoNum type="arabicPeriod"/>
            </a:pPr>
            <a:r>
              <a:rPr lang="en-US" b="1" dirty="0"/>
              <a:t>Engineering and Physics</a:t>
            </a:r>
            <a:r>
              <a:rPr lang="en-US" dirty="0"/>
              <a:t>:</a:t>
            </a:r>
          </a:p>
          <a:p>
            <a:pPr marL="742950" lvl="1" indent="-285750" algn="just">
              <a:buFont typeface="+mj-lt"/>
              <a:buAutoNum type="arabicPeriod"/>
            </a:pPr>
            <a:r>
              <a:rPr lang="en-US" dirty="0"/>
              <a:t>The </a:t>
            </a:r>
            <a:r>
              <a:rPr lang="en-US" b="1" dirty="0"/>
              <a:t>harmonic mean</a:t>
            </a:r>
            <a:r>
              <a:rPr lang="en-US" dirty="0"/>
              <a:t> is used in fields like physics and engineering to average rates and ratios, such as the average speed over equal distances.</a:t>
            </a:r>
          </a:p>
        </p:txBody>
      </p:sp>
    </p:spTree>
    <p:extLst>
      <p:ext uri="{BB962C8B-B14F-4D97-AF65-F5344CB8AC3E}">
        <p14:creationId xmlns:p14="http://schemas.microsoft.com/office/powerpoint/2010/main" val="239473351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US" b="1" dirty="0"/>
              <a:t>Applications of Measures of Location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buFont typeface="+mj-lt"/>
              <a:buAutoNum type="arabicPeriod"/>
            </a:pPr>
            <a:r>
              <a:rPr lang="en-US" b="1" dirty="0"/>
              <a:t>Descriptive Statistics</a:t>
            </a:r>
            <a:r>
              <a:rPr lang="en-US" dirty="0"/>
              <a:t>:</a:t>
            </a:r>
          </a:p>
          <a:p>
            <a:pPr marL="742950" lvl="1" indent="-285750" algn="just">
              <a:buFont typeface="+mj-lt"/>
              <a:buAutoNum type="arabicPeriod"/>
            </a:pPr>
            <a:r>
              <a:rPr lang="en-US" dirty="0"/>
              <a:t>Measures of location are essential in summarizing datasets and providing a clear picture of the "center" or typical value of the data.</a:t>
            </a:r>
          </a:p>
          <a:p>
            <a:pPr marL="742950" lvl="1" indent="-285750" algn="just">
              <a:buFont typeface="+mj-lt"/>
              <a:buAutoNum type="arabicPeriod"/>
            </a:pPr>
            <a:r>
              <a:rPr lang="en-US" dirty="0"/>
              <a:t>Commonly used in summary statistics for reports, surveys, and research studies.</a:t>
            </a:r>
          </a:p>
          <a:p>
            <a:pPr algn="just">
              <a:buFont typeface="+mj-lt"/>
              <a:buAutoNum type="arabicPeriod"/>
            </a:pPr>
            <a:r>
              <a:rPr lang="en-US" b="1" dirty="0"/>
              <a:t>Economics and Business</a:t>
            </a:r>
            <a:r>
              <a:rPr lang="en-US" dirty="0"/>
              <a:t>:</a:t>
            </a:r>
          </a:p>
          <a:p>
            <a:pPr marL="742950" lvl="1" indent="-285750" algn="just">
              <a:buFont typeface="+mj-lt"/>
              <a:buAutoNum type="arabicPeriod"/>
            </a:pPr>
            <a:r>
              <a:rPr lang="en-US" dirty="0"/>
              <a:t>The </a:t>
            </a:r>
            <a:r>
              <a:rPr lang="en-US" b="1" dirty="0"/>
              <a:t>mean</a:t>
            </a:r>
            <a:r>
              <a:rPr lang="en-US" dirty="0"/>
              <a:t> is widely used in business for calculating averages like revenue, costs, or salaries.</a:t>
            </a:r>
          </a:p>
          <a:p>
            <a:pPr marL="742950" lvl="1" indent="-285750" algn="just">
              <a:buFont typeface="+mj-lt"/>
              <a:buAutoNum type="arabicPeriod"/>
            </a:pPr>
            <a:r>
              <a:rPr lang="en-US" dirty="0"/>
              <a:t>The </a:t>
            </a:r>
            <a:r>
              <a:rPr lang="en-US" b="1" dirty="0"/>
              <a:t>geometric mean</a:t>
            </a:r>
            <a:r>
              <a:rPr lang="en-US" dirty="0"/>
              <a:t> is often used in finance for calculating average growth rates, such as returns on investments over time.</a:t>
            </a:r>
          </a:p>
          <a:p>
            <a:pPr algn="just">
              <a:buFont typeface="+mj-lt"/>
              <a:buAutoNum type="arabicPeriod"/>
            </a:pPr>
            <a:r>
              <a:rPr lang="en-US" b="1" dirty="0"/>
              <a:t>Medicine</a:t>
            </a:r>
            <a:r>
              <a:rPr lang="en-US" dirty="0"/>
              <a:t>:</a:t>
            </a:r>
          </a:p>
          <a:p>
            <a:pPr marL="742950" lvl="1" indent="-285750" algn="just">
              <a:buFont typeface="+mj-lt"/>
              <a:buAutoNum type="arabicPeriod"/>
            </a:pPr>
            <a:r>
              <a:rPr lang="en-US" dirty="0"/>
              <a:t>The </a:t>
            </a:r>
            <a:r>
              <a:rPr lang="en-US" b="1" dirty="0"/>
              <a:t>median</a:t>
            </a:r>
            <a:r>
              <a:rPr lang="en-US" dirty="0"/>
              <a:t> is frequently used in medical studies to represent the "typical" outcome, especially when the data is skewed or contains outliers (e.g., survival times).</a:t>
            </a:r>
          </a:p>
          <a:p>
            <a:pPr algn="just">
              <a:buFont typeface="+mj-lt"/>
              <a:buAutoNum type="arabicPeriod"/>
            </a:pPr>
            <a:r>
              <a:rPr lang="en-US" b="1" dirty="0"/>
              <a:t>Engineering and Physics</a:t>
            </a:r>
            <a:r>
              <a:rPr lang="en-US" dirty="0"/>
              <a:t>:</a:t>
            </a:r>
          </a:p>
          <a:p>
            <a:pPr marL="742950" lvl="1" indent="-285750" algn="just">
              <a:buFont typeface="+mj-lt"/>
              <a:buAutoNum type="arabicPeriod"/>
            </a:pPr>
            <a:r>
              <a:rPr lang="en-US" dirty="0"/>
              <a:t>The </a:t>
            </a:r>
            <a:r>
              <a:rPr lang="en-US" b="1" dirty="0"/>
              <a:t>harmonic mean</a:t>
            </a:r>
            <a:r>
              <a:rPr lang="en-US" dirty="0"/>
              <a:t> is used in fields like physics and engineering to average rates and ratios, such as the average speed over equal distances.</a:t>
            </a:r>
          </a:p>
        </p:txBody>
      </p:sp>
    </p:spTree>
    <p:extLst>
      <p:ext uri="{BB962C8B-B14F-4D97-AF65-F5344CB8AC3E}">
        <p14:creationId xmlns:p14="http://schemas.microsoft.com/office/powerpoint/2010/main" val="3877596524"/>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7445" y="1592731"/>
            <a:ext cx="10717110" cy="5259091"/>
          </a:xfrm>
          <a:prstGeom prst="rect">
            <a:avLst/>
          </a:prstGeom>
        </p:spPr>
      </p:pic>
    </p:spTree>
    <p:extLst>
      <p:ext uri="{BB962C8B-B14F-4D97-AF65-F5344CB8AC3E}">
        <p14:creationId xmlns:p14="http://schemas.microsoft.com/office/powerpoint/2010/main" val="3962834059"/>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7445" y="1781157"/>
            <a:ext cx="10717110" cy="4882239"/>
          </a:xfrm>
          <a:prstGeom prst="rect">
            <a:avLst/>
          </a:prstGeom>
        </p:spPr>
      </p:pic>
    </p:spTree>
    <p:extLst>
      <p:ext uri="{BB962C8B-B14F-4D97-AF65-F5344CB8AC3E}">
        <p14:creationId xmlns:p14="http://schemas.microsoft.com/office/powerpoint/2010/main" val="409492332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427" y="2091323"/>
            <a:ext cx="12093146" cy="2675354"/>
          </a:xfrm>
          <a:prstGeom prst="rect">
            <a:avLst/>
          </a:prstGeom>
        </p:spPr>
      </p:pic>
    </p:spTree>
    <p:extLst>
      <p:ext uri="{BB962C8B-B14F-4D97-AF65-F5344CB8AC3E}">
        <p14:creationId xmlns:p14="http://schemas.microsoft.com/office/powerpoint/2010/main" val="2913794226"/>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17259" y="1561357"/>
            <a:ext cx="8957482" cy="5279439"/>
          </a:xfrm>
          <a:prstGeom prst="rect">
            <a:avLst/>
          </a:prstGeom>
        </p:spPr>
      </p:pic>
    </p:spTree>
    <p:extLst>
      <p:ext uri="{BB962C8B-B14F-4D97-AF65-F5344CB8AC3E}">
        <p14:creationId xmlns:p14="http://schemas.microsoft.com/office/powerpoint/2010/main" val="1846519033"/>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4428" y="1690688"/>
            <a:ext cx="10663143" cy="4715239"/>
          </a:xfrm>
          <a:prstGeom prst="rect">
            <a:avLst/>
          </a:prstGeom>
        </p:spPr>
      </p:pic>
    </p:spTree>
    <p:extLst>
      <p:ext uri="{BB962C8B-B14F-4D97-AF65-F5344CB8AC3E}">
        <p14:creationId xmlns:p14="http://schemas.microsoft.com/office/powerpoint/2010/main" val="161614214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54301" y="1690688"/>
            <a:ext cx="7883398" cy="4906641"/>
          </a:xfrm>
          <a:prstGeom prst="rect">
            <a:avLst/>
          </a:prstGeom>
        </p:spPr>
      </p:pic>
    </p:spTree>
    <p:extLst>
      <p:ext uri="{BB962C8B-B14F-4D97-AF65-F5344CB8AC3E}">
        <p14:creationId xmlns:p14="http://schemas.microsoft.com/office/powerpoint/2010/main" val="505370486"/>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pPr algn="just"/>
            <a:r>
              <a:rPr lang="en-IN" dirty="0"/>
              <a:t>Advanced Location Estimates</a:t>
            </a:r>
            <a:endParaRPr lang="en-US" b="1" dirty="0"/>
          </a:p>
        </p:txBody>
      </p:sp>
      <p:pic>
        <p:nvPicPr>
          <p:cNvPr id="7" name="Picture 6">
            <a:extLst>
              <a:ext uri="{FF2B5EF4-FFF2-40B4-BE49-F238E27FC236}">
                <a16:creationId xmlns:a16="http://schemas.microsoft.com/office/drawing/2014/main" id="{7990A2F4-5871-0653-BA2B-D63686D5BB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89240" y="1690688"/>
            <a:ext cx="9613520" cy="4859698"/>
          </a:xfrm>
          <a:prstGeom prst="rect">
            <a:avLst/>
          </a:prstGeom>
        </p:spPr>
      </p:pic>
    </p:spTree>
    <p:extLst>
      <p:ext uri="{BB962C8B-B14F-4D97-AF65-F5344CB8AC3E}">
        <p14:creationId xmlns:p14="http://schemas.microsoft.com/office/powerpoint/2010/main" val="2448645419"/>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Comparison of Advanced Location Estimates</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10000"/>
          </a:bodyPr>
          <a:lstStyle/>
          <a:p>
            <a:pPr algn="just">
              <a:buFont typeface="+mj-lt"/>
              <a:buAutoNum type="arabicPeriod"/>
            </a:pPr>
            <a:r>
              <a:rPr lang="en-US" b="1" dirty="0"/>
              <a:t>Trimmed Mean vs. </a:t>
            </a:r>
            <a:r>
              <a:rPr lang="en-US" b="1" dirty="0" err="1"/>
              <a:t>Winsorized</a:t>
            </a:r>
            <a:r>
              <a:rPr lang="en-US" b="1" dirty="0"/>
              <a:t> Mean</a:t>
            </a:r>
            <a:r>
              <a:rPr lang="en-US" dirty="0"/>
              <a:t>:</a:t>
            </a:r>
          </a:p>
          <a:p>
            <a:pPr marL="742950" lvl="1" indent="-285750" algn="just">
              <a:buFont typeface="+mj-lt"/>
              <a:buAutoNum type="arabicPeriod"/>
            </a:pPr>
            <a:r>
              <a:rPr lang="en-US" dirty="0"/>
              <a:t>Both the trimmed mean and </a:t>
            </a:r>
            <a:r>
              <a:rPr lang="en-US" dirty="0" err="1"/>
              <a:t>Winsorized</a:t>
            </a:r>
            <a:r>
              <a:rPr lang="en-US" dirty="0"/>
              <a:t> mean handle outliers by reducing their influence, but the </a:t>
            </a:r>
            <a:r>
              <a:rPr lang="en-US" b="1" dirty="0"/>
              <a:t>trimmed mean</a:t>
            </a:r>
            <a:r>
              <a:rPr lang="en-US" dirty="0"/>
              <a:t> discards extreme values entirely, while the </a:t>
            </a:r>
            <a:r>
              <a:rPr lang="en-US" b="1" dirty="0" err="1"/>
              <a:t>Winsorized</a:t>
            </a:r>
            <a:r>
              <a:rPr lang="en-US" b="1" dirty="0"/>
              <a:t> mean</a:t>
            </a:r>
            <a:r>
              <a:rPr lang="en-US" dirty="0"/>
              <a:t> replaces them with the nearest remaining values.</a:t>
            </a:r>
          </a:p>
          <a:p>
            <a:pPr algn="just">
              <a:buFont typeface="+mj-lt"/>
              <a:buAutoNum type="arabicPeriod"/>
            </a:pPr>
            <a:r>
              <a:rPr lang="en-US" b="1" dirty="0"/>
              <a:t>M-Estimator vs. Arithmetic Mean</a:t>
            </a:r>
            <a:r>
              <a:rPr lang="en-US" dirty="0"/>
              <a:t>:</a:t>
            </a:r>
          </a:p>
          <a:p>
            <a:pPr marL="742950" lvl="1" indent="-285750" algn="just">
              <a:buFont typeface="+mj-lt"/>
              <a:buAutoNum type="arabicPeriod"/>
            </a:pPr>
            <a:r>
              <a:rPr lang="en-US" dirty="0"/>
              <a:t>The </a:t>
            </a:r>
            <a:r>
              <a:rPr lang="en-US" b="1" dirty="0"/>
              <a:t>M-estimator</a:t>
            </a:r>
            <a:r>
              <a:rPr lang="en-US" dirty="0"/>
              <a:t> is more robust than the traditional arithmetic mean because it minimizes a loss function that is less sensitive to outliers, making it more reliable for data that is not normally distributed or contains extreme values.</a:t>
            </a:r>
          </a:p>
          <a:p>
            <a:pPr algn="just">
              <a:buFont typeface="+mj-lt"/>
              <a:buAutoNum type="arabicPeriod"/>
            </a:pPr>
            <a:r>
              <a:rPr lang="en-US" b="1" dirty="0"/>
              <a:t>Median Absolute Deviation (MAD) vs. Standard Deviation</a:t>
            </a:r>
            <a:r>
              <a:rPr lang="en-US" dirty="0"/>
              <a:t>:</a:t>
            </a:r>
          </a:p>
          <a:p>
            <a:pPr marL="742950" lvl="1" indent="-285750" algn="just">
              <a:buFont typeface="+mj-lt"/>
              <a:buAutoNum type="arabicPeriod"/>
            </a:pPr>
            <a:r>
              <a:rPr lang="en-US" b="1" dirty="0"/>
              <a:t>MAD</a:t>
            </a:r>
            <a:r>
              <a:rPr lang="en-US" dirty="0"/>
              <a:t> is a robust alternative to the standard deviation. While the standard deviation is sensitive to outliers, MAD provides a more resistant estimate of variability.</a:t>
            </a:r>
          </a:p>
          <a:p>
            <a:pPr algn="just">
              <a:buFont typeface="+mj-lt"/>
              <a:buAutoNum type="arabicPeriod"/>
            </a:pPr>
            <a:r>
              <a:rPr lang="en-US" b="1" dirty="0"/>
              <a:t>Hodges-Lehmann Estimator vs. Median</a:t>
            </a:r>
            <a:r>
              <a:rPr lang="en-US" dirty="0"/>
              <a:t>:</a:t>
            </a:r>
          </a:p>
          <a:p>
            <a:pPr marL="742950" lvl="1" indent="-285750" algn="just">
              <a:buFont typeface="+mj-lt"/>
              <a:buAutoNum type="arabicPeriod"/>
            </a:pPr>
            <a:r>
              <a:rPr lang="en-US" dirty="0"/>
              <a:t>The </a:t>
            </a:r>
            <a:r>
              <a:rPr lang="en-US" b="1" dirty="0"/>
              <a:t>Hodges-Lehmann estimator</a:t>
            </a:r>
            <a:r>
              <a:rPr lang="en-US" dirty="0"/>
              <a:t> is closely related to the median but is more efficient when the data is symmetric, making it a robust alternative to both the mean and the median.</a:t>
            </a:r>
          </a:p>
        </p:txBody>
      </p:sp>
    </p:spTree>
    <p:extLst>
      <p:ext uri="{BB962C8B-B14F-4D97-AF65-F5344CB8AC3E}">
        <p14:creationId xmlns:p14="http://schemas.microsoft.com/office/powerpoint/2010/main" val="94725338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Measures of Dispersion</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b="1" dirty="0"/>
              <a:t>Measures of dispersion</a:t>
            </a:r>
            <a:r>
              <a:rPr lang="en-US" dirty="0"/>
              <a:t> (also known as measures of variability or spread) describe how much the data in a dataset varies around a central value. While measures of location (like the mean or median) provide a central point, measures of dispersion give insights into the distribution's spread, indicating whether the data points are close to the center or widely scattered. Understanding the spread is essential in statistical analysis as it helps assess the reliability and consistency of the data.</a:t>
            </a:r>
          </a:p>
        </p:txBody>
      </p:sp>
    </p:spTree>
    <p:extLst>
      <p:ext uri="{BB962C8B-B14F-4D97-AF65-F5344CB8AC3E}">
        <p14:creationId xmlns:p14="http://schemas.microsoft.com/office/powerpoint/2010/main" val="549378766"/>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Comparison of Measures of Dispersion</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85000" lnSpcReduction="20000"/>
          </a:bodyPr>
          <a:lstStyle/>
          <a:p>
            <a:pPr algn="just">
              <a:buFont typeface="+mj-lt"/>
              <a:buAutoNum type="arabicPeriod"/>
            </a:pPr>
            <a:r>
              <a:rPr lang="en-US" b="1" dirty="0"/>
              <a:t>Variance vs. Standard Deviation</a:t>
            </a:r>
            <a:r>
              <a:rPr lang="en-US" dirty="0"/>
              <a:t>:</a:t>
            </a:r>
          </a:p>
          <a:p>
            <a:pPr marL="742950" lvl="1" indent="-285750" algn="just">
              <a:buFont typeface="+mj-lt"/>
              <a:buAutoNum type="arabicPeriod"/>
            </a:pPr>
            <a:r>
              <a:rPr lang="en-US" b="1" dirty="0"/>
              <a:t>Variance</a:t>
            </a:r>
            <a:r>
              <a:rPr lang="en-US" dirty="0"/>
              <a:t> measures the squared deviations from the mean, making it harder to interpret due to squared units. </a:t>
            </a:r>
            <a:r>
              <a:rPr lang="en-US" b="1" dirty="0"/>
              <a:t>Standard deviation</a:t>
            </a:r>
            <a:r>
              <a:rPr lang="en-US" dirty="0"/>
              <a:t>, as the square root of variance, brings the measure back to the same scale as the data and is more interpretable.</a:t>
            </a:r>
          </a:p>
          <a:p>
            <a:pPr algn="just">
              <a:buFont typeface="+mj-lt"/>
              <a:buAutoNum type="arabicPeriod"/>
            </a:pPr>
            <a:r>
              <a:rPr lang="en-US" b="1" dirty="0"/>
              <a:t>Range vs. Interquartile Range (IQR)</a:t>
            </a:r>
            <a:r>
              <a:rPr lang="en-US" dirty="0"/>
              <a:t>:</a:t>
            </a:r>
          </a:p>
          <a:p>
            <a:pPr marL="742950" lvl="1" indent="-285750" algn="just">
              <a:buFont typeface="+mj-lt"/>
              <a:buAutoNum type="arabicPeriod"/>
            </a:pPr>
            <a:r>
              <a:rPr lang="en-US" dirty="0"/>
              <a:t>The </a:t>
            </a:r>
            <a:r>
              <a:rPr lang="en-US" b="1" dirty="0"/>
              <a:t>range</a:t>
            </a:r>
            <a:r>
              <a:rPr lang="en-US" dirty="0"/>
              <a:t> is highly sensitive to outliers, as it only considers the extreme values. The </a:t>
            </a:r>
            <a:r>
              <a:rPr lang="en-US" b="1" dirty="0"/>
              <a:t>IQR</a:t>
            </a:r>
            <a:r>
              <a:rPr lang="en-US" dirty="0"/>
              <a:t> focuses on the middle 50% of the data and is more robust, making it a better choice when data is skewed or contains outliers.</a:t>
            </a:r>
          </a:p>
          <a:p>
            <a:pPr algn="just">
              <a:buFont typeface="+mj-lt"/>
              <a:buAutoNum type="arabicPeriod"/>
            </a:pPr>
            <a:r>
              <a:rPr lang="en-US" b="1" dirty="0"/>
              <a:t>Mean Absolute Deviation (MAD) vs. Standard Deviation</a:t>
            </a:r>
            <a:r>
              <a:rPr lang="en-US" dirty="0"/>
              <a:t>:</a:t>
            </a:r>
          </a:p>
          <a:p>
            <a:pPr marL="742950" lvl="1" indent="-285750" algn="just">
              <a:buFont typeface="+mj-lt"/>
              <a:buAutoNum type="arabicPeriod"/>
            </a:pPr>
            <a:r>
              <a:rPr lang="en-US" b="1" dirty="0"/>
              <a:t>MAD</a:t>
            </a:r>
            <a:r>
              <a:rPr lang="en-US" dirty="0"/>
              <a:t> is less sensitive to outliers because it uses absolute values, while </a:t>
            </a:r>
            <a:r>
              <a:rPr lang="en-US" b="1" dirty="0"/>
              <a:t>standard deviation</a:t>
            </a:r>
            <a:r>
              <a:rPr lang="en-US" dirty="0"/>
              <a:t> is more sensitive because it squares the deviations. MAD is often preferred in cases where robustness is important.</a:t>
            </a:r>
          </a:p>
          <a:p>
            <a:pPr algn="just">
              <a:buFont typeface="+mj-lt"/>
              <a:buAutoNum type="arabicPeriod"/>
            </a:pPr>
            <a:r>
              <a:rPr lang="en-US" b="1" dirty="0"/>
              <a:t>Coefficient of Variation (CV)</a:t>
            </a:r>
            <a:r>
              <a:rPr lang="en-US" dirty="0"/>
              <a:t> vs. Standard Deviation:</a:t>
            </a:r>
          </a:p>
          <a:p>
            <a:pPr marL="742950" lvl="1" indent="-285750" algn="just">
              <a:buFont typeface="+mj-lt"/>
              <a:buAutoNum type="arabicPeriod"/>
            </a:pPr>
            <a:r>
              <a:rPr lang="en-US" dirty="0"/>
              <a:t>The </a:t>
            </a:r>
            <a:r>
              <a:rPr lang="en-US" b="1" dirty="0"/>
              <a:t>CV</a:t>
            </a:r>
            <a:r>
              <a:rPr lang="en-US" dirty="0"/>
              <a:t> is a relative measure of dispersion that allows for comparison between datasets with different scales, while the </a:t>
            </a:r>
            <a:r>
              <a:rPr lang="en-US" b="1" dirty="0"/>
              <a:t>standard deviation</a:t>
            </a:r>
            <a:r>
              <a:rPr lang="en-US" dirty="0"/>
              <a:t> is an absolute measure that does not account for differences in the mean.</a:t>
            </a:r>
          </a:p>
        </p:txBody>
      </p:sp>
    </p:spTree>
    <p:extLst>
      <p:ext uri="{BB962C8B-B14F-4D97-AF65-F5344CB8AC3E}">
        <p14:creationId xmlns:p14="http://schemas.microsoft.com/office/powerpoint/2010/main" val="1188275486"/>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Types of Data Summarization Techniques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55000" lnSpcReduction="20000"/>
          </a:bodyPr>
          <a:lstStyle/>
          <a:p>
            <a:pPr algn="just">
              <a:buFont typeface="+mj-lt"/>
              <a:buAutoNum type="arabicPeriod"/>
            </a:pPr>
            <a:r>
              <a:rPr lang="en-US" b="1" dirty="0"/>
              <a:t>Descriptive Statistics</a:t>
            </a:r>
            <a:r>
              <a:rPr lang="en-US" dirty="0"/>
              <a:t>:</a:t>
            </a:r>
          </a:p>
          <a:p>
            <a:pPr marL="742950" lvl="1" indent="-285750" algn="just">
              <a:buFont typeface="+mj-lt"/>
              <a:buAutoNum type="arabicPeriod"/>
            </a:pPr>
            <a:r>
              <a:rPr lang="en-US" dirty="0"/>
              <a:t>Descriptive statistics involve calculating summary measures that describe the central tendency, variability, and overall distribution of the data.</a:t>
            </a:r>
          </a:p>
          <a:p>
            <a:pPr marL="742950" lvl="1" indent="-285750" algn="just">
              <a:buFont typeface="+mj-lt"/>
              <a:buAutoNum type="arabicPeriod"/>
            </a:pPr>
            <a:r>
              <a:rPr lang="en-US" dirty="0"/>
              <a:t>Common measures include:</a:t>
            </a:r>
          </a:p>
          <a:p>
            <a:pPr marL="1143000" lvl="2" indent="-228600" algn="just">
              <a:buFont typeface="+mj-lt"/>
              <a:buAutoNum type="arabicPeriod"/>
            </a:pPr>
            <a:r>
              <a:rPr lang="en-US" b="1" dirty="0"/>
              <a:t>Measures of Location</a:t>
            </a:r>
            <a:r>
              <a:rPr lang="en-US" dirty="0"/>
              <a:t>: Mean, median, mode.</a:t>
            </a:r>
          </a:p>
          <a:p>
            <a:pPr marL="1143000" lvl="2" indent="-228600" algn="just">
              <a:buFont typeface="+mj-lt"/>
              <a:buAutoNum type="arabicPeriod"/>
            </a:pPr>
            <a:r>
              <a:rPr lang="en-US" b="1" dirty="0"/>
              <a:t>Measures of Dispersion</a:t>
            </a:r>
            <a:r>
              <a:rPr lang="en-US" dirty="0"/>
              <a:t>: Range, variance, standard deviation, interquartile range (IQR).</a:t>
            </a:r>
          </a:p>
          <a:p>
            <a:pPr marL="1143000" lvl="2" indent="-228600" algn="just">
              <a:buFont typeface="+mj-lt"/>
              <a:buAutoNum type="arabicPeriod"/>
            </a:pPr>
            <a:r>
              <a:rPr lang="en-US" b="1" dirty="0"/>
              <a:t>Measures of Shape</a:t>
            </a:r>
            <a:r>
              <a:rPr lang="en-US" dirty="0"/>
              <a:t>: Skewness, kurtosis.</a:t>
            </a:r>
          </a:p>
          <a:p>
            <a:pPr algn="just">
              <a:buFont typeface="+mj-lt"/>
              <a:buAutoNum type="arabicPeriod"/>
            </a:pPr>
            <a:r>
              <a:rPr lang="en-US" b="1" dirty="0"/>
              <a:t>Tabular Summarization</a:t>
            </a:r>
            <a:r>
              <a:rPr lang="en-US" dirty="0"/>
              <a:t>:</a:t>
            </a:r>
          </a:p>
          <a:p>
            <a:pPr marL="742950" lvl="1" indent="-285750" algn="just">
              <a:buFont typeface="+mj-lt"/>
              <a:buAutoNum type="arabicPeriod"/>
            </a:pPr>
            <a:r>
              <a:rPr lang="en-US" dirty="0"/>
              <a:t>Presenting data in </a:t>
            </a:r>
            <a:r>
              <a:rPr lang="en-US" b="1" dirty="0"/>
              <a:t>tables</a:t>
            </a:r>
            <a:r>
              <a:rPr lang="en-US" dirty="0"/>
              <a:t> is a common way to summarize categorical and numerical data.</a:t>
            </a:r>
          </a:p>
          <a:p>
            <a:pPr marL="742950" lvl="1" indent="-285750" algn="just">
              <a:buFont typeface="+mj-lt"/>
              <a:buAutoNum type="arabicPeriod"/>
            </a:pPr>
            <a:r>
              <a:rPr lang="en-US" dirty="0"/>
              <a:t>Examples include:</a:t>
            </a:r>
          </a:p>
          <a:p>
            <a:pPr marL="1143000" lvl="2" indent="-228600" algn="just">
              <a:buFont typeface="+mj-lt"/>
              <a:buAutoNum type="arabicPeriod"/>
            </a:pPr>
            <a:r>
              <a:rPr lang="en-US" b="1" dirty="0"/>
              <a:t>Frequency Tables</a:t>
            </a:r>
            <a:r>
              <a:rPr lang="en-US" dirty="0"/>
              <a:t>: Show the count of occurrences for each category or range of values.</a:t>
            </a:r>
          </a:p>
          <a:p>
            <a:pPr marL="1143000" lvl="2" indent="-228600" algn="just">
              <a:buFont typeface="+mj-lt"/>
              <a:buAutoNum type="arabicPeriod"/>
            </a:pPr>
            <a:r>
              <a:rPr lang="en-US" b="1" dirty="0"/>
              <a:t>Contingency Tables</a:t>
            </a:r>
            <a:r>
              <a:rPr lang="en-US" dirty="0"/>
              <a:t>: Display the frequency distribution of two or more categorical variables.</a:t>
            </a:r>
          </a:p>
          <a:p>
            <a:pPr marL="1143000" lvl="2" indent="-228600" algn="just">
              <a:buFont typeface="+mj-lt"/>
              <a:buAutoNum type="arabicPeriod"/>
            </a:pPr>
            <a:r>
              <a:rPr lang="en-US" b="1" dirty="0"/>
              <a:t>Cross-tabulation</a:t>
            </a:r>
            <a:r>
              <a:rPr lang="en-US" dirty="0"/>
              <a:t>: Used to summarize the relationship between two categorical variables in matrix form.</a:t>
            </a:r>
          </a:p>
          <a:p>
            <a:pPr algn="just">
              <a:buFont typeface="+mj-lt"/>
              <a:buAutoNum type="arabicPeriod"/>
            </a:pPr>
            <a:r>
              <a:rPr lang="en-US" b="1" dirty="0"/>
              <a:t>Graphical Summarization</a:t>
            </a:r>
            <a:r>
              <a:rPr lang="en-US" dirty="0"/>
              <a:t>:</a:t>
            </a:r>
          </a:p>
          <a:p>
            <a:pPr marL="742950" lvl="1" indent="-285750" algn="just">
              <a:buFont typeface="+mj-lt"/>
              <a:buAutoNum type="arabicPeriod"/>
            </a:pPr>
            <a:r>
              <a:rPr lang="en-US" b="1" dirty="0"/>
              <a:t>Graphs</a:t>
            </a:r>
            <a:r>
              <a:rPr lang="en-US" dirty="0"/>
              <a:t> and </a:t>
            </a:r>
            <a:r>
              <a:rPr lang="en-US" b="1" dirty="0"/>
              <a:t>plots</a:t>
            </a:r>
            <a:r>
              <a:rPr lang="en-US" dirty="0"/>
              <a:t> help visualize the data and reveal patterns, trends, or outliers.</a:t>
            </a:r>
          </a:p>
          <a:p>
            <a:pPr marL="742950" lvl="1" indent="-285750" algn="just">
              <a:buFont typeface="+mj-lt"/>
              <a:buAutoNum type="arabicPeriod"/>
            </a:pPr>
            <a:r>
              <a:rPr lang="en-US" dirty="0"/>
              <a:t>Examples include:</a:t>
            </a:r>
          </a:p>
          <a:p>
            <a:pPr marL="1143000" lvl="2" indent="-228600" algn="just">
              <a:buFont typeface="+mj-lt"/>
              <a:buAutoNum type="arabicPeriod"/>
            </a:pPr>
            <a:r>
              <a:rPr lang="en-US" b="1" dirty="0"/>
              <a:t>Histograms</a:t>
            </a:r>
            <a:r>
              <a:rPr lang="en-US" dirty="0"/>
              <a:t>: Show the frequency distribution of a single numerical variable.</a:t>
            </a:r>
          </a:p>
          <a:p>
            <a:pPr marL="1143000" lvl="2" indent="-228600" algn="just">
              <a:buFont typeface="+mj-lt"/>
              <a:buAutoNum type="arabicPeriod"/>
            </a:pPr>
            <a:r>
              <a:rPr lang="en-US" b="1" dirty="0"/>
              <a:t>Bar Charts</a:t>
            </a:r>
            <a:r>
              <a:rPr lang="en-US" dirty="0"/>
              <a:t>: Compare different categories with their frequencies or values.</a:t>
            </a:r>
          </a:p>
          <a:p>
            <a:pPr marL="1143000" lvl="2" indent="-228600" algn="just">
              <a:buFont typeface="+mj-lt"/>
              <a:buAutoNum type="arabicPeriod"/>
            </a:pPr>
            <a:r>
              <a:rPr lang="en-US" b="1" dirty="0"/>
              <a:t>Pie Charts</a:t>
            </a:r>
            <a:r>
              <a:rPr lang="en-US" dirty="0"/>
              <a:t>: Illustrate proportions of categories as parts of a whole.</a:t>
            </a:r>
          </a:p>
          <a:p>
            <a:pPr marL="1143000" lvl="2" indent="-228600" algn="just">
              <a:buFont typeface="+mj-lt"/>
              <a:buAutoNum type="arabicPeriod"/>
            </a:pPr>
            <a:r>
              <a:rPr lang="en-US" b="1" dirty="0"/>
              <a:t>Boxplots</a:t>
            </a:r>
            <a:r>
              <a:rPr lang="en-US" dirty="0"/>
              <a:t>: Summarize the distribution of numerical data, showing the median, quartiles, and potential outliers.</a:t>
            </a:r>
          </a:p>
          <a:p>
            <a:pPr marL="1143000" lvl="2" indent="-228600" algn="just">
              <a:buFont typeface="+mj-lt"/>
              <a:buAutoNum type="arabicPeriod"/>
            </a:pPr>
            <a:r>
              <a:rPr lang="en-US" b="1" dirty="0"/>
              <a:t>Scatterplots</a:t>
            </a:r>
            <a:r>
              <a:rPr lang="en-US" dirty="0"/>
              <a:t>: Visualize relationships between two numerical variables.</a:t>
            </a:r>
          </a:p>
        </p:txBody>
      </p:sp>
    </p:spTree>
    <p:extLst>
      <p:ext uri="{BB962C8B-B14F-4D97-AF65-F5344CB8AC3E}">
        <p14:creationId xmlns:p14="http://schemas.microsoft.com/office/powerpoint/2010/main" val="3488856746"/>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dirty="0"/>
              <a:t>Types of Data Summarization Techniques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55000" lnSpcReduction="20000"/>
          </a:bodyPr>
          <a:lstStyle/>
          <a:p>
            <a:pPr algn="just">
              <a:buFont typeface="+mj-lt"/>
              <a:buAutoNum type="arabicPeriod"/>
            </a:pPr>
            <a:r>
              <a:rPr lang="en-US" b="1" dirty="0"/>
              <a:t>Numerical Summarization</a:t>
            </a:r>
            <a:r>
              <a:rPr lang="en-US" dirty="0"/>
              <a:t>:</a:t>
            </a:r>
          </a:p>
          <a:p>
            <a:pPr marL="742950" lvl="1" indent="-285750" algn="just">
              <a:buFont typeface="+mj-lt"/>
              <a:buAutoNum type="arabicPeriod"/>
            </a:pPr>
            <a:r>
              <a:rPr lang="en-US" dirty="0"/>
              <a:t>Involves computing summary statistics to represent key features of the dataset. Some commonly used techniques include:</a:t>
            </a:r>
          </a:p>
          <a:p>
            <a:pPr marL="1143000" lvl="2" indent="-228600" algn="just">
              <a:buFont typeface="+mj-lt"/>
              <a:buAutoNum type="arabicPeriod"/>
            </a:pPr>
            <a:r>
              <a:rPr lang="en-US" b="1" dirty="0"/>
              <a:t>Five-Number Summary</a:t>
            </a:r>
            <a:r>
              <a:rPr lang="en-US" dirty="0"/>
              <a:t>: Provides a quick overview of a dataset using five key values: minimum, first quartile (Q1), median, third quartile (Q3), and maximum.</a:t>
            </a:r>
          </a:p>
          <a:p>
            <a:pPr marL="1143000" lvl="2" indent="-228600" algn="just">
              <a:buFont typeface="+mj-lt"/>
              <a:buAutoNum type="arabicPeriod"/>
            </a:pPr>
            <a:r>
              <a:rPr lang="en-US" b="1" dirty="0"/>
              <a:t>Moments</a:t>
            </a:r>
            <a:r>
              <a:rPr lang="en-US" dirty="0"/>
              <a:t>: Mean (1st moment), variance (2nd moment), skewness (3rd moment), and kurtosis (4th moment).</a:t>
            </a:r>
          </a:p>
          <a:p>
            <a:pPr marL="1143000" lvl="2" indent="-228600" algn="just">
              <a:buFont typeface="+mj-lt"/>
              <a:buAutoNum type="arabicPeriod"/>
            </a:pPr>
            <a:r>
              <a:rPr lang="en-US" b="1" dirty="0"/>
              <a:t>Percentiles</a:t>
            </a:r>
            <a:r>
              <a:rPr lang="en-US" dirty="0"/>
              <a:t>: Indicates the value below which a given percentage of observations fall (e.g., 90th percentile).</a:t>
            </a:r>
          </a:p>
          <a:p>
            <a:pPr marL="1143000" lvl="2" indent="-228600" algn="just">
              <a:buFont typeface="+mj-lt"/>
              <a:buAutoNum type="arabicPeriod"/>
            </a:pPr>
            <a:r>
              <a:rPr lang="en-US" b="1" dirty="0"/>
              <a:t>Correlation Coefficient</a:t>
            </a:r>
            <a:r>
              <a:rPr lang="en-US" dirty="0"/>
              <a:t>: Measures the strength and direction of the relationship between two variables (e.g., Pearson or Spearman correlation).</a:t>
            </a:r>
          </a:p>
          <a:p>
            <a:pPr algn="just">
              <a:buFont typeface="+mj-lt"/>
              <a:buAutoNum type="arabicPeriod"/>
            </a:pPr>
            <a:r>
              <a:rPr lang="en-US" b="1" dirty="0"/>
              <a:t>Dimensionality Reduction</a:t>
            </a:r>
            <a:r>
              <a:rPr lang="en-US" dirty="0"/>
              <a:t>:</a:t>
            </a:r>
          </a:p>
          <a:p>
            <a:pPr marL="742950" lvl="1" indent="-285750" algn="just">
              <a:buFont typeface="+mj-lt"/>
              <a:buAutoNum type="arabicPeriod"/>
            </a:pPr>
            <a:r>
              <a:rPr lang="en-US" dirty="0"/>
              <a:t>For large datasets with many variables, </a:t>
            </a:r>
            <a:r>
              <a:rPr lang="en-US" b="1" dirty="0"/>
              <a:t>dimensionality reduction</a:t>
            </a:r>
            <a:r>
              <a:rPr lang="en-US" dirty="0"/>
              <a:t> techniques summarize the data by reducing the number of features while retaining most of the variability or structure.</a:t>
            </a:r>
          </a:p>
          <a:p>
            <a:pPr marL="742950" lvl="1" indent="-285750" algn="just">
              <a:buFont typeface="+mj-lt"/>
              <a:buAutoNum type="arabicPeriod"/>
            </a:pPr>
            <a:r>
              <a:rPr lang="en-US" dirty="0"/>
              <a:t>Common techniques include:</a:t>
            </a:r>
          </a:p>
          <a:p>
            <a:pPr marL="1143000" lvl="2" indent="-228600" algn="just">
              <a:buFont typeface="+mj-lt"/>
              <a:buAutoNum type="arabicPeriod"/>
            </a:pPr>
            <a:r>
              <a:rPr lang="en-US" b="1" dirty="0"/>
              <a:t>Principal Component Analysis (PCA)</a:t>
            </a:r>
            <a:r>
              <a:rPr lang="en-US" dirty="0"/>
              <a:t>: Transforms the data into a set of uncorrelated variables (principal components) that capture the most variance.</a:t>
            </a:r>
          </a:p>
          <a:p>
            <a:pPr marL="1143000" lvl="2" indent="-228600" algn="just">
              <a:buFont typeface="+mj-lt"/>
              <a:buAutoNum type="arabicPeriod"/>
            </a:pPr>
            <a:r>
              <a:rPr lang="en-US" b="1" dirty="0"/>
              <a:t>Factor Analysis</a:t>
            </a:r>
            <a:r>
              <a:rPr lang="en-US" dirty="0"/>
              <a:t>: Identifies underlying factors that explain the correlations among observed variables.</a:t>
            </a:r>
          </a:p>
          <a:p>
            <a:pPr marL="1143000" lvl="2" indent="-228600" algn="just">
              <a:buFont typeface="+mj-lt"/>
              <a:buAutoNum type="arabicPeriod"/>
            </a:pPr>
            <a:r>
              <a:rPr lang="en-US" b="1" dirty="0"/>
              <a:t>t-SNE (t-distributed Stochastic Neighbor Embedding)</a:t>
            </a:r>
            <a:r>
              <a:rPr lang="en-US" dirty="0"/>
              <a:t>: Reduces dimensionality while preserving the structure of high-dimensional data for visualization.</a:t>
            </a:r>
          </a:p>
          <a:p>
            <a:pPr marL="1143000" lvl="2" indent="-228600" algn="just">
              <a:buFont typeface="+mj-lt"/>
              <a:buAutoNum type="arabicPeriod"/>
            </a:pPr>
            <a:r>
              <a:rPr lang="en-US" b="1" dirty="0"/>
              <a:t>Linear Discriminant Analysis (LDA)</a:t>
            </a:r>
            <a:r>
              <a:rPr lang="en-US" dirty="0"/>
              <a:t>: Maximizes the separation between multiple classes for classification problems.</a:t>
            </a:r>
          </a:p>
          <a:p>
            <a:pPr algn="just">
              <a:buFont typeface="+mj-lt"/>
              <a:buAutoNum type="arabicPeriod"/>
            </a:pPr>
            <a:r>
              <a:rPr lang="en-US" b="1" dirty="0"/>
              <a:t>Aggregation and Grouping</a:t>
            </a:r>
            <a:r>
              <a:rPr lang="en-US" dirty="0"/>
              <a:t>:</a:t>
            </a:r>
          </a:p>
          <a:p>
            <a:pPr marL="742950" lvl="1" indent="-285750" algn="just">
              <a:buFont typeface="+mj-lt"/>
              <a:buAutoNum type="arabicPeriod"/>
            </a:pPr>
            <a:r>
              <a:rPr lang="en-US" b="1" dirty="0"/>
              <a:t>Aggregation</a:t>
            </a:r>
            <a:r>
              <a:rPr lang="en-US" dirty="0"/>
              <a:t> techniques summarize data by grouping it based on one or more variables and computing summary statistics for each group.</a:t>
            </a:r>
          </a:p>
          <a:p>
            <a:pPr marL="742950" lvl="1" indent="-285750" algn="just">
              <a:buFont typeface="+mj-lt"/>
              <a:buAutoNum type="arabicPeriod"/>
            </a:pPr>
            <a:r>
              <a:rPr lang="en-US" dirty="0"/>
              <a:t>Common methods include:</a:t>
            </a:r>
          </a:p>
          <a:p>
            <a:pPr marL="1143000" lvl="2" indent="-228600" algn="just">
              <a:buFont typeface="+mj-lt"/>
              <a:buAutoNum type="arabicPeriod"/>
            </a:pPr>
            <a:r>
              <a:rPr lang="en-US" b="1" dirty="0"/>
              <a:t>Group by</a:t>
            </a:r>
            <a:r>
              <a:rPr lang="en-US" dirty="0"/>
              <a:t>: In databases or programming languages (e.g., SQL or Python), data can be grouped by one or more categorical variables, and summary statistics (e.g., mean, sum, count) can be computed for each group.</a:t>
            </a:r>
          </a:p>
          <a:p>
            <a:pPr marL="1143000" lvl="2" indent="-228600" algn="just">
              <a:buFont typeface="+mj-lt"/>
              <a:buAutoNum type="arabicPeriod"/>
            </a:pPr>
            <a:r>
              <a:rPr lang="en-US" b="1" dirty="0"/>
              <a:t>Pivot Tables</a:t>
            </a:r>
            <a:r>
              <a:rPr lang="en-US" dirty="0"/>
              <a:t>: In Excel or similar tools, pivot tables allow you to summarize and analyze data by organizing it in a matrix format and applying aggregation functions (e.g., sum, average, count) for rows and columns.</a:t>
            </a:r>
          </a:p>
        </p:txBody>
      </p:sp>
    </p:spTree>
    <p:extLst>
      <p:ext uri="{BB962C8B-B14F-4D97-AF65-F5344CB8AC3E}">
        <p14:creationId xmlns:p14="http://schemas.microsoft.com/office/powerpoint/2010/main" val="907544240"/>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Tasks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indent="0" algn="just">
              <a:buNone/>
            </a:pPr>
            <a:r>
              <a:rPr lang="en-US" b="1" dirty="0"/>
              <a:t>1. Data Exploration and Summarization</a:t>
            </a:r>
          </a:p>
          <a:p>
            <a:pPr marL="0" indent="0" algn="just">
              <a:buNone/>
            </a:pPr>
            <a:r>
              <a:rPr lang="en-US" dirty="0"/>
              <a:t>a) Create a comprehensive summary of your dataset using descriptive statistics and visualizations. </a:t>
            </a:r>
          </a:p>
          <a:p>
            <a:pPr marL="0" indent="0" algn="just">
              <a:buNone/>
            </a:pPr>
            <a:r>
              <a:rPr lang="en-US" dirty="0"/>
              <a:t>b) Plot the empirical cumulative distribution function (ECDF) for at least two numerical columns and compare them with their theoretical CDFs. </a:t>
            </a:r>
          </a:p>
          <a:p>
            <a:pPr marL="0" indent="0" algn="just">
              <a:buNone/>
            </a:pPr>
            <a:r>
              <a:rPr lang="en-US" dirty="0"/>
              <a:t>c) Create quantile-quantile plots for different columns and interpret any deviations from normality. </a:t>
            </a:r>
          </a:p>
          <a:p>
            <a:pPr marL="0" indent="0" algn="just">
              <a:buNone/>
            </a:pPr>
            <a:r>
              <a:rPr lang="en-US" dirty="0"/>
              <a:t>d) Calculate and compare different measures of location (mean, median, trimmed mean) and dispersion (IQR, standard deviation) for numerical columns. </a:t>
            </a:r>
          </a:p>
          <a:p>
            <a:pPr marL="0" indent="0" algn="just">
              <a:buNone/>
            </a:pPr>
            <a:r>
              <a:rPr lang="en-US" dirty="0"/>
              <a:t>e) Create boxplots to visualize the distribution of numerical variables across different groups.</a:t>
            </a:r>
          </a:p>
        </p:txBody>
      </p:sp>
    </p:spTree>
    <p:extLst>
      <p:ext uri="{BB962C8B-B14F-4D97-AF65-F5344CB8AC3E}">
        <p14:creationId xmlns:p14="http://schemas.microsoft.com/office/powerpoint/2010/main" val="1335083651"/>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Tasks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7500" lnSpcReduction="20000"/>
          </a:bodyPr>
          <a:lstStyle/>
          <a:p>
            <a:pPr marL="0" indent="0" algn="just">
              <a:buNone/>
            </a:pPr>
            <a:r>
              <a:rPr lang="en-US" b="1" dirty="0"/>
              <a:t>2. Hypothesis Testing and A/B Testing</a:t>
            </a:r>
          </a:p>
          <a:p>
            <a:pPr marL="0" indent="0" algn="just">
              <a:buNone/>
            </a:pPr>
            <a:r>
              <a:rPr lang="en-US" dirty="0"/>
              <a:t>a) Design an A/B test using your dataset. Clearly state your null and alternative hypotheses. </a:t>
            </a:r>
          </a:p>
          <a:p>
            <a:pPr marL="0" indent="0" algn="just">
              <a:buNone/>
            </a:pPr>
            <a:r>
              <a:rPr lang="en-US" dirty="0"/>
              <a:t>b) Conduct the A/B test using an appropriate statistical test (e.g., t-test, chi-square test). </a:t>
            </a:r>
          </a:p>
          <a:p>
            <a:pPr marL="0" indent="0" algn="just">
              <a:buNone/>
            </a:pPr>
            <a:r>
              <a:rPr lang="en-US" dirty="0"/>
              <a:t>c) Calculate the p-value and interpret the significance of your results. </a:t>
            </a:r>
          </a:p>
          <a:p>
            <a:pPr marL="0" indent="0" algn="just">
              <a:buNone/>
            </a:pPr>
            <a:r>
              <a:rPr lang="en-US" dirty="0"/>
              <a:t>d) Discuss the potential impact of multiple testing on your results.</a:t>
            </a:r>
          </a:p>
          <a:p>
            <a:pPr marL="0" indent="0" algn="just">
              <a:buNone/>
            </a:pPr>
            <a:r>
              <a:rPr lang="en-US" b="1" dirty="0"/>
              <a:t>3. Advanced Statistical Techniques</a:t>
            </a:r>
          </a:p>
          <a:p>
            <a:pPr marL="0" indent="0" algn="just">
              <a:buNone/>
            </a:pPr>
            <a:r>
              <a:rPr lang="en-US" dirty="0"/>
              <a:t>a) Perform a permutation test to compare two groups in your dataset. Use resampling techniques to estimate p-values. </a:t>
            </a:r>
          </a:p>
          <a:p>
            <a:pPr marL="0" indent="0" algn="just">
              <a:buNone/>
            </a:pPr>
            <a:r>
              <a:rPr lang="en-US" dirty="0"/>
              <a:t>b) Conduct a one-way ANOVA test to compare means across multiple groups. Interpret the F-statistic and post-hoc tests if applicable. </a:t>
            </a:r>
          </a:p>
          <a:p>
            <a:pPr marL="0" indent="0" algn="just">
              <a:buNone/>
            </a:pPr>
            <a:r>
              <a:rPr lang="en-US" dirty="0"/>
              <a:t>c) Perform a chi-square test for independence on categorical data in your dataset. </a:t>
            </a:r>
          </a:p>
          <a:p>
            <a:pPr marL="0" indent="0" algn="just">
              <a:buNone/>
            </a:pPr>
            <a:r>
              <a:rPr lang="en-US" dirty="0"/>
              <a:t>d) Use Fisher's Exact Test on a contingency table from your dataset. Compare the results with the chi-square test and discuss when each test is more appropriate.</a:t>
            </a:r>
          </a:p>
        </p:txBody>
      </p:sp>
    </p:spTree>
    <p:extLst>
      <p:ext uri="{BB962C8B-B14F-4D97-AF65-F5344CB8AC3E}">
        <p14:creationId xmlns:p14="http://schemas.microsoft.com/office/powerpoint/2010/main" val="547513947"/>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Tasks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marL="0" indent="0" algn="just">
              <a:buNone/>
            </a:pPr>
            <a:r>
              <a:rPr lang="en-US" b="1" dirty="0"/>
              <a:t>4. Power Analysis and Sample Size</a:t>
            </a:r>
          </a:p>
          <a:p>
            <a:pPr marL="0" indent="0" algn="just">
              <a:buNone/>
            </a:pPr>
            <a:r>
              <a:rPr lang="en-US" dirty="0"/>
              <a:t>a) For one of your hypothesis tests, calculate the power of the test. </a:t>
            </a:r>
          </a:p>
          <a:p>
            <a:pPr marL="0" indent="0" algn="just">
              <a:buNone/>
            </a:pPr>
            <a:r>
              <a:rPr lang="en-US" dirty="0"/>
              <a:t>b) Determine the required sample size for a given effect size in your dataset. </a:t>
            </a:r>
          </a:p>
          <a:p>
            <a:pPr marL="0" indent="0" algn="just">
              <a:buNone/>
            </a:pPr>
            <a:r>
              <a:rPr lang="en-US" dirty="0"/>
              <a:t>c) Discuss how changes in sample size might affect your study's conclusions.</a:t>
            </a:r>
          </a:p>
          <a:p>
            <a:pPr marL="0" indent="0" algn="just">
              <a:buNone/>
            </a:pPr>
            <a:r>
              <a:rPr lang="en-US" b="1" dirty="0"/>
              <a:t>5. Bootstrap Analysis</a:t>
            </a:r>
          </a:p>
          <a:p>
            <a:pPr marL="0" indent="0" algn="just">
              <a:buNone/>
            </a:pPr>
            <a:r>
              <a:rPr lang="en-US" dirty="0"/>
              <a:t>a) Use bootstrap resampling to estimate the variability of location estimates (e.g., mean, median) in your dataset. </a:t>
            </a:r>
          </a:p>
          <a:p>
            <a:pPr marL="0" indent="0" algn="just">
              <a:buNone/>
            </a:pPr>
            <a:r>
              <a:rPr lang="en-US" dirty="0"/>
              <a:t>b) Create confidence intervals for these estimates using the bootstrap results. </a:t>
            </a:r>
          </a:p>
          <a:p>
            <a:pPr marL="0" indent="0" algn="just">
              <a:buNone/>
            </a:pPr>
            <a:r>
              <a:rPr lang="en-US" dirty="0"/>
              <a:t>c) Discuss the advantages and limitations of bootstrap methods in your analysis.</a:t>
            </a:r>
          </a:p>
        </p:txBody>
      </p:sp>
    </p:spTree>
    <p:extLst>
      <p:ext uri="{BB962C8B-B14F-4D97-AF65-F5344CB8AC3E}">
        <p14:creationId xmlns:p14="http://schemas.microsoft.com/office/powerpoint/2010/main" val="3319627100"/>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Tasks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marL="0" indent="0" algn="just">
              <a:buNone/>
            </a:pPr>
            <a:r>
              <a:rPr lang="en-US" b="1" dirty="0"/>
              <a:t>6. Comprehensive Report</a:t>
            </a:r>
          </a:p>
          <a:p>
            <a:pPr marL="0" indent="0" algn="just">
              <a:buNone/>
            </a:pPr>
            <a:r>
              <a:rPr lang="en-US" dirty="0"/>
              <a:t>Compile a comprehensive report of your findings, including: </a:t>
            </a:r>
          </a:p>
          <a:p>
            <a:pPr marL="0" indent="0" algn="just">
              <a:buNone/>
            </a:pPr>
            <a:r>
              <a:rPr lang="en-US" dirty="0"/>
              <a:t>a) An executive summary of your main findings. </a:t>
            </a:r>
          </a:p>
          <a:p>
            <a:pPr marL="0" indent="0" algn="just">
              <a:buNone/>
            </a:pPr>
            <a:r>
              <a:rPr lang="en-US" dirty="0"/>
              <a:t>b) Detailed methodology for each analysis performed. </a:t>
            </a:r>
          </a:p>
          <a:p>
            <a:pPr marL="0" indent="0" algn="just">
              <a:buNone/>
            </a:pPr>
            <a:r>
              <a:rPr lang="en-US" dirty="0"/>
              <a:t>c) Visualizations and tables to support your results. </a:t>
            </a:r>
          </a:p>
          <a:p>
            <a:pPr marL="0" indent="0" algn="just">
              <a:buNone/>
            </a:pPr>
            <a:r>
              <a:rPr lang="en-US" dirty="0"/>
              <a:t>d) Interpretation of all statistical tests and their practical significance. </a:t>
            </a:r>
          </a:p>
          <a:p>
            <a:pPr marL="0" indent="0" algn="just">
              <a:buNone/>
            </a:pPr>
            <a:r>
              <a:rPr lang="en-US" dirty="0"/>
              <a:t>e) Discussion of any limitations in your analysis and potential future directions.</a:t>
            </a:r>
          </a:p>
        </p:txBody>
      </p:sp>
    </p:spTree>
    <p:extLst>
      <p:ext uri="{BB962C8B-B14F-4D97-AF65-F5344CB8AC3E}">
        <p14:creationId xmlns:p14="http://schemas.microsoft.com/office/powerpoint/2010/main" val="762486121"/>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Tasks</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77500" lnSpcReduction="20000"/>
          </a:bodyPr>
          <a:lstStyle/>
          <a:p>
            <a:pPr algn="just"/>
            <a:r>
              <a:rPr lang="en-US" b="1" dirty="0"/>
              <a:t>Deliverables</a:t>
            </a:r>
          </a:p>
          <a:p>
            <a:pPr algn="just">
              <a:buFont typeface="+mj-lt"/>
              <a:buAutoNum type="arabicPeriod"/>
            </a:pPr>
            <a:r>
              <a:rPr lang="en-US" dirty="0"/>
              <a:t>A </a:t>
            </a:r>
            <a:r>
              <a:rPr lang="en-US" dirty="0" err="1"/>
              <a:t>Jupyter</a:t>
            </a:r>
            <a:r>
              <a:rPr lang="en-US" dirty="0"/>
              <a:t> notebook or R Markdown file containing all your code and analysis.</a:t>
            </a:r>
          </a:p>
          <a:p>
            <a:pPr algn="just">
              <a:buFont typeface="+mj-lt"/>
              <a:buAutoNum type="arabicPeriod"/>
            </a:pPr>
            <a:r>
              <a:rPr lang="en-US" dirty="0"/>
              <a:t>A written report (PDF format) summarizing your findings, methodologies, and interpretations.</a:t>
            </a:r>
          </a:p>
          <a:p>
            <a:pPr algn="just">
              <a:buFont typeface="+mj-lt"/>
              <a:buAutoNum type="arabicPeriod"/>
            </a:pPr>
            <a:r>
              <a:rPr lang="en-US" dirty="0"/>
              <a:t>A 10-minute presentation highlighting the key insights from your analysis.</a:t>
            </a:r>
          </a:p>
          <a:p>
            <a:pPr algn="just">
              <a:buFont typeface="+mj-lt"/>
              <a:buAutoNum type="arabicPeriod"/>
            </a:pPr>
            <a:endParaRPr lang="en-US" dirty="0"/>
          </a:p>
          <a:p>
            <a:pPr algn="just"/>
            <a:r>
              <a:rPr lang="en-US" b="1" dirty="0"/>
              <a:t>Evaluation Criteria</a:t>
            </a:r>
          </a:p>
          <a:p>
            <a:pPr algn="just">
              <a:buFont typeface="Arial" panose="020B0604020202020204" pitchFamily="34" charset="0"/>
              <a:buChar char="•"/>
            </a:pPr>
            <a:r>
              <a:rPr lang="en-US" dirty="0"/>
              <a:t>Correct application of statistical techniques</a:t>
            </a:r>
          </a:p>
          <a:p>
            <a:pPr algn="just">
              <a:buFont typeface="Arial" panose="020B0604020202020204" pitchFamily="34" charset="0"/>
              <a:buChar char="•"/>
            </a:pPr>
            <a:r>
              <a:rPr lang="en-US" dirty="0"/>
              <a:t>Depth and quality of data exploration and visualization</a:t>
            </a:r>
          </a:p>
          <a:p>
            <a:pPr algn="just">
              <a:buFont typeface="Arial" panose="020B0604020202020204" pitchFamily="34" charset="0"/>
              <a:buChar char="•"/>
            </a:pPr>
            <a:r>
              <a:rPr lang="en-US" dirty="0"/>
              <a:t>Clarity and accuracy of interpretations</a:t>
            </a:r>
          </a:p>
          <a:p>
            <a:pPr algn="just">
              <a:buFont typeface="Arial" panose="020B0604020202020204" pitchFamily="34" charset="0"/>
              <a:buChar char="•"/>
            </a:pPr>
            <a:r>
              <a:rPr lang="en-US" dirty="0"/>
              <a:t>Thoughtfulness in discussing limitations and implications</a:t>
            </a:r>
          </a:p>
          <a:p>
            <a:pPr algn="just">
              <a:buFont typeface="Arial" panose="020B0604020202020204" pitchFamily="34" charset="0"/>
              <a:buChar char="•"/>
            </a:pPr>
            <a:r>
              <a:rPr lang="en-US" dirty="0"/>
              <a:t>Overall presentation and organization of the report</a:t>
            </a:r>
          </a:p>
        </p:txBody>
      </p:sp>
    </p:spTree>
    <p:extLst>
      <p:ext uri="{BB962C8B-B14F-4D97-AF65-F5344CB8AC3E}">
        <p14:creationId xmlns:p14="http://schemas.microsoft.com/office/powerpoint/2010/main" val="247143281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The Kruskal-Wallis Test</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dirty="0"/>
              <a:t>The </a:t>
            </a:r>
            <a:r>
              <a:rPr lang="en-US" b="1" dirty="0"/>
              <a:t>Kruskal-Wallis test</a:t>
            </a:r>
            <a:r>
              <a:rPr lang="en-US" dirty="0"/>
              <a:t> is a non-parametric statistical test used to determine whether there are significant differences between the medians of three or more independent groups. It is the non-parametric alternative to one-way ANOVA and is used when the assumptions of ANOVA, such as normality of the data, are not met. The test assesses whether the distributions of the groups differ significantly, and it is particularly useful when the data is ordinal or when the sample sizes are small.</a:t>
            </a:r>
          </a:p>
        </p:txBody>
      </p:sp>
    </p:spTree>
    <p:extLst>
      <p:ext uri="{BB962C8B-B14F-4D97-AF65-F5344CB8AC3E}">
        <p14:creationId xmlns:p14="http://schemas.microsoft.com/office/powerpoint/2010/main" val="3694899094"/>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The Kruskal-Wallis Test</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algn="just">
              <a:buFont typeface="+mj-lt"/>
              <a:buAutoNum type="arabicPeriod"/>
            </a:pPr>
            <a:r>
              <a:rPr lang="en-US" b="1" dirty="0"/>
              <a:t>Non-Parametric Test</a:t>
            </a:r>
            <a:r>
              <a:rPr lang="en-US" dirty="0"/>
              <a:t>:</a:t>
            </a:r>
          </a:p>
          <a:p>
            <a:pPr marL="742950" lvl="1" indent="-285750" algn="just">
              <a:buFont typeface="+mj-lt"/>
              <a:buAutoNum type="arabicPeriod"/>
            </a:pPr>
            <a:r>
              <a:rPr lang="en-US" dirty="0"/>
              <a:t>The Kruskal-Wallis test does not assume a normal distribution of the data, making it suitable for skewed data or data with outliers.</a:t>
            </a:r>
          </a:p>
          <a:p>
            <a:pPr marL="742950" lvl="1" indent="-285750" algn="just">
              <a:buFont typeface="+mj-lt"/>
              <a:buAutoNum type="arabicPeriod"/>
            </a:pPr>
            <a:r>
              <a:rPr lang="en-US" dirty="0"/>
              <a:t>It is based on the ranks of the data, rather than the raw data values.</a:t>
            </a:r>
          </a:p>
          <a:p>
            <a:pPr algn="just">
              <a:buFont typeface="+mj-lt"/>
              <a:buAutoNum type="arabicPeriod"/>
            </a:pPr>
            <a:r>
              <a:rPr lang="en-US" b="1" dirty="0"/>
              <a:t>Comparison of Medians</a:t>
            </a:r>
            <a:r>
              <a:rPr lang="en-US" dirty="0"/>
              <a:t>:</a:t>
            </a:r>
          </a:p>
          <a:p>
            <a:pPr marL="742950" lvl="1" indent="-285750" algn="just">
              <a:buFont typeface="+mj-lt"/>
              <a:buAutoNum type="arabicPeriod"/>
            </a:pPr>
            <a:r>
              <a:rPr lang="en-US" dirty="0"/>
              <a:t>The Kruskal-Wallis test compares the medians of three or more independent groups to determine if they come from the same population.</a:t>
            </a:r>
          </a:p>
          <a:p>
            <a:pPr algn="just">
              <a:buFont typeface="+mj-lt"/>
              <a:buAutoNum type="arabicPeriod"/>
            </a:pPr>
            <a:r>
              <a:rPr lang="en-US" b="1" dirty="0"/>
              <a:t>Null and Alternative Hypotheses</a:t>
            </a:r>
            <a:r>
              <a:rPr lang="en-US" dirty="0"/>
              <a:t>:</a:t>
            </a:r>
          </a:p>
          <a:p>
            <a:pPr marL="742950" lvl="1" indent="-285750" algn="just">
              <a:buFont typeface="+mj-lt"/>
              <a:buAutoNum type="arabicPeriod"/>
            </a:pPr>
            <a:r>
              <a:rPr lang="en-US" b="1" dirty="0"/>
              <a:t>Null Hypothesis (H₀)</a:t>
            </a:r>
            <a:r>
              <a:rPr lang="en-US" dirty="0"/>
              <a:t>: The medians of all groups are equal.</a:t>
            </a:r>
          </a:p>
          <a:p>
            <a:pPr marL="742950" lvl="1" indent="-285750" algn="just">
              <a:buFont typeface="+mj-lt"/>
              <a:buAutoNum type="arabicPeriod"/>
            </a:pPr>
            <a:r>
              <a:rPr lang="en-US" b="1" dirty="0"/>
              <a:t>Alternative Hypothesis (H₁)</a:t>
            </a:r>
            <a:r>
              <a:rPr lang="en-US" dirty="0"/>
              <a:t>: At least one group has a median that differs from the others.</a:t>
            </a:r>
          </a:p>
        </p:txBody>
      </p:sp>
    </p:spTree>
    <p:extLst>
      <p:ext uri="{BB962C8B-B14F-4D97-AF65-F5344CB8AC3E}">
        <p14:creationId xmlns:p14="http://schemas.microsoft.com/office/powerpoint/2010/main" val="1604485033"/>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Assumptions of the Kruskal-Wallis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b="1" dirty="0"/>
              <a:t>Independence</a:t>
            </a:r>
            <a:r>
              <a:rPr lang="en-US" dirty="0"/>
              <a:t>:</a:t>
            </a:r>
          </a:p>
          <a:p>
            <a:pPr marL="742950" lvl="1" indent="-285750" algn="just">
              <a:buFont typeface="+mj-lt"/>
              <a:buAutoNum type="arabicPeriod"/>
            </a:pPr>
            <a:r>
              <a:rPr lang="en-US" dirty="0"/>
              <a:t>The observations in each group are independent of each other.</a:t>
            </a:r>
          </a:p>
          <a:p>
            <a:pPr algn="just">
              <a:buFont typeface="+mj-lt"/>
              <a:buAutoNum type="arabicPeriod"/>
            </a:pPr>
            <a:r>
              <a:rPr lang="en-US" b="1" dirty="0"/>
              <a:t>Ordinal or Continuous Data</a:t>
            </a:r>
            <a:r>
              <a:rPr lang="en-US" dirty="0"/>
              <a:t>:</a:t>
            </a:r>
          </a:p>
          <a:p>
            <a:pPr marL="742950" lvl="1" indent="-285750" algn="just">
              <a:buFont typeface="+mj-lt"/>
              <a:buAutoNum type="arabicPeriod"/>
            </a:pPr>
            <a:r>
              <a:rPr lang="en-US" dirty="0"/>
              <a:t>The data should be at least ordinal, meaning it can be ranked. Continuous data can also be used.</a:t>
            </a:r>
          </a:p>
          <a:p>
            <a:pPr algn="just">
              <a:buFont typeface="+mj-lt"/>
              <a:buAutoNum type="arabicPeriod"/>
            </a:pPr>
            <a:r>
              <a:rPr lang="en-US" b="1" dirty="0"/>
              <a:t>Independent Groups</a:t>
            </a:r>
            <a:r>
              <a:rPr lang="en-US" dirty="0"/>
              <a:t>:</a:t>
            </a:r>
          </a:p>
          <a:p>
            <a:pPr marL="742950" lvl="1" indent="-285750" algn="just">
              <a:buFont typeface="+mj-lt"/>
              <a:buAutoNum type="arabicPeriod"/>
            </a:pPr>
            <a:r>
              <a:rPr lang="en-US" dirty="0"/>
              <a:t>The groups being compared should be independent (i.e., no repeated measurements or paired data).</a:t>
            </a:r>
          </a:p>
        </p:txBody>
      </p:sp>
    </p:spTree>
    <p:extLst>
      <p:ext uri="{BB962C8B-B14F-4D97-AF65-F5344CB8AC3E}">
        <p14:creationId xmlns:p14="http://schemas.microsoft.com/office/powerpoint/2010/main" val="2324951310"/>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Test Procedure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b="1" dirty="0"/>
              <a:t>Rank the Data</a:t>
            </a:r>
            <a:r>
              <a:rPr lang="en-US" dirty="0"/>
              <a:t>:</a:t>
            </a:r>
          </a:p>
          <a:p>
            <a:pPr marL="742950" lvl="1" indent="-285750" algn="just">
              <a:buFont typeface="+mj-lt"/>
              <a:buAutoNum type="arabicPeriod"/>
            </a:pPr>
            <a:r>
              <a:rPr lang="en-US" dirty="0"/>
              <a:t>Combine all the data from the groups into a single dataset and rank the values from smallest to largest. Tied values are assigned the average of the ranks they would have received.</a:t>
            </a:r>
          </a:p>
          <a:p>
            <a:pPr algn="just">
              <a:buFont typeface="+mj-lt"/>
              <a:buAutoNum type="arabicPeriod"/>
            </a:pPr>
            <a:r>
              <a:rPr lang="en-US" b="1" dirty="0"/>
              <a:t>Calculate the Rank Sums</a:t>
            </a:r>
            <a:r>
              <a:rPr lang="en-US" dirty="0"/>
              <a:t>:</a:t>
            </a:r>
          </a:p>
          <a:p>
            <a:pPr marL="742950" lvl="1" indent="-285750" algn="just">
              <a:buFont typeface="+mj-lt"/>
              <a:buAutoNum type="arabicPeriod"/>
            </a:pPr>
            <a:r>
              <a:rPr lang="en-US" dirty="0"/>
              <a:t>For each group, sum the ranks of the data points within that group.</a:t>
            </a:r>
          </a:p>
        </p:txBody>
      </p:sp>
    </p:spTree>
    <p:extLst>
      <p:ext uri="{BB962C8B-B14F-4D97-AF65-F5344CB8AC3E}">
        <p14:creationId xmlns:p14="http://schemas.microsoft.com/office/powerpoint/2010/main" val="2869079253"/>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Test Procedure</a:t>
            </a:r>
          </a:p>
        </p:txBody>
      </p:sp>
      <p:pic>
        <p:nvPicPr>
          <p:cNvPr id="7" name="Picture 6">
            <a:extLst>
              <a:ext uri="{FF2B5EF4-FFF2-40B4-BE49-F238E27FC236}">
                <a16:creationId xmlns:a16="http://schemas.microsoft.com/office/drawing/2014/main" id="{C6069E84-9329-BBD9-465D-03A8F3F21E29}"/>
              </a:ext>
            </a:extLst>
          </p:cNvPr>
          <p:cNvPicPr>
            <a:picLocks noChangeAspect="1"/>
          </p:cNvPicPr>
          <p:nvPr/>
        </p:nvPicPr>
        <p:blipFill>
          <a:blip r:embed="rId3"/>
          <a:stretch>
            <a:fillRect/>
          </a:stretch>
        </p:blipFill>
        <p:spPr>
          <a:xfrm>
            <a:off x="1866677" y="1294088"/>
            <a:ext cx="8458646" cy="5337004"/>
          </a:xfrm>
          <a:prstGeom prst="rect">
            <a:avLst/>
          </a:prstGeom>
        </p:spPr>
      </p:pic>
    </p:spTree>
    <p:extLst>
      <p:ext uri="{BB962C8B-B14F-4D97-AF65-F5344CB8AC3E}">
        <p14:creationId xmlns:p14="http://schemas.microsoft.com/office/powerpoint/2010/main" val="626180690"/>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Test Procedure</a:t>
            </a:r>
          </a:p>
        </p:txBody>
      </p:sp>
      <p:pic>
        <p:nvPicPr>
          <p:cNvPr id="4" name="Picture 3">
            <a:extLst>
              <a:ext uri="{FF2B5EF4-FFF2-40B4-BE49-F238E27FC236}">
                <a16:creationId xmlns:a16="http://schemas.microsoft.com/office/drawing/2014/main" id="{7FA697ED-E50C-8EFE-1BCC-C3D815DAC4A0}"/>
              </a:ext>
            </a:extLst>
          </p:cNvPr>
          <p:cNvPicPr>
            <a:picLocks noChangeAspect="1"/>
          </p:cNvPicPr>
          <p:nvPr/>
        </p:nvPicPr>
        <p:blipFill>
          <a:blip r:embed="rId3"/>
          <a:stretch>
            <a:fillRect/>
          </a:stretch>
        </p:blipFill>
        <p:spPr>
          <a:xfrm>
            <a:off x="0" y="1712843"/>
            <a:ext cx="12192000" cy="3432313"/>
          </a:xfrm>
          <a:prstGeom prst="rect">
            <a:avLst/>
          </a:prstGeom>
        </p:spPr>
      </p:pic>
    </p:spTree>
    <p:extLst>
      <p:ext uri="{BB962C8B-B14F-4D97-AF65-F5344CB8AC3E}">
        <p14:creationId xmlns:p14="http://schemas.microsoft.com/office/powerpoint/2010/main" val="357231643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Advantages of the Kruskal-Wallis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b="1" dirty="0"/>
              <a:t>Non-Parametric</a:t>
            </a:r>
            <a:r>
              <a:rPr lang="en-US" dirty="0"/>
              <a:t>:</a:t>
            </a:r>
          </a:p>
          <a:p>
            <a:pPr marL="742950" lvl="1" indent="-285750" algn="just">
              <a:buFont typeface="+mj-lt"/>
              <a:buAutoNum type="arabicPeriod"/>
            </a:pPr>
            <a:r>
              <a:rPr lang="en-US" dirty="0"/>
              <a:t>It does not assume that the data is normally distributed, making it appropriate for skewed distributions or data with outliers.</a:t>
            </a:r>
          </a:p>
          <a:p>
            <a:pPr algn="just">
              <a:buFont typeface="+mj-lt"/>
              <a:buAutoNum type="arabicPeriod"/>
            </a:pPr>
            <a:r>
              <a:rPr lang="en-US" b="1" dirty="0"/>
              <a:t>Handles Ordinal Data</a:t>
            </a:r>
            <a:r>
              <a:rPr lang="en-US" dirty="0"/>
              <a:t>:</a:t>
            </a:r>
          </a:p>
          <a:p>
            <a:pPr marL="742950" lvl="1" indent="-285750" algn="just">
              <a:buFont typeface="+mj-lt"/>
              <a:buAutoNum type="arabicPeriod"/>
            </a:pPr>
            <a:r>
              <a:rPr lang="en-US" dirty="0"/>
              <a:t>Since the test uses ranks, it can be applied to ordinal data or continuous data that does not meet the assumptions of parametric tests.</a:t>
            </a:r>
          </a:p>
          <a:p>
            <a:pPr algn="just">
              <a:buFont typeface="+mj-lt"/>
              <a:buAutoNum type="arabicPeriod"/>
            </a:pPr>
            <a:r>
              <a:rPr lang="en-US" b="1" dirty="0"/>
              <a:t>More General Than ANOVA</a:t>
            </a:r>
            <a:r>
              <a:rPr lang="en-US" dirty="0"/>
              <a:t>:</a:t>
            </a:r>
          </a:p>
          <a:p>
            <a:pPr marL="742950" lvl="1" indent="-285750" algn="just">
              <a:buFont typeface="+mj-lt"/>
              <a:buAutoNum type="arabicPeriod"/>
            </a:pPr>
            <a:r>
              <a:rPr lang="en-US" dirty="0"/>
              <a:t>The Kruskal-Wallis test is a more general alternative to one-way ANOVA, as it can be used with non-normal data.</a:t>
            </a:r>
          </a:p>
        </p:txBody>
      </p:sp>
    </p:spTree>
    <p:extLst>
      <p:ext uri="{BB962C8B-B14F-4D97-AF65-F5344CB8AC3E}">
        <p14:creationId xmlns:p14="http://schemas.microsoft.com/office/powerpoint/2010/main" val="1827778241"/>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Disadvantages of the Kruskal-Wallis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b="1" dirty="0"/>
              <a:t>Less Powerful</a:t>
            </a:r>
            <a:r>
              <a:rPr lang="en-US" dirty="0"/>
              <a:t>:</a:t>
            </a:r>
          </a:p>
          <a:p>
            <a:pPr marL="742950" lvl="1" indent="-285750" algn="just">
              <a:buFont typeface="+mj-lt"/>
              <a:buAutoNum type="arabicPeriod"/>
            </a:pPr>
            <a:r>
              <a:rPr lang="en-US" dirty="0"/>
              <a:t>The Kruskal-Wallis test can be less powerful than ANOVA when the assumptions of normality and equal variances are met, leading to a higher chance of Type II errors (failing to detect a real difference).</a:t>
            </a:r>
          </a:p>
          <a:p>
            <a:pPr algn="just">
              <a:buFont typeface="+mj-lt"/>
              <a:buAutoNum type="arabicPeriod"/>
            </a:pPr>
            <a:r>
              <a:rPr lang="en-US" b="1" dirty="0"/>
              <a:t>Cannot Identify Which Groups Differ</a:t>
            </a:r>
            <a:r>
              <a:rPr lang="en-US" dirty="0"/>
              <a:t>:</a:t>
            </a:r>
          </a:p>
          <a:p>
            <a:pPr marL="742950" lvl="1" indent="-285750" algn="just">
              <a:buFont typeface="+mj-lt"/>
              <a:buAutoNum type="arabicPeriod"/>
            </a:pPr>
            <a:r>
              <a:rPr lang="en-US" dirty="0"/>
              <a:t>If the Kruskal-Wallis test detects a significant difference, it does not tell you which specific groups are different. A post-hoc test (e.g., Dunn’s test) is required for pairwise comparisons.</a:t>
            </a:r>
          </a:p>
          <a:p>
            <a:pPr algn="just">
              <a:buFont typeface="+mj-lt"/>
              <a:buAutoNum type="arabicPeriod"/>
            </a:pPr>
            <a:r>
              <a:rPr lang="en-US" b="1" dirty="0"/>
              <a:t>Requires Independent Observations</a:t>
            </a:r>
            <a:r>
              <a:rPr lang="en-US" dirty="0"/>
              <a:t>:</a:t>
            </a:r>
          </a:p>
          <a:p>
            <a:pPr marL="742950" lvl="1" indent="-285750" algn="just">
              <a:buFont typeface="+mj-lt"/>
              <a:buAutoNum type="arabicPeriod"/>
            </a:pPr>
            <a:r>
              <a:rPr lang="en-US" dirty="0"/>
              <a:t>The test assumes that the groups are independent. For repeated measures or paired data, a different test, such as the Friedman test, should be used.</a:t>
            </a:r>
          </a:p>
        </p:txBody>
      </p:sp>
    </p:spTree>
    <p:extLst>
      <p:ext uri="{BB962C8B-B14F-4D97-AF65-F5344CB8AC3E}">
        <p14:creationId xmlns:p14="http://schemas.microsoft.com/office/powerpoint/2010/main" val="4153638387"/>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Post-Hoc Testing</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r>
              <a:rPr lang="en-US" dirty="0"/>
              <a:t>If the Kruskal-Wallis test shows a significant result, post-hoc tests are needed to determine which groups differ from each other. Common post-hoc tests for the Kruskal-Wallis test include:</a:t>
            </a:r>
          </a:p>
          <a:p>
            <a:pPr>
              <a:buFont typeface="Arial" panose="020B0604020202020204" pitchFamily="34" charset="0"/>
              <a:buChar char="•"/>
            </a:pPr>
            <a:r>
              <a:rPr lang="en-US" b="1" dirty="0"/>
              <a:t>Dunn’s Test</a:t>
            </a:r>
            <a:r>
              <a:rPr lang="en-US" dirty="0"/>
              <a:t>: A non-parametric post-hoc test used to compare multiple pairwise comparisons after the Kruskal-Wallis test.</a:t>
            </a:r>
          </a:p>
          <a:p>
            <a:pPr>
              <a:buFont typeface="Arial" panose="020B0604020202020204" pitchFamily="34" charset="0"/>
              <a:buChar char="•"/>
            </a:pPr>
            <a:r>
              <a:rPr lang="en-US" b="1" dirty="0"/>
              <a:t>Bonferroni Correction</a:t>
            </a:r>
            <a:r>
              <a:rPr lang="en-US" dirty="0"/>
              <a:t>: Can be applied to adjust the significance level for multiple comparisons to avoid Type I errors.</a:t>
            </a:r>
          </a:p>
        </p:txBody>
      </p:sp>
    </p:spTree>
    <p:extLst>
      <p:ext uri="{BB962C8B-B14F-4D97-AF65-F5344CB8AC3E}">
        <p14:creationId xmlns:p14="http://schemas.microsoft.com/office/powerpoint/2010/main" val="1947820392"/>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Friedman’s Test</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r>
              <a:rPr lang="en-US" b="1" dirty="0"/>
              <a:t>Friedman’s test</a:t>
            </a:r>
            <a:r>
              <a:rPr lang="en-US" dirty="0"/>
              <a:t> is a non-parametric statistical test used to detect differences in treatments across multiple test attempts. It is the non-parametric equivalent of the </a:t>
            </a:r>
            <a:r>
              <a:rPr lang="en-US" b="1" dirty="0"/>
              <a:t>repeated measures ANOVA</a:t>
            </a:r>
            <a:r>
              <a:rPr lang="en-US" dirty="0"/>
              <a:t> and is used when the assumptions of normality and homogeneity of variances required for parametric tests are violated. The Friedman test is typically applied when you have three or more matched or repeated measures, such as multiple assessments of the same subjects under different conditions.</a:t>
            </a:r>
          </a:p>
        </p:txBody>
      </p:sp>
    </p:spTree>
    <p:extLst>
      <p:ext uri="{BB962C8B-B14F-4D97-AF65-F5344CB8AC3E}">
        <p14:creationId xmlns:p14="http://schemas.microsoft.com/office/powerpoint/2010/main" val="6234778"/>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IN" dirty="0"/>
              <a:t>Friedman’s Test</a:t>
            </a:r>
            <a:endParaRPr lang="en-US" b="1" dirty="0"/>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fontScale="92500" lnSpcReduction="20000"/>
          </a:bodyPr>
          <a:lstStyle/>
          <a:p>
            <a:pPr algn="just">
              <a:buFont typeface="+mj-lt"/>
              <a:buAutoNum type="arabicPeriod"/>
            </a:pPr>
            <a:r>
              <a:rPr lang="en-US" b="1" dirty="0"/>
              <a:t>Non-Parametric Test</a:t>
            </a:r>
            <a:r>
              <a:rPr lang="en-US" dirty="0"/>
              <a:t>:</a:t>
            </a:r>
          </a:p>
          <a:p>
            <a:pPr marL="742950" lvl="1" indent="-285750" algn="just">
              <a:buFont typeface="+mj-lt"/>
              <a:buAutoNum type="arabicPeriod"/>
            </a:pPr>
            <a:r>
              <a:rPr lang="en-US" dirty="0"/>
              <a:t>Friedman’s test does not assume normality of the data, making it suitable for non-normal distributions.</a:t>
            </a:r>
          </a:p>
          <a:p>
            <a:pPr marL="742950" lvl="1" indent="-285750" algn="just">
              <a:buFont typeface="+mj-lt"/>
              <a:buAutoNum type="arabicPeriod"/>
            </a:pPr>
            <a:r>
              <a:rPr lang="en-US" dirty="0"/>
              <a:t>It is based on </a:t>
            </a:r>
            <a:r>
              <a:rPr lang="en-US" b="1" dirty="0"/>
              <a:t>ranked data</a:t>
            </a:r>
            <a:r>
              <a:rPr lang="en-US" dirty="0"/>
              <a:t> rather than the actual data points, reducing the effect of outliers or skewed data.</a:t>
            </a:r>
          </a:p>
          <a:p>
            <a:pPr algn="just">
              <a:buFont typeface="+mj-lt"/>
              <a:buAutoNum type="arabicPeriod"/>
            </a:pPr>
            <a:r>
              <a:rPr lang="en-US" b="1" dirty="0"/>
              <a:t>Repeated Measures</a:t>
            </a:r>
            <a:r>
              <a:rPr lang="en-US" dirty="0"/>
              <a:t>:</a:t>
            </a:r>
          </a:p>
          <a:p>
            <a:pPr marL="742950" lvl="1" indent="-285750" algn="just">
              <a:buFont typeface="+mj-lt"/>
              <a:buAutoNum type="arabicPeriod"/>
            </a:pPr>
            <a:r>
              <a:rPr lang="en-US" dirty="0"/>
              <a:t>The test is used for repeated measures, meaning the same subjects are measured under different conditions or at different times.</a:t>
            </a:r>
          </a:p>
          <a:p>
            <a:pPr marL="742950" lvl="1" indent="-285750" algn="just">
              <a:buFont typeface="+mj-lt"/>
              <a:buAutoNum type="arabicPeriod"/>
            </a:pPr>
            <a:r>
              <a:rPr lang="en-US" dirty="0"/>
              <a:t>Each subject serves as its own control, reducing variability caused by individual differences.</a:t>
            </a:r>
          </a:p>
          <a:p>
            <a:pPr algn="just">
              <a:buFont typeface="+mj-lt"/>
              <a:buAutoNum type="arabicPeriod"/>
            </a:pPr>
            <a:r>
              <a:rPr lang="en-US" b="1" dirty="0"/>
              <a:t>Null and Alternative Hypotheses</a:t>
            </a:r>
            <a:r>
              <a:rPr lang="en-US" dirty="0"/>
              <a:t>:</a:t>
            </a:r>
          </a:p>
          <a:p>
            <a:pPr marL="742950" lvl="1" indent="-285750" algn="just">
              <a:buFont typeface="+mj-lt"/>
              <a:buAutoNum type="arabicPeriod"/>
            </a:pPr>
            <a:r>
              <a:rPr lang="en-US" b="1" dirty="0"/>
              <a:t>Null Hypothesis (H₀)</a:t>
            </a:r>
            <a:r>
              <a:rPr lang="en-US" dirty="0"/>
              <a:t>: The distributions of the groups (or treatments) are the same; there is no difference between treatments.</a:t>
            </a:r>
          </a:p>
          <a:p>
            <a:pPr marL="742950" lvl="1" indent="-285750" algn="just">
              <a:buFont typeface="+mj-lt"/>
              <a:buAutoNum type="arabicPeriod"/>
            </a:pPr>
            <a:r>
              <a:rPr lang="en-US" b="1" dirty="0"/>
              <a:t>Alternative Hypothesis (H₁)</a:t>
            </a:r>
            <a:r>
              <a:rPr lang="en-US" dirty="0"/>
              <a:t>: At least one of the treatments differs from the others.</a:t>
            </a:r>
          </a:p>
        </p:txBody>
      </p:sp>
    </p:spTree>
    <p:extLst>
      <p:ext uri="{BB962C8B-B14F-4D97-AF65-F5344CB8AC3E}">
        <p14:creationId xmlns:p14="http://schemas.microsoft.com/office/powerpoint/2010/main" val="1864346802"/>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Assumptions of Friedman’s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b="1" dirty="0"/>
              <a:t>Repeated Measures</a:t>
            </a:r>
            <a:r>
              <a:rPr lang="en-US" dirty="0"/>
              <a:t>:</a:t>
            </a:r>
          </a:p>
          <a:p>
            <a:pPr marL="742950" lvl="1" indent="-285750" algn="just">
              <a:buFont typeface="+mj-lt"/>
              <a:buAutoNum type="arabicPeriod"/>
            </a:pPr>
            <a:r>
              <a:rPr lang="en-US" dirty="0"/>
              <a:t>The test is appropriate when you have multiple measurements from the same subjects, such as different treatments or conditions applied to each subject.</a:t>
            </a:r>
          </a:p>
          <a:p>
            <a:pPr algn="just">
              <a:buFont typeface="+mj-lt"/>
              <a:buAutoNum type="arabicPeriod"/>
            </a:pPr>
            <a:r>
              <a:rPr lang="en-US" b="1" dirty="0"/>
              <a:t>Ordinal or Continuous Data</a:t>
            </a:r>
            <a:r>
              <a:rPr lang="en-US" dirty="0"/>
              <a:t>:</a:t>
            </a:r>
          </a:p>
          <a:p>
            <a:pPr marL="742950" lvl="1" indent="-285750" algn="just">
              <a:buFont typeface="+mj-lt"/>
              <a:buAutoNum type="arabicPeriod"/>
            </a:pPr>
            <a:r>
              <a:rPr lang="en-US" dirty="0"/>
              <a:t>Data should be at least ordinal (</a:t>
            </a:r>
            <a:r>
              <a:rPr lang="en-US" dirty="0" err="1"/>
              <a:t>rankable</a:t>
            </a:r>
            <a:r>
              <a:rPr lang="en-US" dirty="0"/>
              <a:t>), but continuous data can also be used.</a:t>
            </a:r>
          </a:p>
          <a:p>
            <a:pPr algn="just">
              <a:buFont typeface="+mj-lt"/>
              <a:buAutoNum type="arabicPeriod"/>
            </a:pPr>
            <a:r>
              <a:rPr lang="en-US" b="1" dirty="0"/>
              <a:t>Independent Blocks</a:t>
            </a:r>
            <a:r>
              <a:rPr lang="en-US" dirty="0"/>
              <a:t>:</a:t>
            </a:r>
          </a:p>
          <a:p>
            <a:pPr marL="742950" lvl="1" indent="-285750" algn="just">
              <a:buFont typeface="+mj-lt"/>
              <a:buAutoNum type="arabicPeriod"/>
            </a:pPr>
            <a:r>
              <a:rPr lang="en-US" dirty="0"/>
              <a:t>The groups of measurements (or blocks) are independent, but the measurements within each block are related (repeated measures on the same subject).</a:t>
            </a:r>
          </a:p>
        </p:txBody>
      </p:sp>
    </p:spTree>
    <p:extLst>
      <p:ext uri="{BB962C8B-B14F-4D97-AF65-F5344CB8AC3E}">
        <p14:creationId xmlns:p14="http://schemas.microsoft.com/office/powerpoint/2010/main" val="319738032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Test Procedure</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lgn="just">
              <a:buFont typeface="+mj-lt"/>
              <a:buAutoNum type="arabicPeriod"/>
            </a:pPr>
            <a:r>
              <a:rPr lang="en-US" b="1" dirty="0"/>
              <a:t>Rank the Data</a:t>
            </a:r>
            <a:r>
              <a:rPr lang="en-US" dirty="0"/>
              <a:t>:</a:t>
            </a:r>
          </a:p>
          <a:p>
            <a:pPr marL="742950" lvl="1" indent="-285750" algn="just">
              <a:buFont typeface="+mj-lt"/>
              <a:buAutoNum type="arabicPeriod"/>
            </a:pPr>
            <a:r>
              <a:rPr lang="en-US" dirty="0"/>
              <a:t>For each subject (or block), rank the values of the different conditions or treatments. Assign ranks within each block, with the smallest value getting rank 1 and the largest getting the highest rank.</a:t>
            </a:r>
          </a:p>
          <a:p>
            <a:pPr marL="742950" lvl="1" indent="-285750" algn="just">
              <a:buFont typeface="+mj-lt"/>
              <a:buAutoNum type="arabicPeriod"/>
            </a:pPr>
            <a:r>
              <a:rPr lang="en-US" dirty="0"/>
              <a:t>Tied values are assigned the average of the ranks they would have received.</a:t>
            </a:r>
          </a:p>
        </p:txBody>
      </p:sp>
    </p:spTree>
    <p:extLst>
      <p:ext uri="{BB962C8B-B14F-4D97-AF65-F5344CB8AC3E}">
        <p14:creationId xmlns:p14="http://schemas.microsoft.com/office/powerpoint/2010/main" val="3178848357"/>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Test Procedure</a:t>
            </a:r>
          </a:p>
        </p:txBody>
      </p:sp>
      <p:pic>
        <p:nvPicPr>
          <p:cNvPr id="7" name="Picture 6">
            <a:extLst>
              <a:ext uri="{FF2B5EF4-FFF2-40B4-BE49-F238E27FC236}">
                <a16:creationId xmlns:a16="http://schemas.microsoft.com/office/drawing/2014/main" id="{CAE10247-203B-304F-6F20-7EB18316060D}"/>
              </a:ext>
            </a:extLst>
          </p:cNvPr>
          <p:cNvPicPr>
            <a:picLocks noChangeAspect="1"/>
          </p:cNvPicPr>
          <p:nvPr/>
        </p:nvPicPr>
        <p:blipFill>
          <a:blip r:embed="rId3"/>
          <a:stretch>
            <a:fillRect/>
          </a:stretch>
        </p:blipFill>
        <p:spPr>
          <a:xfrm>
            <a:off x="1325566" y="1690688"/>
            <a:ext cx="9540867" cy="4949253"/>
          </a:xfrm>
          <a:prstGeom prst="rect">
            <a:avLst/>
          </a:prstGeom>
        </p:spPr>
      </p:pic>
    </p:spTree>
    <p:extLst>
      <p:ext uri="{BB962C8B-B14F-4D97-AF65-F5344CB8AC3E}">
        <p14:creationId xmlns:p14="http://schemas.microsoft.com/office/powerpoint/2010/main" val="1453377605"/>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Test Procedure</a:t>
            </a:r>
          </a:p>
        </p:txBody>
      </p:sp>
      <p:pic>
        <p:nvPicPr>
          <p:cNvPr id="4" name="Picture 3">
            <a:extLst>
              <a:ext uri="{FF2B5EF4-FFF2-40B4-BE49-F238E27FC236}">
                <a16:creationId xmlns:a16="http://schemas.microsoft.com/office/drawing/2014/main" id="{6BD1AA9D-448E-1AA8-2C3E-DE503EF4402F}"/>
              </a:ext>
            </a:extLst>
          </p:cNvPr>
          <p:cNvPicPr>
            <a:picLocks noChangeAspect="1"/>
          </p:cNvPicPr>
          <p:nvPr/>
        </p:nvPicPr>
        <p:blipFill>
          <a:blip r:embed="rId3"/>
          <a:stretch>
            <a:fillRect/>
          </a:stretch>
        </p:blipFill>
        <p:spPr>
          <a:xfrm>
            <a:off x="466399" y="1690688"/>
            <a:ext cx="11259201" cy="4306458"/>
          </a:xfrm>
          <a:prstGeom prst="rect">
            <a:avLst/>
          </a:prstGeom>
        </p:spPr>
      </p:pic>
    </p:spTree>
    <p:extLst>
      <p:ext uri="{BB962C8B-B14F-4D97-AF65-F5344CB8AC3E}">
        <p14:creationId xmlns:p14="http://schemas.microsoft.com/office/powerpoint/2010/main" val="168308283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Advantages of Friedman’s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lnSpcReduction="10000"/>
          </a:bodyPr>
          <a:lstStyle/>
          <a:p>
            <a:pPr algn="just">
              <a:buFont typeface="+mj-lt"/>
              <a:buAutoNum type="arabicPeriod"/>
            </a:pPr>
            <a:r>
              <a:rPr lang="en-US" b="1" dirty="0"/>
              <a:t>Non-Parametric</a:t>
            </a:r>
            <a:r>
              <a:rPr lang="en-US" dirty="0"/>
              <a:t>:</a:t>
            </a:r>
          </a:p>
          <a:p>
            <a:pPr marL="742950" lvl="1" indent="-285750" algn="just">
              <a:buFont typeface="+mj-lt"/>
              <a:buAutoNum type="arabicPeriod"/>
            </a:pPr>
            <a:r>
              <a:rPr lang="en-US" dirty="0"/>
              <a:t>Does not assume normality, making it suitable for non-normal or ordinal data.</a:t>
            </a:r>
          </a:p>
          <a:p>
            <a:pPr algn="just">
              <a:buFont typeface="+mj-lt"/>
              <a:buAutoNum type="arabicPeriod"/>
            </a:pPr>
            <a:r>
              <a:rPr lang="en-US" b="1" dirty="0"/>
              <a:t>Use of Repeated Measures</a:t>
            </a:r>
            <a:r>
              <a:rPr lang="en-US" dirty="0"/>
              <a:t>:</a:t>
            </a:r>
          </a:p>
          <a:p>
            <a:pPr marL="742950" lvl="1" indent="-285750" algn="just">
              <a:buFont typeface="+mj-lt"/>
              <a:buAutoNum type="arabicPeriod"/>
            </a:pPr>
            <a:r>
              <a:rPr lang="en-US" dirty="0"/>
              <a:t>Can be used when the same subjects are exposed to multiple treatments, reducing within-subject variability.</a:t>
            </a:r>
          </a:p>
          <a:p>
            <a:pPr algn="just">
              <a:buFont typeface="+mj-lt"/>
              <a:buAutoNum type="arabicPeriod"/>
            </a:pPr>
            <a:r>
              <a:rPr lang="en-US" b="1" dirty="0"/>
              <a:t>Handles Tied Data</a:t>
            </a:r>
            <a:r>
              <a:rPr lang="en-US" dirty="0"/>
              <a:t>:</a:t>
            </a:r>
          </a:p>
          <a:p>
            <a:pPr marL="742950" lvl="1" indent="-285750" algn="just">
              <a:buFont typeface="+mj-lt"/>
              <a:buAutoNum type="arabicPeriod"/>
            </a:pPr>
            <a:r>
              <a:rPr lang="en-US" dirty="0"/>
              <a:t>Tied ranks are handled properly, reducing the influence of ties on the result.</a:t>
            </a:r>
          </a:p>
          <a:p>
            <a:pPr algn="just">
              <a:buFont typeface="+mj-lt"/>
              <a:buAutoNum type="arabicPeriod"/>
            </a:pPr>
            <a:r>
              <a:rPr lang="en-US" b="1" dirty="0"/>
              <a:t>Simple to Use</a:t>
            </a:r>
            <a:r>
              <a:rPr lang="en-US" dirty="0"/>
              <a:t>:</a:t>
            </a:r>
          </a:p>
          <a:p>
            <a:pPr marL="742950" lvl="1" indent="-285750" algn="just">
              <a:buFont typeface="+mj-lt"/>
              <a:buAutoNum type="arabicPeriod"/>
            </a:pPr>
            <a:r>
              <a:rPr lang="en-US" dirty="0"/>
              <a:t>Friedman’s test is easy to calculate and interpret, making it ideal for smaller datasets.</a:t>
            </a:r>
          </a:p>
        </p:txBody>
      </p:sp>
    </p:spTree>
    <p:extLst>
      <p:ext uri="{BB962C8B-B14F-4D97-AF65-F5344CB8AC3E}">
        <p14:creationId xmlns:p14="http://schemas.microsoft.com/office/powerpoint/2010/main" val="1473366755"/>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9D6-9F38-34A1-5647-5F8F7081749A}"/>
              </a:ext>
            </a:extLst>
          </p:cNvPr>
          <p:cNvSpPr>
            <a:spLocks noGrp="1"/>
          </p:cNvSpPr>
          <p:nvPr>
            <p:ph type="title"/>
          </p:nvPr>
        </p:nvSpPr>
        <p:spPr/>
        <p:txBody>
          <a:bodyPr/>
          <a:lstStyle/>
          <a:p>
            <a:r>
              <a:rPr lang="en-US" b="1" dirty="0"/>
              <a:t>Disadvantages of Friedman’s Test</a:t>
            </a:r>
          </a:p>
        </p:txBody>
      </p:sp>
      <p:sp>
        <p:nvSpPr>
          <p:cNvPr id="3" name="Content Placeholder 2">
            <a:extLst>
              <a:ext uri="{FF2B5EF4-FFF2-40B4-BE49-F238E27FC236}">
                <a16:creationId xmlns:a16="http://schemas.microsoft.com/office/drawing/2014/main" id="{F2E1DCD3-9B28-D6D3-0B2E-81B1D9925ABB}"/>
              </a:ext>
            </a:extLst>
          </p:cNvPr>
          <p:cNvSpPr>
            <a:spLocks noGrp="1"/>
          </p:cNvSpPr>
          <p:nvPr>
            <p:ph idx="1"/>
          </p:nvPr>
        </p:nvSpPr>
        <p:spPr/>
        <p:txBody>
          <a:bodyPr anchor="ctr">
            <a:normAutofit/>
          </a:bodyPr>
          <a:lstStyle/>
          <a:p>
            <a:pPr>
              <a:buFont typeface="+mj-lt"/>
              <a:buAutoNum type="arabicPeriod"/>
            </a:pPr>
            <a:r>
              <a:rPr lang="en-US" b="1" dirty="0"/>
              <a:t>Less Powerful Than Parametric Tests</a:t>
            </a:r>
            <a:r>
              <a:rPr lang="en-US" dirty="0"/>
              <a:t>:</a:t>
            </a:r>
          </a:p>
          <a:p>
            <a:pPr marL="742950" lvl="1" indent="-285750">
              <a:buFont typeface="+mj-lt"/>
              <a:buAutoNum type="arabicPeriod"/>
            </a:pPr>
            <a:r>
              <a:rPr lang="en-US" dirty="0"/>
              <a:t>Compared to parametric repeated measures ANOVA, Friedman’s test may be less powerful when the assumptions of parametric tests (e.g., normality) are met.</a:t>
            </a:r>
          </a:p>
          <a:p>
            <a:pPr>
              <a:buFont typeface="+mj-lt"/>
              <a:buAutoNum type="arabicPeriod"/>
            </a:pPr>
            <a:r>
              <a:rPr lang="en-US" b="1" dirty="0"/>
              <a:t>Post-Hoc Testing Required</a:t>
            </a:r>
            <a:r>
              <a:rPr lang="en-US" dirty="0"/>
              <a:t>:</a:t>
            </a:r>
          </a:p>
          <a:p>
            <a:pPr marL="742950" lvl="1" indent="-285750">
              <a:buFont typeface="+mj-lt"/>
              <a:buAutoNum type="arabicPeriod"/>
            </a:pPr>
            <a:r>
              <a:rPr lang="en-US" dirty="0"/>
              <a:t>If a significant result is found, Friedman’s test does not indicate which pairs of conditions are significantly different. Post-hoc tests (e.g., Dunn’s test) are needed for pairwise comparisons.</a:t>
            </a:r>
          </a:p>
        </p:txBody>
      </p:sp>
    </p:spTree>
    <p:extLst>
      <p:ext uri="{BB962C8B-B14F-4D97-AF65-F5344CB8AC3E}">
        <p14:creationId xmlns:p14="http://schemas.microsoft.com/office/powerpoint/2010/main" val="2408945553"/>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7915B-9037-2F9A-6C2E-C7E6DEF92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30A4C-452A-1054-DAC8-C7C60718F652}"/>
              </a:ext>
            </a:extLst>
          </p:cNvPr>
          <p:cNvSpPr>
            <a:spLocks noGrp="1"/>
          </p:cNvSpPr>
          <p:nvPr>
            <p:ph type="title"/>
          </p:nvPr>
        </p:nvSpPr>
        <p:spPr/>
        <p:txBody>
          <a:bodyPr/>
          <a:lstStyle/>
          <a:p>
            <a:r>
              <a:rPr lang="en-US" b="1" dirty="0"/>
              <a:t>Simple Linear Regression</a:t>
            </a:r>
          </a:p>
        </p:txBody>
      </p:sp>
      <p:sp>
        <p:nvSpPr>
          <p:cNvPr id="3" name="Content Placeholder 2">
            <a:extLst>
              <a:ext uri="{FF2B5EF4-FFF2-40B4-BE49-F238E27FC236}">
                <a16:creationId xmlns:a16="http://schemas.microsoft.com/office/drawing/2014/main" id="{0A636F58-C043-E1F8-0E79-784CA6767FE3}"/>
              </a:ext>
            </a:extLst>
          </p:cNvPr>
          <p:cNvSpPr>
            <a:spLocks noGrp="1"/>
          </p:cNvSpPr>
          <p:nvPr>
            <p:ph idx="1"/>
          </p:nvPr>
        </p:nvSpPr>
        <p:spPr/>
        <p:txBody>
          <a:bodyPr anchor="ctr">
            <a:normAutofit fontScale="70000" lnSpcReduction="20000"/>
          </a:bodyPr>
          <a:lstStyle/>
          <a:p>
            <a:r>
              <a:rPr lang="en-US" b="1" dirty="0"/>
              <a:t>Simple Linear Regression</a:t>
            </a:r>
            <a:r>
              <a:rPr lang="en-US" dirty="0"/>
              <a:t> is a statistical method used to model the relationship between two continuous variables: a </a:t>
            </a:r>
            <a:r>
              <a:rPr lang="en-US" b="1" dirty="0"/>
              <a:t>dependent variable</a:t>
            </a:r>
            <a:r>
              <a:rPr lang="en-US" dirty="0"/>
              <a:t> (also called the </a:t>
            </a:r>
            <a:r>
              <a:rPr lang="en-US" b="1" dirty="0"/>
              <a:t>response variable</a:t>
            </a:r>
            <a:r>
              <a:rPr lang="en-US" dirty="0"/>
              <a:t> or </a:t>
            </a:r>
            <a:r>
              <a:rPr lang="en-US" b="1" dirty="0"/>
              <a:t>y</a:t>
            </a:r>
            <a:r>
              <a:rPr lang="en-US" dirty="0"/>
              <a:t>) and an </a:t>
            </a:r>
            <a:r>
              <a:rPr lang="en-US" b="1" dirty="0"/>
              <a:t>independent variable</a:t>
            </a:r>
            <a:r>
              <a:rPr lang="en-US" dirty="0"/>
              <a:t> (also called the </a:t>
            </a:r>
            <a:r>
              <a:rPr lang="en-US" b="1" dirty="0"/>
              <a:t>predictor variable</a:t>
            </a:r>
            <a:r>
              <a:rPr lang="en-US" dirty="0"/>
              <a:t> or </a:t>
            </a:r>
            <a:r>
              <a:rPr lang="en-US" b="1" dirty="0"/>
              <a:t>x</a:t>
            </a:r>
            <a:r>
              <a:rPr lang="en-US" dirty="0"/>
              <a:t>). The objective is to fit a straight line that best explains the relationship between these variables, allowing us to predict the dependent variable based on the independent variable.</a:t>
            </a:r>
          </a:p>
          <a:p>
            <a:r>
              <a:rPr lang="en-US" dirty="0"/>
              <a:t>The general form of a simple linear regression model is:</a:t>
            </a:r>
          </a:p>
          <a:p>
            <a:r>
              <a:rPr lang="en-US" dirty="0"/>
              <a:t>y=β0​+β1​x+ϵ</a:t>
            </a:r>
          </a:p>
          <a:p>
            <a:r>
              <a:rPr lang="en-US" dirty="0"/>
              <a:t>Where:</a:t>
            </a:r>
          </a:p>
          <a:p>
            <a:pPr>
              <a:buFont typeface="Arial" panose="020B0604020202020204" pitchFamily="34" charset="0"/>
              <a:buChar char="•"/>
            </a:pPr>
            <a:r>
              <a:rPr lang="en-US" dirty="0"/>
              <a:t>y is the dependent variable (what we aim to predict).</a:t>
            </a:r>
          </a:p>
          <a:p>
            <a:pPr>
              <a:buFont typeface="Arial" panose="020B0604020202020204" pitchFamily="34" charset="0"/>
              <a:buChar char="•"/>
            </a:pPr>
            <a:r>
              <a:rPr lang="en-US" dirty="0"/>
              <a:t>x is the independent variable (predictor).</a:t>
            </a:r>
          </a:p>
          <a:p>
            <a:pPr>
              <a:buFont typeface="Arial" panose="020B0604020202020204" pitchFamily="34" charset="0"/>
              <a:buChar char="•"/>
            </a:pPr>
            <a:r>
              <a:rPr lang="en-US" dirty="0"/>
              <a:t>β0​ is the </a:t>
            </a:r>
            <a:r>
              <a:rPr lang="en-US" b="1" dirty="0"/>
              <a:t>intercept</a:t>
            </a:r>
            <a:r>
              <a:rPr lang="en-US" dirty="0"/>
              <a:t> (the value of y when x=0).</a:t>
            </a:r>
          </a:p>
          <a:p>
            <a:pPr>
              <a:buFont typeface="Arial" panose="020B0604020202020204" pitchFamily="34" charset="0"/>
              <a:buChar char="•"/>
            </a:pPr>
            <a:r>
              <a:rPr lang="en-US" dirty="0"/>
              <a:t>β1​ is the </a:t>
            </a:r>
            <a:r>
              <a:rPr lang="en-US" b="1" dirty="0"/>
              <a:t>slope</a:t>
            </a:r>
            <a:r>
              <a:rPr lang="en-US" dirty="0"/>
              <a:t> of the line (how much y changes for a one-unit increase in x).</a:t>
            </a:r>
          </a:p>
          <a:p>
            <a:pPr>
              <a:buFont typeface="Arial" panose="020B0604020202020204" pitchFamily="34" charset="0"/>
              <a:buChar char="•"/>
            </a:pPr>
            <a:r>
              <a:rPr lang="en-US" dirty="0"/>
              <a:t>ϵ is the </a:t>
            </a:r>
            <a:r>
              <a:rPr lang="en-US" b="1" dirty="0"/>
              <a:t>error term</a:t>
            </a:r>
            <a:r>
              <a:rPr lang="en-US" dirty="0"/>
              <a:t> (captures the variability in y that is not explained by the linear relationship).</a:t>
            </a:r>
          </a:p>
        </p:txBody>
      </p:sp>
    </p:spTree>
    <p:extLst>
      <p:ext uri="{BB962C8B-B14F-4D97-AF65-F5344CB8AC3E}">
        <p14:creationId xmlns:p14="http://schemas.microsoft.com/office/powerpoint/2010/main" val="3394274617"/>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977B3-6F30-74E9-0B21-F1D978B71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6C53C-E8AF-3425-CEAD-31DE78D20B6F}"/>
              </a:ext>
            </a:extLst>
          </p:cNvPr>
          <p:cNvSpPr>
            <a:spLocks noGrp="1"/>
          </p:cNvSpPr>
          <p:nvPr>
            <p:ph type="title"/>
          </p:nvPr>
        </p:nvSpPr>
        <p:spPr/>
        <p:txBody>
          <a:bodyPr/>
          <a:lstStyle/>
          <a:p>
            <a:r>
              <a:rPr lang="en-IN" dirty="0"/>
              <a:t>Key Concepts</a:t>
            </a:r>
            <a:endParaRPr lang="en-US" b="1" dirty="0"/>
          </a:p>
        </p:txBody>
      </p:sp>
      <p:sp>
        <p:nvSpPr>
          <p:cNvPr id="5" name="Content Placeholder 4">
            <a:extLst>
              <a:ext uri="{FF2B5EF4-FFF2-40B4-BE49-F238E27FC236}">
                <a16:creationId xmlns:a16="http://schemas.microsoft.com/office/drawing/2014/main" id="{C39D69AD-B2FC-AFD4-9B32-3F168C90D227}"/>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DD2FC61B-FA50-92DA-E42D-0F6F56FDDA3E}"/>
              </a:ext>
            </a:extLst>
          </p:cNvPr>
          <p:cNvPicPr>
            <a:picLocks noChangeAspect="1"/>
          </p:cNvPicPr>
          <p:nvPr/>
        </p:nvPicPr>
        <p:blipFill>
          <a:blip r:embed="rId3"/>
          <a:stretch>
            <a:fillRect/>
          </a:stretch>
        </p:blipFill>
        <p:spPr>
          <a:xfrm>
            <a:off x="2451922" y="1415635"/>
            <a:ext cx="7288156" cy="5077240"/>
          </a:xfrm>
          <a:prstGeom prst="rect">
            <a:avLst/>
          </a:prstGeom>
        </p:spPr>
      </p:pic>
    </p:spTree>
    <p:extLst>
      <p:ext uri="{BB962C8B-B14F-4D97-AF65-F5344CB8AC3E}">
        <p14:creationId xmlns:p14="http://schemas.microsoft.com/office/powerpoint/2010/main" val="1945577922"/>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B600A-BA12-7BEC-6FC0-1FFF82003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17727-3776-5134-C99B-C133CCE4AED4}"/>
              </a:ext>
            </a:extLst>
          </p:cNvPr>
          <p:cNvSpPr>
            <a:spLocks noGrp="1"/>
          </p:cNvSpPr>
          <p:nvPr>
            <p:ph type="title"/>
          </p:nvPr>
        </p:nvSpPr>
        <p:spPr/>
        <p:txBody>
          <a:bodyPr/>
          <a:lstStyle/>
          <a:p>
            <a:r>
              <a:rPr lang="en-US" dirty="0"/>
              <a:t>Interpretation of the Slope and Intercept</a:t>
            </a:r>
            <a:endParaRPr lang="en-US" b="1" dirty="0"/>
          </a:p>
        </p:txBody>
      </p:sp>
      <p:sp>
        <p:nvSpPr>
          <p:cNvPr id="5" name="Content Placeholder 4">
            <a:extLst>
              <a:ext uri="{FF2B5EF4-FFF2-40B4-BE49-F238E27FC236}">
                <a16:creationId xmlns:a16="http://schemas.microsoft.com/office/drawing/2014/main" id="{FAB40A51-E197-D8AE-AF16-B5504FDE21E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3310F668-4109-04A5-8A72-84EDB041CF54}"/>
              </a:ext>
            </a:extLst>
          </p:cNvPr>
          <p:cNvPicPr>
            <a:picLocks noChangeAspect="1"/>
          </p:cNvPicPr>
          <p:nvPr/>
        </p:nvPicPr>
        <p:blipFill>
          <a:blip r:embed="rId3"/>
          <a:stretch>
            <a:fillRect/>
          </a:stretch>
        </p:blipFill>
        <p:spPr>
          <a:xfrm>
            <a:off x="1259652" y="1417638"/>
            <a:ext cx="9672696" cy="5167312"/>
          </a:xfrm>
          <a:prstGeom prst="rect">
            <a:avLst/>
          </a:prstGeom>
        </p:spPr>
      </p:pic>
    </p:spTree>
    <p:extLst>
      <p:ext uri="{BB962C8B-B14F-4D97-AF65-F5344CB8AC3E}">
        <p14:creationId xmlns:p14="http://schemas.microsoft.com/office/powerpoint/2010/main" val="540207238"/>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8D3F5-FEC1-E6CA-FF61-4C3D495E9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DA034-7E78-C46E-8752-7FBD3692B1EE}"/>
              </a:ext>
            </a:extLst>
          </p:cNvPr>
          <p:cNvSpPr>
            <a:spLocks noGrp="1"/>
          </p:cNvSpPr>
          <p:nvPr>
            <p:ph type="title"/>
          </p:nvPr>
        </p:nvSpPr>
        <p:spPr/>
        <p:txBody>
          <a:bodyPr/>
          <a:lstStyle/>
          <a:p>
            <a:r>
              <a:rPr lang="en-US" dirty="0"/>
              <a:t>Assumptions of Simple Linear Regression</a:t>
            </a:r>
            <a:endParaRPr lang="en-US" b="1" dirty="0"/>
          </a:p>
        </p:txBody>
      </p:sp>
      <p:sp>
        <p:nvSpPr>
          <p:cNvPr id="5" name="Content Placeholder 4">
            <a:extLst>
              <a:ext uri="{FF2B5EF4-FFF2-40B4-BE49-F238E27FC236}">
                <a16:creationId xmlns:a16="http://schemas.microsoft.com/office/drawing/2014/main" id="{73C6EAF0-C3CB-D5A5-3946-C23420476E2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E23E88C-D01A-DC3E-0B9E-9D8040F349A6}"/>
              </a:ext>
            </a:extLst>
          </p:cNvPr>
          <p:cNvPicPr>
            <a:picLocks noChangeAspect="1"/>
          </p:cNvPicPr>
          <p:nvPr/>
        </p:nvPicPr>
        <p:blipFill>
          <a:blip r:embed="rId3"/>
          <a:stretch>
            <a:fillRect/>
          </a:stretch>
        </p:blipFill>
        <p:spPr>
          <a:xfrm>
            <a:off x="1148747" y="1690688"/>
            <a:ext cx="9894506" cy="5062052"/>
          </a:xfrm>
          <a:prstGeom prst="rect">
            <a:avLst/>
          </a:prstGeom>
        </p:spPr>
      </p:pic>
    </p:spTree>
    <p:extLst>
      <p:ext uri="{BB962C8B-B14F-4D97-AF65-F5344CB8AC3E}">
        <p14:creationId xmlns:p14="http://schemas.microsoft.com/office/powerpoint/2010/main" val="2336360618"/>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5F011-51C1-B910-1E69-145907C9B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0E5B7-F690-6FDC-755B-7A571287D69D}"/>
              </a:ext>
            </a:extLst>
          </p:cNvPr>
          <p:cNvSpPr>
            <a:spLocks noGrp="1"/>
          </p:cNvSpPr>
          <p:nvPr>
            <p:ph type="title"/>
          </p:nvPr>
        </p:nvSpPr>
        <p:spPr/>
        <p:txBody>
          <a:bodyPr/>
          <a:lstStyle/>
          <a:p>
            <a:r>
              <a:rPr lang="en-US" dirty="0"/>
              <a:t>Statistical Properties of the Estimated Slope and Intercept</a:t>
            </a:r>
            <a:endParaRPr lang="en-US" b="1" dirty="0"/>
          </a:p>
        </p:txBody>
      </p:sp>
      <p:sp>
        <p:nvSpPr>
          <p:cNvPr id="5" name="Content Placeholder 4">
            <a:extLst>
              <a:ext uri="{FF2B5EF4-FFF2-40B4-BE49-F238E27FC236}">
                <a16:creationId xmlns:a16="http://schemas.microsoft.com/office/drawing/2014/main" id="{407FBD32-097A-1B85-2217-7BE6311A25E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740FB3F-EC8C-4215-122C-00EBB884358D}"/>
              </a:ext>
            </a:extLst>
          </p:cNvPr>
          <p:cNvPicPr>
            <a:picLocks noChangeAspect="1"/>
          </p:cNvPicPr>
          <p:nvPr/>
        </p:nvPicPr>
        <p:blipFill>
          <a:blip r:embed="rId3"/>
          <a:stretch>
            <a:fillRect/>
          </a:stretch>
        </p:blipFill>
        <p:spPr>
          <a:xfrm>
            <a:off x="2350117" y="1690688"/>
            <a:ext cx="7491766" cy="5167312"/>
          </a:xfrm>
          <a:prstGeom prst="rect">
            <a:avLst/>
          </a:prstGeom>
        </p:spPr>
      </p:pic>
    </p:spTree>
    <p:extLst>
      <p:ext uri="{BB962C8B-B14F-4D97-AF65-F5344CB8AC3E}">
        <p14:creationId xmlns:p14="http://schemas.microsoft.com/office/powerpoint/2010/main" val="55115858"/>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D377E-9C3E-6C55-95FF-17C976AF0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0D3B3-44A8-96AC-D174-10030B71F08D}"/>
              </a:ext>
            </a:extLst>
          </p:cNvPr>
          <p:cNvSpPr>
            <a:spLocks noGrp="1"/>
          </p:cNvSpPr>
          <p:nvPr>
            <p:ph type="title"/>
          </p:nvPr>
        </p:nvSpPr>
        <p:spPr/>
        <p:txBody>
          <a:bodyPr/>
          <a:lstStyle/>
          <a:p>
            <a:r>
              <a:rPr lang="en-US" dirty="0"/>
              <a:t>Statistical Properties of the Estimated Slope and Intercept</a:t>
            </a:r>
            <a:endParaRPr lang="en-US" b="1" dirty="0"/>
          </a:p>
        </p:txBody>
      </p:sp>
      <p:sp>
        <p:nvSpPr>
          <p:cNvPr id="5" name="Content Placeholder 4">
            <a:extLst>
              <a:ext uri="{FF2B5EF4-FFF2-40B4-BE49-F238E27FC236}">
                <a16:creationId xmlns:a16="http://schemas.microsoft.com/office/drawing/2014/main" id="{D13057F2-085D-3C18-FFED-2AB9993CB735}"/>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E570835-E148-0F52-49A1-16EAF479F4F3}"/>
              </a:ext>
            </a:extLst>
          </p:cNvPr>
          <p:cNvPicPr>
            <a:picLocks noChangeAspect="1"/>
          </p:cNvPicPr>
          <p:nvPr/>
        </p:nvPicPr>
        <p:blipFill>
          <a:blip r:embed="rId3"/>
          <a:stretch>
            <a:fillRect/>
          </a:stretch>
        </p:blipFill>
        <p:spPr>
          <a:xfrm>
            <a:off x="2402378" y="1690688"/>
            <a:ext cx="7387243" cy="5124849"/>
          </a:xfrm>
          <a:prstGeom prst="rect">
            <a:avLst/>
          </a:prstGeom>
        </p:spPr>
      </p:pic>
    </p:spTree>
    <p:extLst>
      <p:ext uri="{BB962C8B-B14F-4D97-AF65-F5344CB8AC3E}">
        <p14:creationId xmlns:p14="http://schemas.microsoft.com/office/powerpoint/2010/main" val="3262899774"/>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79E0E-0883-ED18-1A73-7E61D37B4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96A8B-AD36-5B87-6899-588F2825E5D8}"/>
              </a:ext>
            </a:extLst>
          </p:cNvPr>
          <p:cNvSpPr>
            <a:spLocks noGrp="1"/>
          </p:cNvSpPr>
          <p:nvPr>
            <p:ph type="title"/>
          </p:nvPr>
        </p:nvSpPr>
        <p:spPr/>
        <p:txBody>
          <a:bodyPr/>
          <a:lstStyle/>
          <a:p>
            <a:r>
              <a:rPr lang="en-US" dirty="0"/>
              <a:t>Statistical Properties of the Estimated Slope and Intercept</a:t>
            </a:r>
            <a:endParaRPr lang="en-US" b="1" dirty="0"/>
          </a:p>
        </p:txBody>
      </p:sp>
      <p:sp>
        <p:nvSpPr>
          <p:cNvPr id="5" name="Content Placeholder 4">
            <a:extLst>
              <a:ext uri="{FF2B5EF4-FFF2-40B4-BE49-F238E27FC236}">
                <a16:creationId xmlns:a16="http://schemas.microsoft.com/office/drawing/2014/main" id="{090118F3-DA59-40AD-2722-016E67BC482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9ED3E8B-BE84-0826-4D61-A84FA8939341}"/>
              </a:ext>
            </a:extLst>
          </p:cNvPr>
          <p:cNvPicPr>
            <a:picLocks noChangeAspect="1"/>
          </p:cNvPicPr>
          <p:nvPr/>
        </p:nvPicPr>
        <p:blipFill>
          <a:blip r:embed="rId3"/>
          <a:stretch>
            <a:fillRect/>
          </a:stretch>
        </p:blipFill>
        <p:spPr>
          <a:xfrm>
            <a:off x="1046250" y="1825625"/>
            <a:ext cx="10099500" cy="4895341"/>
          </a:xfrm>
          <a:prstGeom prst="rect">
            <a:avLst/>
          </a:prstGeom>
        </p:spPr>
      </p:pic>
    </p:spTree>
    <p:extLst>
      <p:ext uri="{BB962C8B-B14F-4D97-AF65-F5344CB8AC3E}">
        <p14:creationId xmlns:p14="http://schemas.microsoft.com/office/powerpoint/2010/main" val="3314961561"/>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D67B2-D620-F584-5714-61322EA45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BED5B-C527-DC94-0503-DBC6F18E1878}"/>
              </a:ext>
            </a:extLst>
          </p:cNvPr>
          <p:cNvSpPr>
            <a:spLocks noGrp="1"/>
          </p:cNvSpPr>
          <p:nvPr>
            <p:ph type="title"/>
          </p:nvPr>
        </p:nvSpPr>
        <p:spPr/>
        <p:txBody>
          <a:bodyPr/>
          <a:lstStyle/>
          <a:p>
            <a:r>
              <a:rPr lang="en-IN" dirty="0"/>
              <a:t>Goodness of Fit</a:t>
            </a:r>
            <a:endParaRPr lang="en-US" b="1" dirty="0"/>
          </a:p>
        </p:txBody>
      </p:sp>
      <p:sp>
        <p:nvSpPr>
          <p:cNvPr id="5" name="Content Placeholder 4">
            <a:extLst>
              <a:ext uri="{FF2B5EF4-FFF2-40B4-BE49-F238E27FC236}">
                <a16:creationId xmlns:a16="http://schemas.microsoft.com/office/drawing/2014/main" id="{B2769E19-6D3C-6037-17BF-C9D069FEEE2F}"/>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319C226-D66F-F421-F0FD-8B096F441EB0}"/>
              </a:ext>
            </a:extLst>
          </p:cNvPr>
          <p:cNvPicPr>
            <a:picLocks noChangeAspect="1"/>
          </p:cNvPicPr>
          <p:nvPr/>
        </p:nvPicPr>
        <p:blipFill>
          <a:blip r:embed="rId3"/>
          <a:stretch>
            <a:fillRect/>
          </a:stretch>
        </p:blipFill>
        <p:spPr>
          <a:xfrm>
            <a:off x="1333798" y="1331495"/>
            <a:ext cx="9524403" cy="5526505"/>
          </a:xfrm>
          <a:prstGeom prst="rect">
            <a:avLst/>
          </a:prstGeom>
        </p:spPr>
      </p:pic>
    </p:spTree>
    <p:extLst>
      <p:ext uri="{BB962C8B-B14F-4D97-AF65-F5344CB8AC3E}">
        <p14:creationId xmlns:p14="http://schemas.microsoft.com/office/powerpoint/2010/main" val="3616497359"/>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09698-AA6F-F759-598C-4F528CD21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5085C-E2BA-6FF9-A996-A4069B014333}"/>
              </a:ext>
            </a:extLst>
          </p:cNvPr>
          <p:cNvSpPr>
            <a:spLocks noGrp="1"/>
          </p:cNvSpPr>
          <p:nvPr>
            <p:ph type="title"/>
          </p:nvPr>
        </p:nvSpPr>
        <p:spPr/>
        <p:txBody>
          <a:bodyPr/>
          <a:lstStyle/>
          <a:p>
            <a:r>
              <a:rPr lang="en-IN" dirty="0"/>
              <a:t>Example</a:t>
            </a:r>
            <a:endParaRPr lang="en-US" b="1" dirty="0"/>
          </a:p>
        </p:txBody>
      </p:sp>
      <p:sp>
        <p:nvSpPr>
          <p:cNvPr id="5" name="Content Placeholder 4">
            <a:extLst>
              <a:ext uri="{FF2B5EF4-FFF2-40B4-BE49-F238E27FC236}">
                <a16:creationId xmlns:a16="http://schemas.microsoft.com/office/drawing/2014/main" id="{082D2D9A-BDFA-1B1B-F5E3-004532755CD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221A50E-C008-88A1-8FAE-4844FE499926}"/>
              </a:ext>
            </a:extLst>
          </p:cNvPr>
          <p:cNvPicPr>
            <a:picLocks noChangeAspect="1"/>
          </p:cNvPicPr>
          <p:nvPr/>
        </p:nvPicPr>
        <p:blipFill>
          <a:blip r:embed="rId3"/>
          <a:stretch>
            <a:fillRect/>
          </a:stretch>
        </p:blipFill>
        <p:spPr>
          <a:xfrm>
            <a:off x="2047943" y="1447883"/>
            <a:ext cx="8096114" cy="5494421"/>
          </a:xfrm>
          <a:prstGeom prst="rect">
            <a:avLst/>
          </a:prstGeom>
        </p:spPr>
      </p:pic>
    </p:spTree>
    <p:extLst>
      <p:ext uri="{BB962C8B-B14F-4D97-AF65-F5344CB8AC3E}">
        <p14:creationId xmlns:p14="http://schemas.microsoft.com/office/powerpoint/2010/main" val="2828906850"/>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D591-276C-E5F0-0863-FAA243E54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34319-73A5-43C6-7154-FD0AAD2F4F9A}"/>
              </a:ext>
            </a:extLst>
          </p:cNvPr>
          <p:cNvSpPr>
            <a:spLocks noGrp="1"/>
          </p:cNvSpPr>
          <p:nvPr>
            <p:ph type="title"/>
          </p:nvPr>
        </p:nvSpPr>
        <p:spPr/>
        <p:txBody>
          <a:bodyPr/>
          <a:lstStyle/>
          <a:p>
            <a:r>
              <a:rPr lang="en-US" dirty="0"/>
              <a:t>Assessing the Fit, Correlation, and Regression</a:t>
            </a:r>
            <a:endParaRPr lang="en-US" b="1" dirty="0"/>
          </a:p>
        </p:txBody>
      </p:sp>
      <p:sp>
        <p:nvSpPr>
          <p:cNvPr id="3" name="Content Placeholder 2">
            <a:extLst>
              <a:ext uri="{FF2B5EF4-FFF2-40B4-BE49-F238E27FC236}">
                <a16:creationId xmlns:a16="http://schemas.microsoft.com/office/drawing/2014/main" id="{25EFECB3-DB7A-6567-AA85-87543816BEAD}"/>
              </a:ext>
            </a:extLst>
          </p:cNvPr>
          <p:cNvSpPr>
            <a:spLocks noGrp="1"/>
          </p:cNvSpPr>
          <p:nvPr>
            <p:ph idx="1"/>
          </p:nvPr>
        </p:nvSpPr>
        <p:spPr/>
        <p:txBody>
          <a:bodyPr anchor="ctr">
            <a:normAutofit/>
          </a:bodyPr>
          <a:lstStyle/>
          <a:p>
            <a:pPr marL="0" indent="0" algn="just">
              <a:buNone/>
            </a:pPr>
            <a:r>
              <a:rPr lang="en-US" dirty="0"/>
              <a:t>Understanding the relationship between two variables is a fundamental part of data analysis. </a:t>
            </a:r>
            <a:r>
              <a:rPr lang="en-US" b="1" dirty="0"/>
              <a:t>Simple linear regression</a:t>
            </a:r>
            <a:r>
              <a:rPr lang="en-US" dirty="0"/>
              <a:t> is used to model this relationship, while </a:t>
            </a:r>
            <a:r>
              <a:rPr lang="en-US" b="1" dirty="0"/>
              <a:t>correlation</a:t>
            </a:r>
            <a:r>
              <a:rPr lang="en-US" dirty="0"/>
              <a:t> quantifies the strength and direction of that relationship. Assessing how well the regression model fits the data is crucial for determining its predictive accuracy and reliability. This involves analyzing various metrics and plots to ensure the model represents the data adequately.</a:t>
            </a:r>
          </a:p>
        </p:txBody>
      </p:sp>
    </p:spTree>
    <p:extLst>
      <p:ext uri="{BB962C8B-B14F-4D97-AF65-F5344CB8AC3E}">
        <p14:creationId xmlns:p14="http://schemas.microsoft.com/office/powerpoint/2010/main" val="761199614"/>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BDF69-E80C-B4C7-BA06-B14EBA9B3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1CD73-E52E-90F8-A0D4-88E36457F876}"/>
              </a:ext>
            </a:extLst>
          </p:cNvPr>
          <p:cNvSpPr>
            <a:spLocks noGrp="1"/>
          </p:cNvSpPr>
          <p:nvPr>
            <p:ph type="title"/>
          </p:nvPr>
        </p:nvSpPr>
        <p:spPr/>
        <p:txBody>
          <a:bodyPr/>
          <a:lstStyle/>
          <a:p>
            <a:r>
              <a:rPr lang="en-IN" dirty="0"/>
              <a:t>Correlation vs. Regression</a:t>
            </a:r>
            <a:endParaRPr lang="en-US" b="1" dirty="0"/>
          </a:p>
        </p:txBody>
      </p:sp>
      <p:sp>
        <p:nvSpPr>
          <p:cNvPr id="5" name="Content Placeholder 4">
            <a:extLst>
              <a:ext uri="{FF2B5EF4-FFF2-40B4-BE49-F238E27FC236}">
                <a16:creationId xmlns:a16="http://schemas.microsoft.com/office/drawing/2014/main" id="{19BA87BD-9CBB-C48F-42A9-A6A09409F496}"/>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55BCED78-65F1-0600-E400-A9DFF6DDC9FC}"/>
              </a:ext>
            </a:extLst>
          </p:cNvPr>
          <p:cNvPicPr>
            <a:picLocks noChangeAspect="1"/>
          </p:cNvPicPr>
          <p:nvPr/>
        </p:nvPicPr>
        <p:blipFill>
          <a:blip r:embed="rId3"/>
          <a:stretch>
            <a:fillRect/>
          </a:stretch>
        </p:blipFill>
        <p:spPr>
          <a:xfrm>
            <a:off x="2620516" y="1363579"/>
            <a:ext cx="6950968" cy="5494421"/>
          </a:xfrm>
          <a:prstGeom prst="rect">
            <a:avLst/>
          </a:prstGeom>
        </p:spPr>
      </p:pic>
    </p:spTree>
    <p:extLst>
      <p:ext uri="{BB962C8B-B14F-4D97-AF65-F5344CB8AC3E}">
        <p14:creationId xmlns:p14="http://schemas.microsoft.com/office/powerpoint/2010/main" val="723332847"/>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209ED-A27B-E4C5-30B9-D564083E1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45EE0-ED5B-CABD-143B-A6AA367FC936}"/>
              </a:ext>
            </a:extLst>
          </p:cNvPr>
          <p:cNvSpPr>
            <a:spLocks noGrp="1"/>
          </p:cNvSpPr>
          <p:nvPr>
            <p:ph type="title"/>
          </p:nvPr>
        </p:nvSpPr>
        <p:spPr/>
        <p:txBody>
          <a:bodyPr/>
          <a:lstStyle/>
          <a:p>
            <a:r>
              <a:rPr lang="en-IN" dirty="0"/>
              <a:t>Correlation vs. Regression</a:t>
            </a:r>
            <a:endParaRPr lang="en-US" b="1" dirty="0"/>
          </a:p>
        </p:txBody>
      </p:sp>
      <p:sp>
        <p:nvSpPr>
          <p:cNvPr id="5" name="Content Placeholder 4">
            <a:extLst>
              <a:ext uri="{FF2B5EF4-FFF2-40B4-BE49-F238E27FC236}">
                <a16:creationId xmlns:a16="http://schemas.microsoft.com/office/drawing/2014/main" id="{9B214DEF-3ABA-E1BC-6543-B846E1D272C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FB479185-61CB-C5D5-1F3E-15A12872E747}"/>
              </a:ext>
            </a:extLst>
          </p:cNvPr>
          <p:cNvPicPr>
            <a:picLocks noChangeAspect="1"/>
          </p:cNvPicPr>
          <p:nvPr/>
        </p:nvPicPr>
        <p:blipFill>
          <a:blip r:embed="rId3"/>
          <a:stretch>
            <a:fillRect/>
          </a:stretch>
        </p:blipFill>
        <p:spPr>
          <a:xfrm>
            <a:off x="1790099" y="1285097"/>
            <a:ext cx="8611802" cy="5572903"/>
          </a:xfrm>
          <a:prstGeom prst="rect">
            <a:avLst/>
          </a:prstGeom>
        </p:spPr>
      </p:pic>
    </p:spTree>
    <p:extLst>
      <p:ext uri="{BB962C8B-B14F-4D97-AF65-F5344CB8AC3E}">
        <p14:creationId xmlns:p14="http://schemas.microsoft.com/office/powerpoint/2010/main" val="954283762"/>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8A1F-F231-8150-87F2-E6664CC70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26B0B-98FA-319B-1036-B91C0100972C}"/>
              </a:ext>
            </a:extLst>
          </p:cNvPr>
          <p:cNvSpPr>
            <a:spLocks noGrp="1"/>
          </p:cNvSpPr>
          <p:nvPr>
            <p:ph type="title"/>
          </p:nvPr>
        </p:nvSpPr>
        <p:spPr/>
        <p:txBody>
          <a:bodyPr/>
          <a:lstStyle/>
          <a:p>
            <a:r>
              <a:rPr lang="en-US" dirty="0"/>
              <a:t>Assessing the Fit of a Regression Model</a:t>
            </a:r>
            <a:endParaRPr lang="en-US" b="1" dirty="0"/>
          </a:p>
        </p:txBody>
      </p:sp>
      <p:sp>
        <p:nvSpPr>
          <p:cNvPr id="5" name="Content Placeholder 4">
            <a:extLst>
              <a:ext uri="{FF2B5EF4-FFF2-40B4-BE49-F238E27FC236}">
                <a16:creationId xmlns:a16="http://schemas.microsoft.com/office/drawing/2014/main" id="{7CE7DA4E-8AEE-89EE-5340-031A8FFF5576}"/>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237DFCEB-A79A-28CC-80EA-DC4A51E79A19}"/>
              </a:ext>
            </a:extLst>
          </p:cNvPr>
          <p:cNvPicPr>
            <a:picLocks noChangeAspect="1"/>
          </p:cNvPicPr>
          <p:nvPr/>
        </p:nvPicPr>
        <p:blipFill>
          <a:blip r:embed="rId3"/>
          <a:stretch>
            <a:fillRect/>
          </a:stretch>
        </p:blipFill>
        <p:spPr>
          <a:xfrm>
            <a:off x="1631767" y="1379621"/>
            <a:ext cx="8928465" cy="5478379"/>
          </a:xfrm>
          <a:prstGeom prst="rect">
            <a:avLst/>
          </a:prstGeom>
        </p:spPr>
      </p:pic>
    </p:spTree>
    <p:extLst>
      <p:ext uri="{BB962C8B-B14F-4D97-AF65-F5344CB8AC3E}">
        <p14:creationId xmlns:p14="http://schemas.microsoft.com/office/powerpoint/2010/main" val="1332682012"/>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76BE-0A66-6607-B227-3141C06B5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F284C-31FD-9CC5-FE89-A971D8606695}"/>
              </a:ext>
            </a:extLst>
          </p:cNvPr>
          <p:cNvSpPr>
            <a:spLocks noGrp="1"/>
          </p:cNvSpPr>
          <p:nvPr>
            <p:ph type="title"/>
          </p:nvPr>
        </p:nvSpPr>
        <p:spPr/>
        <p:txBody>
          <a:bodyPr/>
          <a:lstStyle/>
          <a:p>
            <a:r>
              <a:rPr lang="en-US" dirty="0"/>
              <a:t>Assessing the Fit of a Regression Model</a:t>
            </a:r>
            <a:endParaRPr lang="en-US" b="1" dirty="0"/>
          </a:p>
        </p:txBody>
      </p:sp>
      <p:sp>
        <p:nvSpPr>
          <p:cNvPr id="5" name="Content Placeholder 4">
            <a:extLst>
              <a:ext uri="{FF2B5EF4-FFF2-40B4-BE49-F238E27FC236}">
                <a16:creationId xmlns:a16="http://schemas.microsoft.com/office/drawing/2014/main" id="{1174552C-E173-E3DE-D477-5E11135EC21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F4C84AE-28A6-B7B2-849C-DD151B03E592}"/>
              </a:ext>
            </a:extLst>
          </p:cNvPr>
          <p:cNvPicPr>
            <a:picLocks noChangeAspect="1"/>
          </p:cNvPicPr>
          <p:nvPr/>
        </p:nvPicPr>
        <p:blipFill>
          <a:blip r:embed="rId3"/>
          <a:stretch>
            <a:fillRect/>
          </a:stretch>
        </p:blipFill>
        <p:spPr>
          <a:xfrm>
            <a:off x="1096160" y="1719929"/>
            <a:ext cx="9999680" cy="4562729"/>
          </a:xfrm>
          <a:prstGeom prst="rect">
            <a:avLst/>
          </a:prstGeom>
        </p:spPr>
      </p:pic>
    </p:spTree>
    <p:extLst>
      <p:ext uri="{BB962C8B-B14F-4D97-AF65-F5344CB8AC3E}">
        <p14:creationId xmlns:p14="http://schemas.microsoft.com/office/powerpoint/2010/main" val="1112820873"/>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B667-01FC-005C-1C96-4290B0865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7433E-1861-2AF2-E8D6-D35D3F74C8DD}"/>
              </a:ext>
            </a:extLst>
          </p:cNvPr>
          <p:cNvSpPr>
            <a:spLocks noGrp="1"/>
          </p:cNvSpPr>
          <p:nvPr>
            <p:ph type="title"/>
          </p:nvPr>
        </p:nvSpPr>
        <p:spPr/>
        <p:txBody>
          <a:bodyPr/>
          <a:lstStyle/>
          <a:p>
            <a:r>
              <a:rPr lang="en-US" dirty="0"/>
              <a:t>Assessing the Fit of a Regression Model</a:t>
            </a:r>
            <a:endParaRPr lang="en-US" b="1" dirty="0"/>
          </a:p>
        </p:txBody>
      </p:sp>
      <p:sp>
        <p:nvSpPr>
          <p:cNvPr id="5" name="Content Placeholder 4">
            <a:extLst>
              <a:ext uri="{FF2B5EF4-FFF2-40B4-BE49-F238E27FC236}">
                <a16:creationId xmlns:a16="http://schemas.microsoft.com/office/drawing/2014/main" id="{5CA94190-9C69-FBB4-CC52-6CA2CB9AF2EC}"/>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5759CFDB-E869-EFCD-0F54-1C3BC5B04F14}"/>
              </a:ext>
            </a:extLst>
          </p:cNvPr>
          <p:cNvPicPr>
            <a:picLocks noChangeAspect="1"/>
          </p:cNvPicPr>
          <p:nvPr/>
        </p:nvPicPr>
        <p:blipFill>
          <a:blip r:embed="rId3"/>
          <a:stretch>
            <a:fillRect/>
          </a:stretch>
        </p:blipFill>
        <p:spPr>
          <a:xfrm>
            <a:off x="2535612" y="1368060"/>
            <a:ext cx="7120776" cy="5489940"/>
          </a:xfrm>
          <a:prstGeom prst="rect">
            <a:avLst/>
          </a:prstGeom>
        </p:spPr>
      </p:pic>
    </p:spTree>
    <p:extLst>
      <p:ext uri="{BB962C8B-B14F-4D97-AF65-F5344CB8AC3E}">
        <p14:creationId xmlns:p14="http://schemas.microsoft.com/office/powerpoint/2010/main" val="1742603504"/>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EC30D-DCF7-CF7A-494A-827955A98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CB24D-94DE-197E-7B91-65263C51B6F0}"/>
              </a:ext>
            </a:extLst>
          </p:cNvPr>
          <p:cNvSpPr>
            <a:spLocks noGrp="1"/>
          </p:cNvSpPr>
          <p:nvPr>
            <p:ph type="title"/>
          </p:nvPr>
        </p:nvSpPr>
        <p:spPr/>
        <p:txBody>
          <a:bodyPr/>
          <a:lstStyle/>
          <a:p>
            <a:r>
              <a:rPr lang="en-US" dirty="0"/>
              <a:t>Assessing the Fit of a Regression Model</a:t>
            </a:r>
            <a:endParaRPr lang="en-US" b="1" dirty="0"/>
          </a:p>
        </p:txBody>
      </p:sp>
      <p:sp>
        <p:nvSpPr>
          <p:cNvPr id="5" name="Content Placeholder 4">
            <a:extLst>
              <a:ext uri="{FF2B5EF4-FFF2-40B4-BE49-F238E27FC236}">
                <a16:creationId xmlns:a16="http://schemas.microsoft.com/office/drawing/2014/main" id="{5099A21E-A347-B8E2-F7AC-50AF35BD10DD}"/>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73AD5D8-A174-2628-0071-5B7D7A63DE53}"/>
              </a:ext>
            </a:extLst>
          </p:cNvPr>
          <p:cNvPicPr>
            <a:picLocks noChangeAspect="1"/>
          </p:cNvPicPr>
          <p:nvPr/>
        </p:nvPicPr>
        <p:blipFill>
          <a:blip r:embed="rId3"/>
          <a:stretch>
            <a:fillRect/>
          </a:stretch>
        </p:blipFill>
        <p:spPr>
          <a:xfrm>
            <a:off x="2033020" y="1481580"/>
            <a:ext cx="8125959" cy="5039428"/>
          </a:xfrm>
          <a:prstGeom prst="rect">
            <a:avLst/>
          </a:prstGeom>
        </p:spPr>
      </p:pic>
    </p:spTree>
    <p:extLst>
      <p:ext uri="{BB962C8B-B14F-4D97-AF65-F5344CB8AC3E}">
        <p14:creationId xmlns:p14="http://schemas.microsoft.com/office/powerpoint/2010/main" val="3300930552"/>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2A06D-B197-CBD4-5F64-4F8739E89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7295E-E537-1852-1E6E-D3C5AD47266A}"/>
              </a:ext>
            </a:extLst>
          </p:cNvPr>
          <p:cNvSpPr>
            <a:spLocks noGrp="1"/>
          </p:cNvSpPr>
          <p:nvPr>
            <p:ph type="title"/>
          </p:nvPr>
        </p:nvSpPr>
        <p:spPr/>
        <p:txBody>
          <a:bodyPr/>
          <a:lstStyle/>
          <a:p>
            <a:r>
              <a:rPr lang="en-US" dirty="0"/>
              <a:t>Assessing the Fit of a Regression Model</a:t>
            </a:r>
            <a:endParaRPr lang="en-US" b="1" dirty="0"/>
          </a:p>
        </p:txBody>
      </p:sp>
      <p:sp>
        <p:nvSpPr>
          <p:cNvPr id="5" name="Content Placeholder 4">
            <a:extLst>
              <a:ext uri="{FF2B5EF4-FFF2-40B4-BE49-F238E27FC236}">
                <a16:creationId xmlns:a16="http://schemas.microsoft.com/office/drawing/2014/main" id="{6A7A7E6C-6C56-1914-607A-38BF598A87CE}"/>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E2C475C7-6CF3-89F6-78E6-F5BA1025D52D}"/>
              </a:ext>
            </a:extLst>
          </p:cNvPr>
          <p:cNvPicPr>
            <a:picLocks noChangeAspect="1"/>
          </p:cNvPicPr>
          <p:nvPr/>
        </p:nvPicPr>
        <p:blipFill>
          <a:blip r:embed="rId3"/>
          <a:stretch>
            <a:fillRect/>
          </a:stretch>
        </p:blipFill>
        <p:spPr>
          <a:xfrm>
            <a:off x="1880599" y="1447045"/>
            <a:ext cx="8430802" cy="5410955"/>
          </a:xfrm>
          <a:prstGeom prst="rect">
            <a:avLst/>
          </a:prstGeom>
        </p:spPr>
      </p:pic>
    </p:spTree>
    <p:extLst>
      <p:ext uri="{BB962C8B-B14F-4D97-AF65-F5344CB8AC3E}">
        <p14:creationId xmlns:p14="http://schemas.microsoft.com/office/powerpoint/2010/main" val="4222787847"/>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2D12-CB0E-18EA-5109-3A541AB4F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FC4CC-4D95-ABCB-9C30-424E2DBA7D69}"/>
              </a:ext>
            </a:extLst>
          </p:cNvPr>
          <p:cNvSpPr>
            <a:spLocks noGrp="1"/>
          </p:cNvSpPr>
          <p:nvPr>
            <p:ph type="title"/>
          </p:nvPr>
        </p:nvSpPr>
        <p:spPr/>
        <p:txBody>
          <a:bodyPr/>
          <a:lstStyle/>
          <a:p>
            <a:r>
              <a:rPr lang="en-US" dirty="0"/>
              <a:t>Assumptions to Check in Regression Analysis</a:t>
            </a:r>
            <a:endParaRPr lang="en-US" b="1" dirty="0"/>
          </a:p>
        </p:txBody>
      </p:sp>
      <p:sp>
        <p:nvSpPr>
          <p:cNvPr id="3" name="Content Placeholder 2">
            <a:extLst>
              <a:ext uri="{FF2B5EF4-FFF2-40B4-BE49-F238E27FC236}">
                <a16:creationId xmlns:a16="http://schemas.microsoft.com/office/drawing/2014/main" id="{0AF16170-B868-20E3-3DC8-E01625A42565}"/>
              </a:ext>
            </a:extLst>
          </p:cNvPr>
          <p:cNvSpPr>
            <a:spLocks noGrp="1"/>
          </p:cNvSpPr>
          <p:nvPr>
            <p:ph idx="1"/>
          </p:nvPr>
        </p:nvSpPr>
        <p:spPr/>
        <p:txBody>
          <a:bodyPr anchor="ctr">
            <a:normAutofit fontScale="77500" lnSpcReduction="20000"/>
          </a:bodyPr>
          <a:lstStyle/>
          <a:p>
            <a:pPr>
              <a:buFont typeface="+mj-lt"/>
              <a:buAutoNum type="arabicPeriod"/>
            </a:pPr>
            <a:r>
              <a:rPr lang="en-US" b="1" dirty="0"/>
              <a:t>Linearity</a:t>
            </a:r>
            <a:r>
              <a:rPr lang="en-US" dirty="0"/>
              <a:t>:</a:t>
            </a:r>
          </a:p>
          <a:p>
            <a:pPr marL="742950" lvl="1" indent="-285750">
              <a:buFont typeface="+mj-lt"/>
              <a:buAutoNum type="arabicPeriod"/>
            </a:pPr>
            <a:r>
              <a:rPr lang="en-US" dirty="0"/>
              <a:t>The relationship between the independent and dependent variables should be linear. This can be assessed using scatterplots or residual plots.</a:t>
            </a:r>
          </a:p>
          <a:p>
            <a:pPr>
              <a:buFont typeface="+mj-lt"/>
              <a:buAutoNum type="arabicPeriod"/>
            </a:pPr>
            <a:r>
              <a:rPr lang="en-US" b="1" dirty="0"/>
              <a:t>Homoscedasticity</a:t>
            </a:r>
            <a:r>
              <a:rPr lang="en-US" dirty="0"/>
              <a:t>:</a:t>
            </a:r>
          </a:p>
          <a:p>
            <a:pPr marL="742950" lvl="1" indent="-285750">
              <a:buFont typeface="+mj-lt"/>
              <a:buAutoNum type="arabicPeriod"/>
            </a:pPr>
            <a:r>
              <a:rPr lang="en-US" dirty="0"/>
              <a:t>The variance of the residuals should be constant across all levels of the independent variable. A residual plot that shows a funnel shape indicates heteroscedasticity.</a:t>
            </a:r>
          </a:p>
          <a:p>
            <a:pPr>
              <a:buFont typeface="+mj-lt"/>
              <a:buAutoNum type="arabicPeriod"/>
            </a:pPr>
            <a:r>
              <a:rPr lang="en-US" b="1" dirty="0"/>
              <a:t>Independence of Errors</a:t>
            </a:r>
            <a:r>
              <a:rPr lang="en-US" dirty="0"/>
              <a:t>:</a:t>
            </a:r>
          </a:p>
          <a:p>
            <a:pPr marL="742950" lvl="1" indent="-285750">
              <a:buFont typeface="+mj-lt"/>
              <a:buAutoNum type="arabicPeriod"/>
            </a:pPr>
            <a:r>
              <a:rPr lang="en-US" dirty="0"/>
              <a:t>The residuals should be independent of each other. This assumption can be checked using the Durbin-Watson test.</a:t>
            </a:r>
          </a:p>
          <a:p>
            <a:pPr>
              <a:buFont typeface="+mj-lt"/>
              <a:buAutoNum type="arabicPeriod"/>
            </a:pPr>
            <a:r>
              <a:rPr lang="en-US" b="1" dirty="0"/>
              <a:t>Normality of Errors</a:t>
            </a:r>
            <a:r>
              <a:rPr lang="en-US" dirty="0"/>
              <a:t>:</a:t>
            </a:r>
          </a:p>
          <a:p>
            <a:pPr marL="742950" lvl="1" indent="-285750">
              <a:buFont typeface="+mj-lt"/>
              <a:buAutoNum type="arabicPeriod"/>
            </a:pPr>
            <a:r>
              <a:rPr lang="en-US" dirty="0"/>
              <a:t>The residuals should be approximately normally distributed, especially for small sample sizes. This can be checked using a histogram or a Q-Q plot of the residuals.</a:t>
            </a:r>
          </a:p>
          <a:p>
            <a:pPr>
              <a:buFont typeface="+mj-lt"/>
              <a:buAutoNum type="arabicPeriod"/>
            </a:pPr>
            <a:r>
              <a:rPr lang="en-US" b="1" dirty="0"/>
              <a:t>No Multicollinearity</a:t>
            </a:r>
            <a:r>
              <a:rPr lang="en-US" dirty="0"/>
              <a:t>:</a:t>
            </a:r>
          </a:p>
          <a:p>
            <a:pPr marL="742950" lvl="1" indent="-285750">
              <a:buFont typeface="+mj-lt"/>
              <a:buAutoNum type="arabicPeriod"/>
            </a:pPr>
            <a:r>
              <a:rPr lang="en-US" dirty="0"/>
              <a:t>In multiple regression, the independent variables should not be highly correlated. Multicollinearity inflates the standard errors and can be checked using variance inflation factor (VIF).</a:t>
            </a:r>
          </a:p>
        </p:txBody>
      </p:sp>
    </p:spTree>
    <p:extLst>
      <p:ext uri="{BB962C8B-B14F-4D97-AF65-F5344CB8AC3E}">
        <p14:creationId xmlns:p14="http://schemas.microsoft.com/office/powerpoint/2010/main" val="2266853354"/>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A48B4-20D7-FDF7-3AC0-6610FFC86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4E169-E00D-C560-E42C-A0B284456B3D}"/>
              </a:ext>
            </a:extLst>
          </p:cNvPr>
          <p:cNvSpPr>
            <a:spLocks noGrp="1"/>
          </p:cNvSpPr>
          <p:nvPr>
            <p:ph type="title"/>
          </p:nvPr>
        </p:nvSpPr>
        <p:spPr/>
        <p:txBody>
          <a:bodyPr/>
          <a:lstStyle/>
          <a:p>
            <a:r>
              <a:rPr lang="en-US" dirty="0"/>
              <a:t>Example</a:t>
            </a:r>
            <a:endParaRPr lang="en-US" b="1" dirty="0"/>
          </a:p>
        </p:txBody>
      </p:sp>
      <p:sp>
        <p:nvSpPr>
          <p:cNvPr id="5" name="Content Placeholder 4">
            <a:extLst>
              <a:ext uri="{FF2B5EF4-FFF2-40B4-BE49-F238E27FC236}">
                <a16:creationId xmlns:a16="http://schemas.microsoft.com/office/drawing/2014/main" id="{77F11FEC-D2AE-6DE2-EADD-08A962997375}"/>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CEB883DC-0097-F16C-97B1-E85F232FBDE0}"/>
              </a:ext>
            </a:extLst>
          </p:cNvPr>
          <p:cNvPicPr>
            <a:picLocks noChangeAspect="1"/>
          </p:cNvPicPr>
          <p:nvPr/>
        </p:nvPicPr>
        <p:blipFill>
          <a:blip r:embed="rId3"/>
          <a:stretch>
            <a:fillRect/>
          </a:stretch>
        </p:blipFill>
        <p:spPr>
          <a:xfrm>
            <a:off x="838200" y="1690688"/>
            <a:ext cx="10509725" cy="4486275"/>
          </a:xfrm>
          <a:prstGeom prst="rect">
            <a:avLst/>
          </a:prstGeom>
        </p:spPr>
      </p:pic>
    </p:spTree>
    <p:extLst>
      <p:ext uri="{BB962C8B-B14F-4D97-AF65-F5344CB8AC3E}">
        <p14:creationId xmlns:p14="http://schemas.microsoft.com/office/powerpoint/2010/main" val="2366210953"/>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1363A-3B78-6F3E-8178-0D3C489F4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64ECB-538C-CFCB-19F1-DFEBF7472E4A}"/>
              </a:ext>
            </a:extLst>
          </p:cNvPr>
          <p:cNvSpPr>
            <a:spLocks noGrp="1"/>
          </p:cNvSpPr>
          <p:nvPr>
            <p:ph type="title"/>
          </p:nvPr>
        </p:nvSpPr>
        <p:spPr/>
        <p:txBody>
          <a:bodyPr/>
          <a:lstStyle/>
          <a:p>
            <a:r>
              <a:rPr lang="en-US" dirty="0"/>
              <a:t>Example</a:t>
            </a:r>
            <a:endParaRPr lang="en-US" b="1" dirty="0"/>
          </a:p>
        </p:txBody>
      </p:sp>
      <p:sp>
        <p:nvSpPr>
          <p:cNvPr id="5" name="Content Placeholder 4">
            <a:extLst>
              <a:ext uri="{FF2B5EF4-FFF2-40B4-BE49-F238E27FC236}">
                <a16:creationId xmlns:a16="http://schemas.microsoft.com/office/drawing/2014/main" id="{E20FF8EB-8456-9A87-E879-5995D7C7238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CE1E142-FFEC-6029-B4E2-A3D0BD063CC7}"/>
              </a:ext>
            </a:extLst>
          </p:cNvPr>
          <p:cNvPicPr>
            <a:picLocks noChangeAspect="1"/>
          </p:cNvPicPr>
          <p:nvPr/>
        </p:nvPicPr>
        <p:blipFill>
          <a:blip r:embed="rId3"/>
          <a:stretch>
            <a:fillRect/>
          </a:stretch>
        </p:blipFill>
        <p:spPr>
          <a:xfrm>
            <a:off x="1706562" y="1347537"/>
            <a:ext cx="8778875" cy="5510463"/>
          </a:xfrm>
          <a:prstGeom prst="rect">
            <a:avLst/>
          </a:prstGeom>
        </p:spPr>
      </p:pic>
    </p:spTree>
    <p:extLst>
      <p:ext uri="{BB962C8B-B14F-4D97-AF65-F5344CB8AC3E}">
        <p14:creationId xmlns:p14="http://schemas.microsoft.com/office/powerpoint/2010/main" val="462085426"/>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89330-43DC-318F-EFEF-516C970D5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362E0-3855-B10B-EAC6-C268D1BF1547}"/>
              </a:ext>
            </a:extLst>
          </p:cNvPr>
          <p:cNvSpPr>
            <a:spLocks noGrp="1"/>
          </p:cNvSpPr>
          <p:nvPr>
            <p:ph type="title"/>
          </p:nvPr>
        </p:nvSpPr>
        <p:spPr/>
        <p:txBody>
          <a:bodyPr/>
          <a:lstStyle/>
          <a:p>
            <a:r>
              <a:rPr lang="en-IN" dirty="0"/>
              <a:t>The Matrix Approach</a:t>
            </a:r>
            <a:endParaRPr lang="en-US" b="1" dirty="0"/>
          </a:p>
        </p:txBody>
      </p:sp>
      <p:sp>
        <p:nvSpPr>
          <p:cNvPr id="3" name="Content Placeholder 2">
            <a:extLst>
              <a:ext uri="{FF2B5EF4-FFF2-40B4-BE49-F238E27FC236}">
                <a16:creationId xmlns:a16="http://schemas.microsoft.com/office/drawing/2014/main" id="{04CA12F4-376D-31C4-974E-5F2954811084}"/>
              </a:ext>
            </a:extLst>
          </p:cNvPr>
          <p:cNvSpPr>
            <a:spLocks noGrp="1"/>
          </p:cNvSpPr>
          <p:nvPr>
            <p:ph idx="1"/>
          </p:nvPr>
        </p:nvSpPr>
        <p:spPr/>
        <p:txBody>
          <a:bodyPr anchor="ctr">
            <a:normAutofit/>
          </a:bodyPr>
          <a:lstStyle/>
          <a:p>
            <a:pPr marL="0" indent="0" algn="just">
              <a:buNone/>
            </a:pPr>
            <a:r>
              <a:rPr lang="en-US" dirty="0"/>
              <a:t>The matrix approach to linear least squares is a powerful method for handling multiple linear regression models, where there is more than one predictor variable. This approach simplifies the representation and computation of regression analysis, making it easier to handle complex datasets. Additionally, understanding the statistical properties of least squares estimates ensures we can interpret the coefficients reliably and assess the quality of the model.</a:t>
            </a:r>
          </a:p>
        </p:txBody>
      </p:sp>
    </p:spTree>
    <p:extLst>
      <p:ext uri="{BB962C8B-B14F-4D97-AF65-F5344CB8AC3E}">
        <p14:creationId xmlns:p14="http://schemas.microsoft.com/office/powerpoint/2010/main" val="2443592078"/>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BF85F-8536-3243-9C20-0F409F053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2187E-0724-60FC-1AD2-D1CEEFCDCBA9}"/>
              </a:ext>
            </a:extLst>
          </p:cNvPr>
          <p:cNvSpPr>
            <a:spLocks noGrp="1"/>
          </p:cNvSpPr>
          <p:nvPr>
            <p:ph type="title"/>
          </p:nvPr>
        </p:nvSpPr>
        <p:spPr/>
        <p:txBody>
          <a:bodyPr/>
          <a:lstStyle/>
          <a:p>
            <a:r>
              <a:rPr lang="en-US" dirty="0"/>
              <a:t>The Matrix Approach to Linear Least Squares</a:t>
            </a:r>
            <a:endParaRPr lang="en-US" b="1" dirty="0"/>
          </a:p>
        </p:txBody>
      </p:sp>
      <p:sp>
        <p:nvSpPr>
          <p:cNvPr id="5" name="Content Placeholder 4">
            <a:extLst>
              <a:ext uri="{FF2B5EF4-FFF2-40B4-BE49-F238E27FC236}">
                <a16:creationId xmlns:a16="http://schemas.microsoft.com/office/drawing/2014/main" id="{D0AAE2DF-CCD0-901F-A0CE-70A07A77474F}"/>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B7F0EDB4-6954-4250-2E7B-79A6D9A315F2}"/>
              </a:ext>
            </a:extLst>
          </p:cNvPr>
          <p:cNvPicPr>
            <a:picLocks noChangeAspect="1"/>
          </p:cNvPicPr>
          <p:nvPr/>
        </p:nvPicPr>
        <p:blipFill>
          <a:blip r:embed="rId3"/>
          <a:stretch>
            <a:fillRect/>
          </a:stretch>
        </p:blipFill>
        <p:spPr>
          <a:xfrm>
            <a:off x="776752" y="1514208"/>
            <a:ext cx="10638496" cy="4978667"/>
          </a:xfrm>
          <a:prstGeom prst="rect">
            <a:avLst/>
          </a:prstGeom>
        </p:spPr>
      </p:pic>
    </p:spTree>
    <p:extLst>
      <p:ext uri="{BB962C8B-B14F-4D97-AF65-F5344CB8AC3E}">
        <p14:creationId xmlns:p14="http://schemas.microsoft.com/office/powerpoint/2010/main" val="2516761771"/>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D6393-78F9-4912-B944-EABEA5D17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FF33E-8C00-7D09-3E4B-8F085555D448}"/>
              </a:ext>
            </a:extLst>
          </p:cNvPr>
          <p:cNvSpPr>
            <a:spLocks noGrp="1"/>
          </p:cNvSpPr>
          <p:nvPr>
            <p:ph type="title"/>
          </p:nvPr>
        </p:nvSpPr>
        <p:spPr/>
        <p:txBody>
          <a:bodyPr/>
          <a:lstStyle/>
          <a:p>
            <a:r>
              <a:rPr lang="en-US" dirty="0"/>
              <a:t>The Matrix Approach to Linear Least Squares</a:t>
            </a:r>
            <a:endParaRPr lang="en-US" b="1" dirty="0"/>
          </a:p>
        </p:txBody>
      </p:sp>
      <p:sp>
        <p:nvSpPr>
          <p:cNvPr id="5" name="Content Placeholder 4">
            <a:extLst>
              <a:ext uri="{FF2B5EF4-FFF2-40B4-BE49-F238E27FC236}">
                <a16:creationId xmlns:a16="http://schemas.microsoft.com/office/drawing/2014/main" id="{538FE2B0-D1F7-0AC4-0539-42FDE6A700C9}"/>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4DEB758A-90F3-65C4-02D7-186328E93002}"/>
              </a:ext>
            </a:extLst>
          </p:cNvPr>
          <p:cNvPicPr>
            <a:picLocks noChangeAspect="1"/>
          </p:cNvPicPr>
          <p:nvPr/>
        </p:nvPicPr>
        <p:blipFill>
          <a:blip r:embed="rId3"/>
          <a:stretch>
            <a:fillRect/>
          </a:stretch>
        </p:blipFill>
        <p:spPr>
          <a:xfrm>
            <a:off x="776571" y="1312912"/>
            <a:ext cx="10638857" cy="5376764"/>
          </a:xfrm>
          <a:prstGeom prst="rect">
            <a:avLst/>
          </a:prstGeom>
        </p:spPr>
      </p:pic>
    </p:spTree>
    <p:extLst>
      <p:ext uri="{BB962C8B-B14F-4D97-AF65-F5344CB8AC3E}">
        <p14:creationId xmlns:p14="http://schemas.microsoft.com/office/powerpoint/2010/main" val="1670942248"/>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F6CE-C8A8-EC34-F75B-FDDFDB2E0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4D4A7-DEFC-CF30-FDC7-471EF29EEB3D}"/>
              </a:ext>
            </a:extLst>
          </p:cNvPr>
          <p:cNvSpPr>
            <a:spLocks noGrp="1"/>
          </p:cNvSpPr>
          <p:nvPr>
            <p:ph type="title"/>
          </p:nvPr>
        </p:nvSpPr>
        <p:spPr/>
        <p:txBody>
          <a:bodyPr/>
          <a:lstStyle/>
          <a:p>
            <a:r>
              <a:rPr lang="en-US" dirty="0"/>
              <a:t>The Matrix Approach to Linear Least Squares</a:t>
            </a:r>
            <a:endParaRPr lang="en-US" b="1" dirty="0"/>
          </a:p>
        </p:txBody>
      </p:sp>
      <p:sp>
        <p:nvSpPr>
          <p:cNvPr id="5" name="Content Placeholder 4">
            <a:extLst>
              <a:ext uri="{FF2B5EF4-FFF2-40B4-BE49-F238E27FC236}">
                <a16:creationId xmlns:a16="http://schemas.microsoft.com/office/drawing/2014/main" id="{8B89F965-F357-76BC-A65A-C72B3B23390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E884B0FC-4E8B-DB41-72DB-C74EDB7E41AD}"/>
              </a:ext>
            </a:extLst>
          </p:cNvPr>
          <p:cNvPicPr>
            <a:picLocks noChangeAspect="1"/>
          </p:cNvPicPr>
          <p:nvPr/>
        </p:nvPicPr>
        <p:blipFill>
          <a:blip r:embed="rId3"/>
          <a:stretch>
            <a:fillRect/>
          </a:stretch>
        </p:blipFill>
        <p:spPr>
          <a:xfrm>
            <a:off x="217054" y="2177800"/>
            <a:ext cx="11757892" cy="3646988"/>
          </a:xfrm>
          <a:prstGeom prst="rect">
            <a:avLst/>
          </a:prstGeom>
        </p:spPr>
      </p:pic>
    </p:spTree>
    <p:extLst>
      <p:ext uri="{BB962C8B-B14F-4D97-AF65-F5344CB8AC3E}">
        <p14:creationId xmlns:p14="http://schemas.microsoft.com/office/powerpoint/2010/main" val="2585164938"/>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53B13-4B0B-C5D9-7487-647695954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57858-200D-C224-A209-EA6077223506}"/>
              </a:ext>
            </a:extLst>
          </p:cNvPr>
          <p:cNvSpPr>
            <a:spLocks noGrp="1"/>
          </p:cNvSpPr>
          <p:nvPr>
            <p:ph type="title"/>
          </p:nvPr>
        </p:nvSpPr>
        <p:spPr/>
        <p:txBody>
          <a:bodyPr/>
          <a:lstStyle/>
          <a:p>
            <a:r>
              <a:rPr lang="en-US" dirty="0"/>
              <a:t>Statistical Properties of Least Squares Estimates</a:t>
            </a:r>
            <a:endParaRPr lang="en-US" b="1" dirty="0"/>
          </a:p>
        </p:txBody>
      </p:sp>
      <p:sp>
        <p:nvSpPr>
          <p:cNvPr id="5" name="Content Placeholder 4">
            <a:extLst>
              <a:ext uri="{FF2B5EF4-FFF2-40B4-BE49-F238E27FC236}">
                <a16:creationId xmlns:a16="http://schemas.microsoft.com/office/drawing/2014/main" id="{7200FEC7-3EB3-9E4E-915D-51B10258046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C5650113-B356-2BF4-9C99-178902CA9128}"/>
              </a:ext>
            </a:extLst>
          </p:cNvPr>
          <p:cNvPicPr>
            <a:picLocks noChangeAspect="1"/>
          </p:cNvPicPr>
          <p:nvPr/>
        </p:nvPicPr>
        <p:blipFill>
          <a:blip r:embed="rId3"/>
          <a:stretch>
            <a:fillRect/>
          </a:stretch>
        </p:blipFill>
        <p:spPr>
          <a:xfrm>
            <a:off x="2351768" y="1643314"/>
            <a:ext cx="7488463" cy="5234326"/>
          </a:xfrm>
          <a:prstGeom prst="rect">
            <a:avLst/>
          </a:prstGeom>
        </p:spPr>
      </p:pic>
    </p:spTree>
    <p:extLst>
      <p:ext uri="{BB962C8B-B14F-4D97-AF65-F5344CB8AC3E}">
        <p14:creationId xmlns:p14="http://schemas.microsoft.com/office/powerpoint/2010/main" val="3228386086"/>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AB4D-ED52-2DAF-C74D-443B0089B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BA7E2-F5E5-7D43-AEE4-ABD3C5149CE0}"/>
              </a:ext>
            </a:extLst>
          </p:cNvPr>
          <p:cNvSpPr>
            <a:spLocks noGrp="1"/>
          </p:cNvSpPr>
          <p:nvPr>
            <p:ph type="title"/>
          </p:nvPr>
        </p:nvSpPr>
        <p:spPr/>
        <p:txBody>
          <a:bodyPr/>
          <a:lstStyle/>
          <a:p>
            <a:r>
              <a:rPr lang="en-US" dirty="0"/>
              <a:t>Statistical Properties of Least Squares Estimates</a:t>
            </a:r>
            <a:endParaRPr lang="en-US" b="1" dirty="0"/>
          </a:p>
        </p:txBody>
      </p:sp>
      <p:sp>
        <p:nvSpPr>
          <p:cNvPr id="5" name="Content Placeholder 4">
            <a:extLst>
              <a:ext uri="{FF2B5EF4-FFF2-40B4-BE49-F238E27FC236}">
                <a16:creationId xmlns:a16="http://schemas.microsoft.com/office/drawing/2014/main" id="{8C1E7B9E-EB1E-8BAF-D3AE-0A734981F7C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FA21ACEE-7F4B-78B9-8304-1AB23D2EED75}"/>
              </a:ext>
            </a:extLst>
          </p:cNvPr>
          <p:cNvPicPr>
            <a:picLocks noChangeAspect="1"/>
          </p:cNvPicPr>
          <p:nvPr/>
        </p:nvPicPr>
        <p:blipFill>
          <a:blip r:embed="rId3"/>
          <a:stretch>
            <a:fillRect/>
          </a:stretch>
        </p:blipFill>
        <p:spPr>
          <a:xfrm>
            <a:off x="1007876" y="1690688"/>
            <a:ext cx="10176247" cy="5004894"/>
          </a:xfrm>
          <a:prstGeom prst="rect">
            <a:avLst/>
          </a:prstGeom>
        </p:spPr>
      </p:pic>
    </p:spTree>
    <p:extLst>
      <p:ext uri="{BB962C8B-B14F-4D97-AF65-F5344CB8AC3E}">
        <p14:creationId xmlns:p14="http://schemas.microsoft.com/office/powerpoint/2010/main" val="1910572621"/>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8E8AE-82B7-629F-D2E6-E85C4C6BC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86586-4180-9048-6609-0223C1B0B05E}"/>
              </a:ext>
            </a:extLst>
          </p:cNvPr>
          <p:cNvSpPr>
            <a:spLocks noGrp="1"/>
          </p:cNvSpPr>
          <p:nvPr>
            <p:ph type="title"/>
          </p:nvPr>
        </p:nvSpPr>
        <p:spPr/>
        <p:txBody>
          <a:bodyPr/>
          <a:lstStyle/>
          <a:p>
            <a:r>
              <a:rPr lang="en-US" dirty="0"/>
              <a:t>Statistical Properties of Least Squares Estimates</a:t>
            </a:r>
            <a:endParaRPr lang="en-US" b="1" dirty="0"/>
          </a:p>
        </p:txBody>
      </p:sp>
      <p:sp>
        <p:nvSpPr>
          <p:cNvPr id="5" name="Content Placeholder 4">
            <a:extLst>
              <a:ext uri="{FF2B5EF4-FFF2-40B4-BE49-F238E27FC236}">
                <a16:creationId xmlns:a16="http://schemas.microsoft.com/office/drawing/2014/main" id="{C4B3C038-2285-9C40-6FD2-2FD004CB1C49}"/>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DCD6316D-F0B1-DA3A-0C99-277A1A44EAC5}"/>
              </a:ext>
            </a:extLst>
          </p:cNvPr>
          <p:cNvPicPr>
            <a:picLocks noChangeAspect="1"/>
          </p:cNvPicPr>
          <p:nvPr/>
        </p:nvPicPr>
        <p:blipFill>
          <a:blip r:embed="rId3"/>
          <a:stretch>
            <a:fillRect/>
          </a:stretch>
        </p:blipFill>
        <p:spPr>
          <a:xfrm>
            <a:off x="1157722" y="1820593"/>
            <a:ext cx="9876556" cy="4672282"/>
          </a:xfrm>
          <a:prstGeom prst="rect">
            <a:avLst/>
          </a:prstGeom>
        </p:spPr>
      </p:pic>
    </p:spTree>
    <p:extLst>
      <p:ext uri="{BB962C8B-B14F-4D97-AF65-F5344CB8AC3E}">
        <p14:creationId xmlns:p14="http://schemas.microsoft.com/office/powerpoint/2010/main" val="3988527274"/>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686D5-442F-47DC-54D4-D9F1C9ED3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A0666-9214-72B0-CC01-36C35FD3EF55}"/>
              </a:ext>
            </a:extLst>
          </p:cNvPr>
          <p:cNvSpPr>
            <a:spLocks noGrp="1"/>
          </p:cNvSpPr>
          <p:nvPr>
            <p:ph type="title"/>
          </p:nvPr>
        </p:nvSpPr>
        <p:spPr/>
        <p:txBody>
          <a:bodyPr/>
          <a:lstStyle/>
          <a:p>
            <a:r>
              <a:rPr lang="en-US" dirty="0"/>
              <a:t>Statistical Properties of Least Squares Estimates</a:t>
            </a:r>
            <a:endParaRPr lang="en-US" b="1" dirty="0"/>
          </a:p>
        </p:txBody>
      </p:sp>
      <p:sp>
        <p:nvSpPr>
          <p:cNvPr id="5" name="Content Placeholder 4">
            <a:extLst>
              <a:ext uri="{FF2B5EF4-FFF2-40B4-BE49-F238E27FC236}">
                <a16:creationId xmlns:a16="http://schemas.microsoft.com/office/drawing/2014/main" id="{76071604-C6ED-F767-6C01-E9B43A8577F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C8A877B-B219-C5EE-99A3-81C7E473B9A4}"/>
              </a:ext>
            </a:extLst>
          </p:cNvPr>
          <p:cNvPicPr>
            <a:picLocks noChangeAspect="1"/>
          </p:cNvPicPr>
          <p:nvPr/>
        </p:nvPicPr>
        <p:blipFill>
          <a:blip r:embed="rId3"/>
          <a:stretch>
            <a:fillRect/>
          </a:stretch>
        </p:blipFill>
        <p:spPr>
          <a:xfrm>
            <a:off x="926806" y="1688806"/>
            <a:ext cx="10338387" cy="5169194"/>
          </a:xfrm>
          <a:prstGeom prst="rect">
            <a:avLst/>
          </a:prstGeom>
        </p:spPr>
      </p:pic>
    </p:spTree>
    <p:extLst>
      <p:ext uri="{BB962C8B-B14F-4D97-AF65-F5344CB8AC3E}">
        <p14:creationId xmlns:p14="http://schemas.microsoft.com/office/powerpoint/2010/main" val="1566043135"/>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9276B-293A-C131-3274-0F8F30624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9228F-2335-9E04-AB63-E250C79FCA4A}"/>
              </a:ext>
            </a:extLst>
          </p:cNvPr>
          <p:cNvSpPr>
            <a:spLocks noGrp="1"/>
          </p:cNvSpPr>
          <p:nvPr>
            <p:ph type="title"/>
          </p:nvPr>
        </p:nvSpPr>
        <p:spPr/>
        <p:txBody>
          <a:bodyPr/>
          <a:lstStyle/>
          <a:p>
            <a:r>
              <a:rPr lang="en-US" dirty="0"/>
              <a:t>Example</a:t>
            </a:r>
            <a:endParaRPr lang="en-US" b="1" dirty="0"/>
          </a:p>
        </p:txBody>
      </p:sp>
      <p:sp>
        <p:nvSpPr>
          <p:cNvPr id="5" name="Content Placeholder 4">
            <a:extLst>
              <a:ext uri="{FF2B5EF4-FFF2-40B4-BE49-F238E27FC236}">
                <a16:creationId xmlns:a16="http://schemas.microsoft.com/office/drawing/2014/main" id="{34E686C9-2332-AC63-7170-EB4CD0E6ECD7}"/>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559A12B-2B41-C940-80A7-9E0F1B9730A3}"/>
              </a:ext>
            </a:extLst>
          </p:cNvPr>
          <p:cNvPicPr>
            <a:picLocks noChangeAspect="1"/>
          </p:cNvPicPr>
          <p:nvPr/>
        </p:nvPicPr>
        <p:blipFill>
          <a:blip r:embed="rId3"/>
          <a:stretch>
            <a:fillRect/>
          </a:stretch>
        </p:blipFill>
        <p:spPr>
          <a:xfrm>
            <a:off x="0" y="1943014"/>
            <a:ext cx="12192000" cy="3564027"/>
          </a:xfrm>
          <a:prstGeom prst="rect">
            <a:avLst/>
          </a:prstGeom>
        </p:spPr>
      </p:pic>
    </p:spTree>
    <p:extLst>
      <p:ext uri="{BB962C8B-B14F-4D97-AF65-F5344CB8AC3E}">
        <p14:creationId xmlns:p14="http://schemas.microsoft.com/office/powerpoint/2010/main" val="2664357539"/>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0D790-A2C4-AB2F-DFA7-3BF1CF5C2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39C05-12CE-D06B-7FB4-B4B787B0F2E1}"/>
              </a:ext>
            </a:extLst>
          </p:cNvPr>
          <p:cNvSpPr>
            <a:spLocks noGrp="1"/>
          </p:cNvSpPr>
          <p:nvPr>
            <p:ph type="title"/>
          </p:nvPr>
        </p:nvSpPr>
        <p:spPr/>
        <p:txBody>
          <a:bodyPr/>
          <a:lstStyle/>
          <a:p>
            <a:r>
              <a:rPr lang="en-US" dirty="0"/>
              <a:t>Vector-Valued Random Variables, Mean, and Covariance</a:t>
            </a:r>
            <a:endParaRPr lang="en-US" b="1" dirty="0"/>
          </a:p>
        </p:txBody>
      </p:sp>
      <p:sp>
        <p:nvSpPr>
          <p:cNvPr id="3" name="Content Placeholder 2">
            <a:extLst>
              <a:ext uri="{FF2B5EF4-FFF2-40B4-BE49-F238E27FC236}">
                <a16:creationId xmlns:a16="http://schemas.microsoft.com/office/drawing/2014/main" id="{9B0E3330-ADC8-3FF4-F210-A226A31B1856}"/>
              </a:ext>
            </a:extLst>
          </p:cNvPr>
          <p:cNvSpPr>
            <a:spLocks noGrp="1"/>
          </p:cNvSpPr>
          <p:nvPr>
            <p:ph idx="1"/>
          </p:nvPr>
        </p:nvSpPr>
        <p:spPr/>
        <p:txBody>
          <a:bodyPr anchor="ctr">
            <a:normAutofit/>
          </a:bodyPr>
          <a:lstStyle/>
          <a:p>
            <a:pPr marL="0" indent="0" algn="just">
              <a:buNone/>
            </a:pPr>
            <a:r>
              <a:rPr lang="en-US" dirty="0"/>
              <a:t>In the context of linear regression and multivariate statistics, understanding vector-valued random variables and the mean and covariance of least squares estimates is crucial for working with multiple predictor variables. This approach allows for the analysis of data that involves more than one dependent or independent variable, leading to insights into relationships and variability in a multivariate setting.</a:t>
            </a:r>
          </a:p>
        </p:txBody>
      </p:sp>
    </p:spTree>
    <p:extLst>
      <p:ext uri="{BB962C8B-B14F-4D97-AF65-F5344CB8AC3E}">
        <p14:creationId xmlns:p14="http://schemas.microsoft.com/office/powerpoint/2010/main" val="709591566"/>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F42E6-F9AE-FF10-E49A-56D3663A9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7101A-9C92-97B9-1B02-0774B3BBA1A7}"/>
              </a:ext>
            </a:extLst>
          </p:cNvPr>
          <p:cNvSpPr>
            <a:spLocks noGrp="1"/>
          </p:cNvSpPr>
          <p:nvPr>
            <p:ph type="title"/>
          </p:nvPr>
        </p:nvSpPr>
        <p:spPr/>
        <p:txBody>
          <a:bodyPr/>
          <a:lstStyle/>
          <a:p>
            <a:r>
              <a:rPr lang="en-IN" dirty="0"/>
              <a:t>Vector-Valued Random Variables</a:t>
            </a:r>
            <a:endParaRPr lang="en-US" b="1" dirty="0"/>
          </a:p>
        </p:txBody>
      </p:sp>
      <p:sp>
        <p:nvSpPr>
          <p:cNvPr id="5" name="Content Placeholder 4">
            <a:extLst>
              <a:ext uri="{FF2B5EF4-FFF2-40B4-BE49-F238E27FC236}">
                <a16:creationId xmlns:a16="http://schemas.microsoft.com/office/drawing/2014/main" id="{416ED42A-4729-4353-3F5F-5EF5D0BC2D36}"/>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12E8448E-3E8F-E27E-5E9E-67ED752E144E}"/>
              </a:ext>
            </a:extLst>
          </p:cNvPr>
          <p:cNvPicPr>
            <a:picLocks noChangeAspect="1"/>
          </p:cNvPicPr>
          <p:nvPr/>
        </p:nvPicPr>
        <p:blipFill>
          <a:blip r:embed="rId3"/>
          <a:stretch>
            <a:fillRect/>
          </a:stretch>
        </p:blipFill>
        <p:spPr>
          <a:xfrm>
            <a:off x="1515910" y="1519685"/>
            <a:ext cx="9160180" cy="5338315"/>
          </a:xfrm>
          <a:prstGeom prst="rect">
            <a:avLst/>
          </a:prstGeom>
        </p:spPr>
      </p:pic>
    </p:spTree>
    <p:extLst>
      <p:ext uri="{BB962C8B-B14F-4D97-AF65-F5344CB8AC3E}">
        <p14:creationId xmlns:p14="http://schemas.microsoft.com/office/powerpoint/2010/main" val="1457618766"/>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2F22D-29EB-9336-1335-E928BB3AF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23E93-34B5-0787-C88A-709FFF5FB619}"/>
              </a:ext>
            </a:extLst>
          </p:cNvPr>
          <p:cNvSpPr>
            <a:spLocks noGrp="1"/>
          </p:cNvSpPr>
          <p:nvPr>
            <p:ph type="title"/>
          </p:nvPr>
        </p:nvSpPr>
        <p:spPr/>
        <p:txBody>
          <a:bodyPr/>
          <a:lstStyle/>
          <a:p>
            <a:r>
              <a:rPr lang="en-IN" dirty="0"/>
              <a:t>Vector-Valued Random Variables</a:t>
            </a:r>
            <a:endParaRPr lang="en-US" b="1" dirty="0"/>
          </a:p>
        </p:txBody>
      </p:sp>
      <p:sp>
        <p:nvSpPr>
          <p:cNvPr id="5" name="Content Placeholder 4">
            <a:extLst>
              <a:ext uri="{FF2B5EF4-FFF2-40B4-BE49-F238E27FC236}">
                <a16:creationId xmlns:a16="http://schemas.microsoft.com/office/drawing/2014/main" id="{24FD066C-3D46-B059-CF04-715771B716B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9838A96-0420-A660-160A-342B69750D45}"/>
              </a:ext>
            </a:extLst>
          </p:cNvPr>
          <p:cNvPicPr>
            <a:picLocks noChangeAspect="1"/>
          </p:cNvPicPr>
          <p:nvPr/>
        </p:nvPicPr>
        <p:blipFill>
          <a:blip r:embed="rId3"/>
          <a:stretch>
            <a:fillRect/>
          </a:stretch>
        </p:blipFill>
        <p:spPr>
          <a:xfrm>
            <a:off x="1384843" y="1388727"/>
            <a:ext cx="9422313" cy="5469273"/>
          </a:xfrm>
          <a:prstGeom prst="rect">
            <a:avLst/>
          </a:prstGeom>
        </p:spPr>
      </p:pic>
    </p:spTree>
    <p:extLst>
      <p:ext uri="{BB962C8B-B14F-4D97-AF65-F5344CB8AC3E}">
        <p14:creationId xmlns:p14="http://schemas.microsoft.com/office/powerpoint/2010/main" val="1280358143"/>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0E1E3-A02F-5450-8317-801BDBFF0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49DDD-B45A-8C1B-3BE4-17F81C04DC17}"/>
              </a:ext>
            </a:extLst>
          </p:cNvPr>
          <p:cNvSpPr>
            <a:spLocks noGrp="1"/>
          </p:cNvSpPr>
          <p:nvPr>
            <p:ph type="title"/>
          </p:nvPr>
        </p:nvSpPr>
        <p:spPr/>
        <p:txBody>
          <a:bodyPr/>
          <a:lstStyle/>
          <a:p>
            <a:r>
              <a:rPr lang="en-US" dirty="0"/>
              <a:t>Mean and Covariance of Least Squares Estimates</a:t>
            </a:r>
            <a:endParaRPr lang="en-US" b="1" dirty="0"/>
          </a:p>
        </p:txBody>
      </p:sp>
      <p:sp>
        <p:nvSpPr>
          <p:cNvPr id="5" name="Content Placeholder 4">
            <a:extLst>
              <a:ext uri="{FF2B5EF4-FFF2-40B4-BE49-F238E27FC236}">
                <a16:creationId xmlns:a16="http://schemas.microsoft.com/office/drawing/2014/main" id="{DE8BF9C7-B297-1B80-1C3B-1E35C8984F3E}"/>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FBC1BF3F-629A-9A35-5716-C0599E29BF87}"/>
              </a:ext>
            </a:extLst>
          </p:cNvPr>
          <p:cNvPicPr>
            <a:picLocks noChangeAspect="1"/>
          </p:cNvPicPr>
          <p:nvPr/>
        </p:nvPicPr>
        <p:blipFill>
          <a:blip r:embed="rId3"/>
          <a:stretch>
            <a:fillRect/>
          </a:stretch>
        </p:blipFill>
        <p:spPr>
          <a:xfrm>
            <a:off x="879174" y="1641174"/>
            <a:ext cx="10433652" cy="5216826"/>
          </a:xfrm>
          <a:prstGeom prst="rect">
            <a:avLst/>
          </a:prstGeom>
        </p:spPr>
      </p:pic>
    </p:spTree>
    <p:extLst>
      <p:ext uri="{BB962C8B-B14F-4D97-AF65-F5344CB8AC3E}">
        <p14:creationId xmlns:p14="http://schemas.microsoft.com/office/powerpoint/2010/main" val="3726536182"/>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73744-9525-AC1B-C87E-2B04FBF5C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BD5FC-AB8C-C665-0D26-ECB789969DFE}"/>
              </a:ext>
            </a:extLst>
          </p:cNvPr>
          <p:cNvSpPr>
            <a:spLocks noGrp="1"/>
          </p:cNvSpPr>
          <p:nvPr>
            <p:ph type="title"/>
          </p:nvPr>
        </p:nvSpPr>
        <p:spPr/>
        <p:txBody>
          <a:bodyPr/>
          <a:lstStyle/>
          <a:p>
            <a:r>
              <a:rPr lang="en-US" dirty="0"/>
              <a:t>Mean and Covariance of Least Squares Estimates</a:t>
            </a:r>
            <a:endParaRPr lang="en-US" b="1" dirty="0"/>
          </a:p>
        </p:txBody>
      </p:sp>
      <p:sp>
        <p:nvSpPr>
          <p:cNvPr id="5" name="Content Placeholder 4">
            <a:extLst>
              <a:ext uri="{FF2B5EF4-FFF2-40B4-BE49-F238E27FC236}">
                <a16:creationId xmlns:a16="http://schemas.microsoft.com/office/drawing/2014/main" id="{55026BCE-0E17-D0F1-FD90-9BF4303389F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01DCA52-1416-AFC3-ADBF-BF700C3A0D14}"/>
              </a:ext>
            </a:extLst>
          </p:cNvPr>
          <p:cNvPicPr>
            <a:picLocks noChangeAspect="1"/>
          </p:cNvPicPr>
          <p:nvPr/>
        </p:nvPicPr>
        <p:blipFill>
          <a:blip r:embed="rId3"/>
          <a:stretch>
            <a:fillRect/>
          </a:stretch>
        </p:blipFill>
        <p:spPr>
          <a:xfrm>
            <a:off x="276468" y="2012095"/>
            <a:ext cx="11639064" cy="3978397"/>
          </a:xfrm>
          <a:prstGeom prst="rect">
            <a:avLst/>
          </a:prstGeom>
        </p:spPr>
      </p:pic>
    </p:spTree>
    <p:extLst>
      <p:ext uri="{BB962C8B-B14F-4D97-AF65-F5344CB8AC3E}">
        <p14:creationId xmlns:p14="http://schemas.microsoft.com/office/powerpoint/2010/main" val="673935238"/>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21714-FAE1-5047-A11B-9EE8AA987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17DC2-AA01-0C91-184F-4551AF3FCA84}"/>
              </a:ext>
            </a:extLst>
          </p:cNvPr>
          <p:cNvSpPr>
            <a:spLocks noGrp="1"/>
          </p:cNvSpPr>
          <p:nvPr>
            <p:ph type="title"/>
          </p:nvPr>
        </p:nvSpPr>
        <p:spPr/>
        <p:txBody>
          <a:bodyPr/>
          <a:lstStyle/>
          <a:p>
            <a:r>
              <a:rPr lang="en-US" dirty="0"/>
              <a:t>Mean and Covariance of Least Squares Estimates</a:t>
            </a:r>
            <a:endParaRPr lang="en-US" b="1" dirty="0"/>
          </a:p>
        </p:txBody>
      </p:sp>
      <p:sp>
        <p:nvSpPr>
          <p:cNvPr id="5" name="Content Placeholder 4">
            <a:extLst>
              <a:ext uri="{FF2B5EF4-FFF2-40B4-BE49-F238E27FC236}">
                <a16:creationId xmlns:a16="http://schemas.microsoft.com/office/drawing/2014/main" id="{DAF28089-DC71-70E2-D5C0-DBB70CE635A2}"/>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5415023-0B42-F85E-E0E9-5320B669A8B7}"/>
              </a:ext>
            </a:extLst>
          </p:cNvPr>
          <p:cNvPicPr>
            <a:picLocks noChangeAspect="1"/>
          </p:cNvPicPr>
          <p:nvPr/>
        </p:nvPicPr>
        <p:blipFill>
          <a:blip r:embed="rId3"/>
          <a:stretch>
            <a:fillRect/>
          </a:stretch>
        </p:blipFill>
        <p:spPr>
          <a:xfrm>
            <a:off x="1066458" y="1660227"/>
            <a:ext cx="10059083" cy="5197773"/>
          </a:xfrm>
          <a:prstGeom prst="rect">
            <a:avLst/>
          </a:prstGeom>
        </p:spPr>
      </p:pic>
    </p:spTree>
    <p:extLst>
      <p:ext uri="{BB962C8B-B14F-4D97-AF65-F5344CB8AC3E}">
        <p14:creationId xmlns:p14="http://schemas.microsoft.com/office/powerpoint/2010/main" val="966747164"/>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1181-0F19-7DB5-BF42-93CAAE412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AB85E-9A1C-0A05-925F-BF30515E4996}"/>
              </a:ext>
            </a:extLst>
          </p:cNvPr>
          <p:cNvSpPr>
            <a:spLocks noGrp="1"/>
          </p:cNvSpPr>
          <p:nvPr>
            <p:ph type="title"/>
          </p:nvPr>
        </p:nvSpPr>
        <p:spPr/>
        <p:txBody>
          <a:bodyPr/>
          <a:lstStyle/>
          <a:p>
            <a:r>
              <a:rPr lang="en-US" dirty="0"/>
              <a:t>Mean and Covariance of Least Squares Estimates</a:t>
            </a:r>
            <a:endParaRPr lang="en-US" b="1" dirty="0"/>
          </a:p>
        </p:txBody>
      </p:sp>
      <p:sp>
        <p:nvSpPr>
          <p:cNvPr id="5" name="Content Placeholder 4">
            <a:extLst>
              <a:ext uri="{FF2B5EF4-FFF2-40B4-BE49-F238E27FC236}">
                <a16:creationId xmlns:a16="http://schemas.microsoft.com/office/drawing/2014/main" id="{4C17349E-6B85-9A59-B724-B0977E8B595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CD2E253-C188-6D1B-0917-9D86448FF3AE}"/>
              </a:ext>
            </a:extLst>
          </p:cNvPr>
          <p:cNvPicPr>
            <a:picLocks noChangeAspect="1"/>
          </p:cNvPicPr>
          <p:nvPr/>
        </p:nvPicPr>
        <p:blipFill>
          <a:blip r:embed="rId3"/>
          <a:stretch>
            <a:fillRect/>
          </a:stretch>
        </p:blipFill>
        <p:spPr>
          <a:xfrm>
            <a:off x="939945" y="1690688"/>
            <a:ext cx="10312110" cy="5167312"/>
          </a:xfrm>
          <a:prstGeom prst="rect">
            <a:avLst/>
          </a:prstGeom>
        </p:spPr>
      </p:pic>
    </p:spTree>
    <p:extLst>
      <p:ext uri="{BB962C8B-B14F-4D97-AF65-F5344CB8AC3E}">
        <p14:creationId xmlns:p14="http://schemas.microsoft.com/office/powerpoint/2010/main" val="1180537250"/>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B0B95-DE23-86BB-99DB-F3E0B4ED9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7A6C5-1FFD-80E6-60E1-1616C1896447}"/>
              </a:ext>
            </a:extLst>
          </p:cNvPr>
          <p:cNvSpPr>
            <a:spLocks noGrp="1"/>
          </p:cNvSpPr>
          <p:nvPr>
            <p:ph type="title"/>
          </p:nvPr>
        </p:nvSpPr>
        <p:spPr/>
        <p:txBody>
          <a:bodyPr/>
          <a:lstStyle/>
          <a:p>
            <a:r>
              <a:rPr lang="en-US" dirty="0"/>
              <a:t>Mean and Covariance of Least Squares Estimates</a:t>
            </a:r>
            <a:endParaRPr lang="en-US" b="1" dirty="0"/>
          </a:p>
        </p:txBody>
      </p:sp>
      <p:sp>
        <p:nvSpPr>
          <p:cNvPr id="5" name="Content Placeholder 4">
            <a:extLst>
              <a:ext uri="{FF2B5EF4-FFF2-40B4-BE49-F238E27FC236}">
                <a16:creationId xmlns:a16="http://schemas.microsoft.com/office/drawing/2014/main" id="{64CB124F-BF7C-1182-088F-911DE32FA106}"/>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EA617AF5-E7C5-B50E-156C-4EF729095E8C}"/>
              </a:ext>
            </a:extLst>
          </p:cNvPr>
          <p:cNvPicPr>
            <a:picLocks noChangeAspect="1"/>
          </p:cNvPicPr>
          <p:nvPr/>
        </p:nvPicPr>
        <p:blipFill>
          <a:blip r:embed="rId3"/>
          <a:stretch>
            <a:fillRect/>
          </a:stretch>
        </p:blipFill>
        <p:spPr>
          <a:xfrm>
            <a:off x="2381537" y="1530959"/>
            <a:ext cx="7428925" cy="5327041"/>
          </a:xfrm>
          <a:prstGeom prst="rect">
            <a:avLst/>
          </a:prstGeom>
        </p:spPr>
      </p:pic>
    </p:spTree>
    <p:extLst>
      <p:ext uri="{BB962C8B-B14F-4D97-AF65-F5344CB8AC3E}">
        <p14:creationId xmlns:p14="http://schemas.microsoft.com/office/powerpoint/2010/main" val="569340495"/>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5FA95-4327-DC5F-6348-3C55AE31B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0E228-F1E9-568B-8680-95EDCB34FA8D}"/>
              </a:ext>
            </a:extLst>
          </p:cNvPr>
          <p:cNvSpPr>
            <a:spLocks noGrp="1"/>
          </p:cNvSpPr>
          <p:nvPr>
            <p:ph type="title"/>
          </p:nvPr>
        </p:nvSpPr>
        <p:spPr/>
        <p:txBody>
          <a:bodyPr/>
          <a:lstStyle/>
          <a:p>
            <a:r>
              <a:rPr lang="en-US" dirty="0"/>
              <a:t>Properties of the Covariance Matrix</a:t>
            </a:r>
            <a:endParaRPr lang="en-US" b="1" dirty="0"/>
          </a:p>
        </p:txBody>
      </p:sp>
      <p:sp>
        <p:nvSpPr>
          <p:cNvPr id="5" name="Content Placeholder 4">
            <a:extLst>
              <a:ext uri="{FF2B5EF4-FFF2-40B4-BE49-F238E27FC236}">
                <a16:creationId xmlns:a16="http://schemas.microsoft.com/office/drawing/2014/main" id="{38731219-77A5-878E-E237-0A93EF4C6FB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EDB3A19B-1B68-4755-B543-EE9CC986D1C4}"/>
              </a:ext>
            </a:extLst>
          </p:cNvPr>
          <p:cNvPicPr>
            <a:picLocks noChangeAspect="1"/>
          </p:cNvPicPr>
          <p:nvPr/>
        </p:nvPicPr>
        <p:blipFill>
          <a:blip r:embed="rId3"/>
          <a:stretch>
            <a:fillRect/>
          </a:stretch>
        </p:blipFill>
        <p:spPr>
          <a:xfrm>
            <a:off x="344905" y="1790254"/>
            <a:ext cx="11502189" cy="4702621"/>
          </a:xfrm>
          <a:prstGeom prst="rect">
            <a:avLst/>
          </a:prstGeom>
        </p:spPr>
      </p:pic>
    </p:spTree>
    <p:extLst>
      <p:ext uri="{BB962C8B-B14F-4D97-AF65-F5344CB8AC3E}">
        <p14:creationId xmlns:p14="http://schemas.microsoft.com/office/powerpoint/2010/main" val="1414516780"/>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D658E-DAB9-D90D-B362-C6D3A237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FD45A-3796-4BC8-21B9-B3F50E2CFF71}"/>
              </a:ext>
            </a:extLst>
          </p:cNvPr>
          <p:cNvSpPr>
            <a:spLocks noGrp="1"/>
          </p:cNvSpPr>
          <p:nvPr>
            <p:ph type="title"/>
          </p:nvPr>
        </p:nvSpPr>
        <p:spPr/>
        <p:txBody>
          <a:bodyPr/>
          <a:lstStyle/>
          <a:p>
            <a:r>
              <a:rPr lang="en-US" dirty="0"/>
              <a:t>Estimation of σ2</a:t>
            </a:r>
            <a:endParaRPr lang="en-US" b="1" dirty="0"/>
          </a:p>
        </p:txBody>
      </p:sp>
      <p:sp>
        <p:nvSpPr>
          <p:cNvPr id="5" name="Content Placeholder 4">
            <a:extLst>
              <a:ext uri="{FF2B5EF4-FFF2-40B4-BE49-F238E27FC236}">
                <a16:creationId xmlns:a16="http://schemas.microsoft.com/office/drawing/2014/main" id="{F962A88F-9212-5DB9-47C9-D3C169545D19}"/>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C749753D-983D-B64F-0E36-10725987F9F3}"/>
              </a:ext>
            </a:extLst>
          </p:cNvPr>
          <p:cNvPicPr>
            <a:picLocks noChangeAspect="1"/>
          </p:cNvPicPr>
          <p:nvPr/>
        </p:nvPicPr>
        <p:blipFill>
          <a:blip r:embed="rId3"/>
          <a:stretch>
            <a:fillRect/>
          </a:stretch>
        </p:blipFill>
        <p:spPr>
          <a:xfrm>
            <a:off x="116642" y="2325946"/>
            <a:ext cx="11958715" cy="2206107"/>
          </a:xfrm>
          <a:prstGeom prst="rect">
            <a:avLst/>
          </a:prstGeom>
        </p:spPr>
      </p:pic>
    </p:spTree>
    <p:extLst>
      <p:ext uri="{BB962C8B-B14F-4D97-AF65-F5344CB8AC3E}">
        <p14:creationId xmlns:p14="http://schemas.microsoft.com/office/powerpoint/2010/main" val="2256702790"/>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51730-FC4A-9A8A-52B7-E74F27C36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DB7AA-CE01-B277-E31D-CC19D002A65A}"/>
              </a:ext>
            </a:extLst>
          </p:cNvPr>
          <p:cNvSpPr>
            <a:spLocks noGrp="1"/>
          </p:cNvSpPr>
          <p:nvPr>
            <p:ph type="title"/>
          </p:nvPr>
        </p:nvSpPr>
        <p:spPr/>
        <p:txBody>
          <a:bodyPr/>
          <a:lstStyle/>
          <a:p>
            <a:r>
              <a:rPr lang="en-US" dirty="0"/>
              <a:t>Estimation of σ2</a:t>
            </a:r>
            <a:endParaRPr lang="en-US" b="1" dirty="0"/>
          </a:p>
        </p:txBody>
      </p:sp>
      <p:sp>
        <p:nvSpPr>
          <p:cNvPr id="5" name="Content Placeholder 4">
            <a:extLst>
              <a:ext uri="{FF2B5EF4-FFF2-40B4-BE49-F238E27FC236}">
                <a16:creationId xmlns:a16="http://schemas.microsoft.com/office/drawing/2014/main" id="{76C52137-9E4C-CC9D-15FF-ABDF879D983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8BBC6BBD-077B-4E7D-9F80-4703D0F052A8}"/>
              </a:ext>
            </a:extLst>
          </p:cNvPr>
          <p:cNvPicPr>
            <a:picLocks noChangeAspect="1"/>
          </p:cNvPicPr>
          <p:nvPr/>
        </p:nvPicPr>
        <p:blipFill>
          <a:blip r:embed="rId3"/>
          <a:stretch>
            <a:fillRect/>
          </a:stretch>
        </p:blipFill>
        <p:spPr>
          <a:xfrm>
            <a:off x="2673493" y="1330328"/>
            <a:ext cx="6845014" cy="5527672"/>
          </a:xfrm>
          <a:prstGeom prst="rect">
            <a:avLst/>
          </a:prstGeom>
        </p:spPr>
      </p:pic>
    </p:spTree>
    <p:extLst>
      <p:ext uri="{BB962C8B-B14F-4D97-AF65-F5344CB8AC3E}">
        <p14:creationId xmlns:p14="http://schemas.microsoft.com/office/powerpoint/2010/main" val="231006130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8755-9368-D739-3012-A6AFB6E46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6F3AB-3B07-B4D8-8E7E-0F90A7A71F2E}"/>
              </a:ext>
            </a:extLst>
          </p:cNvPr>
          <p:cNvSpPr>
            <a:spLocks noGrp="1"/>
          </p:cNvSpPr>
          <p:nvPr>
            <p:ph type="title"/>
          </p:nvPr>
        </p:nvSpPr>
        <p:spPr/>
        <p:txBody>
          <a:bodyPr/>
          <a:lstStyle/>
          <a:p>
            <a:r>
              <a:rPr lang="en-US" dirty="0"/>
              <a:t>Estimation of σ2</a:t>
            </a:r>
            <a:endParaRPr lang="en-US" b="1" dirty="0"/>
          </a:p>
        </p:txBody>
      </p:sp>
      <p:sp>
        <p:nvSpPr>
          <p:cNvPr id="5" name="Content Placeholder 4">
            <a:extLst>
              <a:ext uri="{FF2B5EF4-FFF2-40B4-BE49-F238E27FC236}">
                <a16:creationId xmlns:a16="http://schemas.microsoft.com/office/drawing/2014/main" id="{D4E56652-157D-B657-9F02-57F1FC89DA56}"/>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65255B8-E447-1790-1CF4-C00971E015BA}"/>
              </a:ext>
            </a:extLst>
          </p:cNvPr>
          <p:cNvPicPr>
            <a:picLocks noChangeAspect="1"/>
          </p:cNvPicPr>
          <p:nvPr/>
        </p:nvPicPr>
        <p:blipFill>
          <a:blip r:embed="rId3"/>
          <a:stretch>
            <a:fillRect/>
          </a:stretch>
        </p:blipFill>
        <p:spPr>
          <a:xfrm>
            <a:off x="396719" y="1796140"/>
            <a:ext cx="11398561" cy="4410308"/>
          </a:xfrm>
          <a:prstGeom prst="rect">
            <a:avLst/>
          </a:prstGeom>
        </p:spPr>
      </p:pic>
    </p:spTree>
    <p:extLst>
      <p:ext uri="{BB962C8B-B14F-4D97-AF65-F5344CB8AC3E}">
        <p14:creationId xmlns:p14="http://schemas.microsoft.com/office/powerpoint/2010/main" val="2046706473"/>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E638-C06F-F5ED-14FE-99A0AB13D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07A58-5B09-E1C7-DD5A-1B913758948D}"/>
              </a:ext>
            </a:extLst>
          </p:cNvPr>
          <p:cNvSpPr>
            <a:spLocks noGrp="1"/>
          </p:cNvSpPr>
          <p:nvPr>
            <p:ph type="title"/>
          </p:nvPr>
        </p:nvSpPr>
        <p:spPr/>
        <p:txBody>
          <a:bodyPr/>
          <a:lstStyle/>
          <a:p>
            <a:r>
              <a:rPr lang="en-US" dirty="0"/>
              <a:t>Residual</a:t>
            </a:r>
            <a:endParaRPr lang="en-US" b="1" dirty="0"/>
          </a:p>
        </p:txBody>
      </p:sp>
      <p:sp>
        <p:nvSpPr>
          <p:cNvPr id="5" name="Content Placeholder 4">
            <a:extLst>
              <a:ext uri="{FF2B5EF4-FFF2-40B4-BE49-F238E27FC236}">
                <a16:creationId xmlns:a16="http://schemas.microsoft.com/office/drawing/2014/main" id="{04110EF6-CCD2-2F63-EB9D-78DD0FAB8E8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99DA29EE-4F6B-B541-210E-5E23682203B4}"/>
              </a:ext>
            </a:extLst>
          </p:cNvPr>
          <p:cNvPicPr>
            <a:picLocks noChangeAspect="1"/>
          </p:cNvPicPr>
          <p:nvPr/>
        </p:nvPicPr>
        <p:blipFill>
          <a:blip r:embed="rId3"/>
          <a:stretch>
            <a:fillRect/>
          </a:stretch>
        </p:blipFill>
        <p:spPr>
          <a:xfrm>
            <a:off x="3375885" y="0"/>
            <a:ext cx="8816115" cy="6858000"/>
          </a:xfrm>
          <a:prstGeom prst="rect">
            <a:avLst/>
          </a:prstGeom>
        </p:spPr>
      </p:pic>
    </p:spTree>
    <p:extLst>
      <p:ext uri="{BB962C8B-B14F-4D97-AF65-F5344CB8AC3E}">
        <p14:creationId xmlns:p14="http://schemas.microsoft.com/office/powerpoint/2010/main" val="3776651391"/>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7F69E-B281-F6F8-B721-F5D733EE1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930CD-3BB2-07F8-E6A8-A6C014D87D04}"/>
              </a:ext>
            </a:extLst>
          </p:cNvPr>
          <p:cNvSpPr>
            <a:spLocks noGrp="1"/>
          </p:cNvSpPr>
          <p:nvPr>
            <p:ph type="title"/>
          </p:nvPr>
        </p:nvSpPr>
        <p:spPr/>
        <p:txBody>
          <a:bodyPr/>
          <a:lstStyle/>
          <a:p>
            <a:r>
              <a:rPr lang="en-IN" b="1" dirty="0"/>
              <a:t>Standardized Residuals</a:t>
            </a:r>
          </a:p>
        </p:txBody>
      </p:sp>
      <p:sp>
        <p:nvSpPr>
          <p:cNvPr id="5" name="Content Placeholder 4">
            <a:extLst>
              <a:ext uri="{FF2B5EF4-FFF2-40B4-BE49-F238E27FC236}">
                <a16:creationId xmlns:a16="http://schemas.microsoft.com/office/drawing/2014/main" id="{A26D20C8-D2C5-2A4B-F102-C55A93A60308}"/>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81E4A132-3062-E235-7794-4AEBBB96E232}"/>
              </a:ext>
            </a:extLst>
          </p:cNvPr>
          <p:cNvPicPr>
            <a:picLocks noChangeAspect="1"/>
          </p:cNvPicPr>
          <p:nvPr/>
        </p:nvPicPr>
        <p:blipFill>
          <a:blip r:embed="rId3"/>
          <a:stretch>
            <a:fillRect/>
          </a:stretch>
        </p:blipFill>
        <p:spPr>
          <a:xfrm>
            <a:off x="1292408" y="1391676"/>
            <a:ext cx="9607183" cy="5219236"/>
          </a:xfrm>
          <a:prstGeom prst="rect">
            <a:avLst/>
          </a:prstGeom>
        </p:spPr>
      </p:pic>
    </p:spTree>
    <p:extLst>
      <p:ext uri="{BB962C8B-B14F-4D97-AF65-F5344CB8AC3E}">
        <p14:creationId xmlns:p14="http://schemas.microsoft.com/office/powerpoint/2010/main" val="2277204450"/>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FDDD7-B50F-4F8A-801F-B9CD4873D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6DC4D-BBC8-60E6-00A4-6B72672A2B0C}"/>
              </a:ext>
            </a:extLst>
          </p:cNvPr>
          <p:cNvSpPr>
            <a:spLocks noGrp="1"/>
          </p:cNvSpPr>
          <p:nvPr>
            <p:ph type="title"/>
          </p:nvPr>
        </p:nvSpPr>
        <p:spPr/>
        <p:txBody>
          <a:bodyPr/>
          <a:lstStyle/>
          <a:p>
            <a:r>
              <a:rPr lang="en-IN" b="1" dirty="0"/>
              <a:t>Standardized Residuals</a:t>
            </a:r>
          </a:p>
        </p:txBody>
      </p:sp>
      <p:sp>
        <p:nvSpPr>
          <p:cNvPr id="5" name="Content Placeholder 4">
            <a:extLst>
              <a:ext uri="{FF2B5EF4-FFF2-40B4-BE49-F238E27FC236}">
                <a16:creationId xmlns:a16="http://schemas.microsoft.com/office/drawing/2014/main" id="{937A8138-5379-1958-716A-DA6CD75444AE}"/>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982899F-ED36-35B6-370D-54539E620FE3}"/>
              </a:ext>
            </a:extLst>
          </p:cNvPr>
          <p:cNvPicPr>
            <a:picLocks noChangeAspect="1"/>
          </p:cNvPicPr>
          <p:nvPr/>
        </p:nvPicPr>
        <p:blipFill>
          <a:blip r:embed="rId3"/>
          <a:stretch>
            <a:fillRect/>
          </a:stretch>
        </p:blipFill>
        <p:spPr>
          <a:xfrm>
            <a:off x="2326109" y="1315511"/>
            <a:ext cx="7539782" cy="5542489"/>
          </a:xfrm>
          <a:prstGeom prst="rect">
            <a:avLst/>
          </a:prstGeom>
        </p:spPr>
      </p:pic>
    </p:spTree>
    <p:extLst>
      <p:ext uri="{BB962C8B-B14F-4D97-AF65-F5344CB8AC3E}">
        <p14:creationId xmlns:p14="http://schemas.microsoft.com/office/powerpoint/2010/main" val="827095275"/>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E9CE-EF4D-8395-E20D-49DE20D68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E8A75-C08A-C676-8154-3FE9223F1A0A}"/>
              </a:ext>
            </a:extLst>
          </p:cNvPr>
          <p:cNvSpPr>
            <a:spLocks noGrp="1"/>
          </p:cNvSpPr>
          <p:nvPr>
            <p:ph type="title"/>
          </p:nvPr>
        </p:nvSpPr>
        <p:spPr/>
        <p:txBody>
          <a:bodyPr/>
          <a:lstStyle/>
          <a:p>
            <a:endParaRPr lang="en-IN" b="1" dirty="0"/>
          </a:p>
        </p:txBody>
      </p:sp>
      <p:sp>
        <p:nvSpPr>
          <p:cNvPr id="5" name="Content Placeholder 4">
            <a:extLst>
              <a:ext uri="{FF2B5EF4-FFF2-40B4-BE49-F238E27FC236}">
                <a16:creationId xmlns:a16="http://schemas.microsoft.com/office/drawing/2014/main" id="{E4AE4B91-051B-28AB-EED2-C74FA862A9C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1109BA73-6AF7-3C99-6137-238E0325BFF8}"/>
              </a:ext>
            </a:extLst>
          </p:cNvPr>
          <p:cNvPicPr>
            <a:picLocks noChangeAspect="1"/>
          </p:cNvPicPr>
          <p:nvPr/>
        </p:nvPicPr>
        <p:blipFill>
          <a:blip r:embed="rId3"/>
          <a:stretch>
            <a:fillRect/>
          </a:stretch>
        </p:blipFill>
        <p:spPr>
          <a:xfrm>
            <a:off x="1835512" y="103967"/>
            <a:ext cx="8520975" cy="6650066"/>
          </a:xfrm>
          <a:prstGeom prst="rect">
            <a:avLst/>
          </a:prstGeom>
        </p:spPr>
      </p:pic>
    </p:spTree>
    <p:extLst>
      <p:ext uri="{BB962C8B-B14F-4D97-AF65-F5344CB8AC3E}">
        <p14:creationId xmlns:p14="http://schemas.microsoft.com/office/powerpoint/2010/main" val="2669391254"/>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7375B-594E-EC07-B14A-8BEAD4238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46092-B096-E847-C379-E7CE59F89216}"/>
              </a:ext>
            </a:extLst>
          </p:cNvPr>
          <p:cNvSpPr>
            <a:spLocks noGrp="1"/>
          </p:cNvSpPr>
          <p:nvPr>
            <p:ph type="title"/>
          </p:nvPr>
        </p:nvSpPr>
        <p:spPr/>
        <p:txBody>
          <a:bodyPr/>
          <a:lstStyle/>
          <a:p>
            <a:r>
              <a:rPr lang="en-IN" dirty="0"/>
              <a:t>Inference about </a:t>
            </a:r>
            <a:r>
              <a:rPr lang="el-GR" dirty="0"/>
              <a:t>β</a:t>
            </a:r>
            <a:endParaRPr lang="en-IN" b="1" dirty="0"/>
          </a:p>
        </p:txBody>
      </p:sp>
      <p:sp>
        <p:nvSpPr>
          <p:cNvPr id="5" name="Content Placeholder 4">
            <a:extLst>
              <a:ext uri="{FF2B5EF4-FFF2-40B4-BE49-F238E27FC236}">
                <a16:creationId xmlns:a16="http://schemas.microsoft.com/office/drawing/2014/main" id="{3F7AE145-C065-D897-C935-517E090BC52D}"/>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2C979528-2C64-DC09-C9FD-38B8245F033C}"/>
              </a:ext>
            </a:extLst>
          </p:cNvPr>
          <p:cNvPicPr>
            <a:picLocks noChangeAspect="1"/>
          </p:cNvPicPr>
          <p:nvPr/>
        </p:nvPicPr>
        <p:blipFill>
          <a:blip r:embed="rId3"/>
          <a:stretch>
            <a:fillRect/>
          </a:stretch>
        </p:blipFill>
        <p:spPr>
          <a:xfrm>
            <a:off x="65523" y="2378441"/>
            <a:ext cx="12060954" cy="2101117"/>
          </a:xfrm>
          <a:prstGeom prst="rect">
            <a:avLst/>
          </a:prstGeom>
        </p:spPr>
      </p:pic>
    </p:spTree>
    <p:extLst>
      <p:ext uri="{BB962C8B-B14F-4D97-AF65-F5344CB8AC3E}">
        <p14:creationId xmlns:p14="http://schemas.microsoft.com/office/powerpoint/2010/main" val="3269585217"/>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BB004-A501-B571-79D0-12D88F8B7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F1006-5267-331E-877E-265D95DDECEA}"/>
              </a:ext>
            </a:extLst>
          </p:cNvPr>
          <p:cNvSpPr>
            <a:spLocks noGrp="1"/>
          </p:cNvSpPr>
          <p:nvPr>
            <p:ph type="title"/>
          </p:nvPr>
        </p:nvSpPr>
        <p:spPr/>
        <p:txBody>
          <a:bodyPr/>
          <a:lstStyle/>
          <a:p>
            <a:r>
              <a:rPr lang="en-IN" dirty="0"/>
              <a:t>Inference about </a:t>
            </a:r>
            <a:r>
              <a:rPr lang="el-GR" dirty="0"/>
              <a:t>β</a:t>
            </a:r>
            <a:endParaRPr lang="en-IN" b="1" dirty="0"/>
          </a:p>
        </p:txBody>
      </p:sp>
      <p:sp>
        <p:nvSpPr>
          <p:cNvPr id="5" name="Content Placeholder 4">
            <a:extLst>
              <a:ext uri="{FF2B5EF4-FFF2-40B4-BE49-F238E27FC236}">
                <a16:creationId xmlns:a16="http://schemas.microsoft.com/office/drawing/2014/main" id="{C43AEC52-8391-00B4-FC08-3B1EAF1B313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3C714032-6B81-3BE0-7F3A-650E7F79F454}"/>
              </a:ext>
            </a:extLst>
          </p:cNvPr>
          <p:cNvPicPr>
            <a:picLocks noChangeAspect="1"/>
          </p:cNvPicPr>
          <p:nvPr/>
        </p:nvPicPr>
        <p:blipFill>
          <a:blip r:embed="rId3"/>
          <a:stretch>
            <a:fillRect/>
          </a:stretch>
        </p:blipFill>
        <p:spPr>
          <a:xfrm>
            <a:off x="2436462" y="1344045"/>
            <a:ext cx="7319075" cy="5376796"/>
          </a:xfrm>
          <a:prstGeom prst="rect">
            <a:avLst/>
          </a:prstGeom>
        </p:spPr>
      </p:pic>
    </p:spTree>
    <p:extLst>
      <p:ext uri="{BB962C8B-B14F-4D97-AF65-F5344CB8AC3E}">
        <p14:creationId xmlns:p14="http://schemas.microsoft.com/office/powerpoint/2010/main" val="328653047"/>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DF67-9622-CE5D-227D-487BDB66E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2BA98-B8A4-3C6E-3A02-E215CFFE5E85}"/>
              </a:ext>
            </a:extLst>
          </p:cNvPr>
          <p:cNvSpPr>
            <a:spLocks noGrp="1"/>
          </p:cNvSpPr>
          <p:nvPr>
            <p:ph type="title"/>
          </p:nvPr>
        </p:nvSpPr>
        <p:spPr/>
        <p:txBody>
          <a:bodyPr/>
          <a:lstStyle/>
          <a:p>
            <a:r>
              <a:rPr lang="en-IN" dirty="0"/>
              <a:t>Multiple Linear Regression</a:t>
            </a:r>
            <a:endParaRPr lang="en-IN" b="1" dirty="0"/>
          </a:p>
        </p:txBody>
      </p:sp>
      <p:sp>
        <p:nvSpPr>
          <p:cNvPr id="5" name="Content Placeholder 4">
            <a:extLst>
              <a:ext uri="{FF2B5EF4-FFF2-40B4-BE49-F238E27FC236}">
                <a16:creationId xmlns:a16="http://schemas.microsoft.com/office/drawing/2014/main" id="{94D3A327-2A8D-C71E-015B-36CF14C5E093}"/>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6A43694-07C3-3720-4C38-AB759857A9ED}"/>
              </a:ext>
            </a:extLst>
          </p:cNvPr>
          <p:cNvPicPr>
            <a:picLocks noChangeAspect="1"/>
          </p:cNvPicPr>
          <p:nvPr/>
        </p:nvPicPr>
        <p:blipFill>
          <a:blip r:embed="rId3"/>
          <a:stretch>
            <a:fillRect/>
          </a:stretch>
        </p:blipFill>
        <p:spPr>
          <a:xfrm>
            <a:off x="848400" y="1485629"/>
            <a:ext cx="10505400" cy="5007246"/>
          </a:xfrm>
          <a:prstGeom prst="rect">
            <a:avLst/>
          </a:prstGeom>
        </p:spPr>
      </p:pic>
    </p:spTree>
    <p:extLst>
      <p:ext uri="{BB962C8B-B14F-4D97-AF65-F5344CB8AC3E}">
        <p14:creationId xmlns:p14="http://schemas.microsoft.com/office/powerpoint/2010/main" val="268090725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B9C85-DF54-5539-418B-1AFD0935F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AC0FE-E7F7-1875-D429-31048584824B}"/>
              </a:ext>
            </a:extLst>
          </p:cNvPr>
          <p:cNvSpPr>
            <a:spLocks noGrp="1"/>
          </p:cNvSpPr>
          <p:nvPr>
            <p:ph type="title"/>
          </p:nvPr>
        </p:nvSpPr>
        <p:spPr/>
        <p:txBody>
          <a:bodyPr/>
          <a:lstStyle/>
          <a:p>
            <a:r>
              <a:rPr lang="en-IN" dirty="0"/>
              <a:t>Multiple Linear Regression</a:t>
            </a:r>
            <a:endParaRPr lang="en-IN" b="1" dirty="0"/>
          </a:p>
        </p:txBody>
      </p:sp>
      <p:sp>
        <p:nvSpPr>
          <p:cNvPr id="5" name="Content Placeholder 4">
            <a:extLst>
              <a:ext uri="{FF2B5EF4-FFF2-40B4-BE49-F238E27FC236}">
                <a16:creationId xmlns:a16="http://schemas.microsoft.com/office/drawing/2014/main" id="{783C4A44-4985-DAF5-4C70-EEDE505AFAA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C98854B-69BD-4499-A195-64F660390A77}"/>
              </a:ext>
            </a:extLst>
          </p:cNvPr>
          <p:cNvPicPr>
            <a:picLocks noChangeAspect="1"/>
          </p:cNvPicPr>
          <p:nvPr/>
        </p:nvPicPr>
        <p:blipFill>
          <a:blip r:embed="rId3"/>
          <a:stretch>
            <a:fillRect/>
          </a:stretch>
        </p:blipFill>
        <p:spPr>
          <a:xfrm>
            <a:off x="2732004" y="1383819"/>
            <a:ext cx="6727991" cy="5416148"/>
          </a:xfrm>
          <a:prstGeom prst="rect">
            <a:avLst/>
          </a:prstGeom>
        </p:spPr>
      </p:pic>
    </p:spTree>
    <p:extLst>
      <p:ext uri="{BB962C8B-B14F-4D97-AF65-F5344CB8AC3E}">
        <p14:creationId xmlns:p14="http://schemas.microsoft.com/office/powerpoint/2010/main" val="461327424"/>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88860-E46B-8AAD-0208-17E2F5365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DCED0-1E51-348A-F52C-D92A1B27EDB8}"/>
              </a:ext>
            </a:extLst>
          </p:cNvPr>
          <p:cNvSpPr>
            <a:spLocks noGrp="1"/>
          </p:cNvSpPr>
          <p:nvPr>
            <p:ph type="title"/>
          </p:nvPr>
        </p:nvSpPr>
        <p:spPr/>
        <p:txBody>
          <a:bodyPr/>
          <a:lstStyle/>
          <a:p>
            <a:r>
              <a:rPr lang="en-IN" dirty="0"/>
              <a:t>Conditional and Unconditional Inference</a:t>
            </a:r>
            <a:endParaRPr lang="en-IN" b="1" dirty="0"/>
          </a:p>
        </p:txBody>
      </p:sp>
      <p:sp>
        <p:nvSpPr>
          <p:cNvPr id="5" name="Content Placeholder 4">
            <a:extLst>
              <a:ext uri="{FF2B5EF4-FFF2-40B4-BE49-F238E27FC236}">
                <a16:creationId xmlns:a16="http://schemas.microsoft.com/office/drawing/2014/main" id="{7A55B007-9127-1EA3-3C6D-8A907B3F450C}"/>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552AE717-8A68-C799-36F8-9E5A656DDD48}"/>
              </a:ext>
            </a:extLst>
          </p:cNvPr>
          <p:cNvPicPr>
            <a:picLocks noChangeAspect="1"/>
          </p:cNvPicPr>
          <p:nvPr/>
        </p:nvPicPr>
        <p:blipFill>
          <a:blip r:embed="rId3"/>
          <a:stretch>
            <a:fillRect/>
          </a:stretch>
        </p:blipFill>
        <p:spPr>
          <a:xfrm>
            <a:off x="2176912" y="1376457"/>
            <a:ext cx="7838175" cy="5481543"/>
          </a:xfrm>
          <a:prstGeom prst="rect">
            <a:avLst/>
          </a:prstGeom>
        </p:spPr>
      </p:pic>
    </p:spTree>
    <p:extLst>
      <p:ext uri="{BB962C8B-B14F-4D97-AF65-F5344CB8AC3E}">
        <p14:creationId xmlns:p14="http://schemas.microsoft.com/office/powerpoint/2010/main" val="2732935972"/>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0EAB7-40FA-4509-A2A8-983675DFD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29ADC-2AE6-9BF1-C0D5-99B6F3BF92C7}"/>
              </a:ext>
            </a:extLst>
          </p:cNvPr>
          <p:cNvSpPr>
            <a:spLocks noGrp="1"/>
          </p:cNvSpPr>
          <p:nvPr>
            <p:ph type="title"/>
          </p:nvPr>
        </p:nvSpPr>
        <p:spPr/>
        <p:txBody>
          <a:bodyPr/>
          <a:lstStyle/>
          <a:p>
            <a:r>
              <a:rPr lang="en-IN" dirty="0"/>
              <a:t>The Bootstrap</a:t>
            </a:r>
            <a:endParaRPr lang="en-IN" b="1" dirty="0"/>
          </a:p>
        </p:txBody>
      </p:sp>
      <p:sp>
        <p:nvSpPr>
          <p:cNvPr id="5" name="Content Placeholder 4">
            <a:extLst>
              <a:ext uri="{FF2B5EF4-FFF2-40B4-BE49-F238E27FC236}">
                <a16:creationId xmlns:a16="http://schemas.microsoft.com/office/drawing/2014/main" id="{CCC7F3BB-EADF-8BAD-969B-F424F2109E06}"/>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3AB5F859-6AD7-29E4-11C0-AA1E7161466B}"/>
              </a:ext>
            </a:extLst>
          </p:cNvPr>
          <p:cNvPicPr>
            <a:picLocks noChangeAspect="1"/>
          </p:cNvPicPr>
          <p:nvPr/>
        </p:nvPicPr>
        <p:blipFill>
          <a:blip r:embed="rId3"/>
          <a:stretch>
            <a:fillRect/>
          </a:stretch>
        </p:blipFill>
        <p:spPr>
          <a:xfrm>
            <a:off x="2369170" y="1446212"/>
            <a:ext cx="7453659" cy="5411788"/>
          </a:xfrm>
          <a:prstGeom prst="rect">
            <a:avLst/>
          </a:prstGeom>
        </p:spPr>
      </p:pic>
    </p:spTree>
    <p:extLst>
      <p:ext uri="{BB962C8B-B14F-4D97-AF65-F5344CB8AC3E}">
        <p14:creationId xmlns:p14="http://schemas.microsoft.com/office/powerpoint/2010/main" val="2003961139"/>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FF50-68D0-FB83-FC8D-8CDEE7561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66703-09FE-903A-249C-6B285F950384}"/>
              </a:ext>
            </a:extLst>
          </p:cNvPr>
          <p:cNvSpPr>
            <a:spLocks noGrp="1"/>
          </p:cNvSpPr>
          <p:nvPr>
            <p:ph type="title"/>
          </p:nvPr>
        </p:nvSpPr>
        <p:spPr/>
        <p:txBody>
          <a:bodyPr/>
          <a:lstStyle/>
          <a:p>
            <a:r>
              <a:rPr lang="en-IN" dirty="0"/>
              <a:t>Local Linear Smoothing</a:t>
            </a:r>
            <a:endParaRPr lang="en-IN" b="1" dirty="0"/>
          </a:p>
        </p:txBody>
      </p:sp>
      <p:sp>
        <p:nvSpPr>
          <p:cNvPr id="5" name="Content Placeholder 4">
            <a:extLst>
              <a:ext uri="{FF2B5EF4-FFF2-40B4-BE49-F238E27FC236}">
                <a16:creationId xmlns:a16="http://schemas.microsoft.com/office/drawing/2014/main" id="{BD5769D2-DEFC-474C-5EFC-2FB73A96AF8D}"/>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FBD32DA6-4CD1-A353-2E0A-FBBEA979F525}"/>
              </a:ext>
            </a:extLst>
          </p:cNvPr>
          <p:cNvPicPr>
            <a:picLocks noChangeAspect="1"/>
          </p:cNvPicPr>
          <p:nvPr/>
        </p:nvPicPr>
        <p:blipFill>
          <a:blip r:embed="rId3"/>
          <a:stretch>
            <a:fillRect/>
          </a:stretch>
        </p:blipFill>
        <p:spPr>
          <a:xfrm>
            <a:off x="1937757" y="1372027"/>
            <a:ext cx="8316486" cy="5258534"/>
          </a:xfrm>
          <a:prstGeom prst="rect">
            <a:avLst/>
          </a:prstGeom>
        </p:spPr>
      </p:pic>
    </p:spTree>
    <p:extLst>
      <p:ext uri="{BB962C8B-B14F-4D97-AF65-F5344CB8AC3E}">
        <p14:creationId xmlns:p14="http://schemas.microsoft.com/office/powerpoint/2010/main" val="1989360847"/>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D61FF-3DD4-8998-8473-0BC5A3CDA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B5BB5-5C72-7D1E-3DB5-6961B6F97DC1}"/>
              </a:ext>
            </a:extLst>
          </p:cNvPr>
          <p:cNvSpPr>
            <a:spLocks noGrp="1"/>
          </p:cNvSpPr>
          <p:nvPr>
            <p:ph type="title"/>
          </p:nvPr>
        </p:nvSpPr>
        <p:spPr/>
        <p:txBody>
          <a:bodyPr/>
          <a:lstStyle/>
          <a:p>
            <a:r>
              <a:rPr lang="en-IN" dirty="0"/>
              <a:t>Local Linear Smoothing</a:t>
            </a:r>
            <a:endParaRPr lang="en-IN" b="1" dirty="0"/>
          </a:p>
        </p:txBody>
      </p:sp>
      <p:sp>
        <p:nvSpPr>
          <p:cNvPr id="5" name="Content Placeholder 4">
            <a:extLst>
              <a:ext uri="{FF2B5EF4-FFF2-40B4-BE49-F238E27FC236}">
                <a16:creationId xmlns:a16="http://schemas.microsoft.com/office/drawing/2014/main" id="{9EE1BDE4-F708-A19C-3E03-BFE9A6C10C3E}"/>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DB97B02-312B-7235-C903-FC4015539B71}"/>
              </a:ext>
            </a:extLst>
          </p:cNvPr>
          <p:cNvPicPr>
            <a:picLocks noChangeAspect="1"/>
          </p:cNvPicPr>
          <p:nvPr/>
        </p:nvPicPr>
        <p:blipFill>
          <a:blip r:embed="rId3"/>
          <a:stretch>
            <a:fillRect/>
          </a:stretch>
        </p:blipFill>
        <p:spPr>
          <a:xfrm>
            <a:off x="130841" y="1742961"/>
            <a:ext cx="11930318" cy="4516666"/>
          </a:xfrm>
          <a:prstGeom prst="rect">
            <a:avLst/>
          </a:prstGeom>
        </p:spPr>
      </p:pic>
    </p:spTree>
    <p:extLst>
      <p:ext uri="{BB962C8B-B14F-4D97-AF65-F5344CB8AC3E}">
        <p14:creationId xmlns:p14="http://schemas.microsoft.com/office/powerpoint/2010/main" val="2139967041"/>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F418-BA91-C370-4C51-F066CA1C1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667EA-1CDA-2472-4422-DFCACE1F9582}"/>
              </a:ext>
            </a:extLst>
          </p:cNvPr>
          <p:cNvSpPr>
            <a:spLocks noGrp="1"/>
          </p:cNvSpPr>
          <p:nvPr>
            <p:ph type="title"/>
          </p:nvPr>
        </p:nvSpPr>
        <p:spPr/>
        <p:txBody>
          <a:bodyPr/>
          <a:lstStyle/>
          <a:p>
            <a:r>
              <a:rPr lang="en-IN" dirty="0"/>
              <a:t>Thank You</a:t>
            </a:r>
            <a:endParaRPr lang="en-IN" b="1" dirty="0"/>
          </a:p>
        </p:txBody>
      </p:sp>
      <p:sp>
        <p:nvSpPr>
          <p:cNvPr id="5" name="Content Placeholder 4">
            <a:extLst>
              <a:ext uri="{FF2B5EF4-FFF2-40B4-BE49-F238E27FC236}">
                <a16:creationId xmlns:a16="http://schemas.microsoft.com/office/drawing/2014/main" id="{6DF6F840-A38E-8EA5-8A66-E9342E4F8581}"/>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FF15A479-9680-045A-7C8D-5E61F20C05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7601" y="0"/>
            <a:ext cx="5976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8570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1226</TotalTime>
  <Words>17990</Words>
  <Application>Microsoft Office PowerPoint</Application>
  <PresentationFormat>Widescreen</PresentationFormat>
  <Paragraphs>2025</Paragraphs>
  <Slides>374</Slides>
  <Notes>367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374</vt:i4>
      </vt:variant>
    </vt:vector>
  </HeadingPairs>
  <TitlesOfParts>
    <vt:vector size="379" baseType="lpstr">
      <vt:lpstr>Arial</vt:lpstr>
      <vt:lpstr>Calibri</vt:lpstr>
      <vt:lpstr>Calibri Light</vt:lpstr>
      <vt:lpstr>Times New Roman</vt:lpstr>
      <vt:lpstr>Office Theme</vt:lpstr>
      <vt:lpstr>Statistics for AI&amp;DS</vt:lpstr>
      <vt:lpstr>Course Overview</vt:lpstr>
      <vt:lpstr>Modules</vt:lpstr>
      <vt:lpstr>Assessment</vt:lpstr>
      <vt:lpstr>Introduction to Structured Data</vt:lpstr>
      <vt:lpstr>Introduction to Structured Data</vt:lpstr>
      <vt:lpstr>Elements of Structured Data</vt:lpstr>
      <vt:lpstr>Elements of Structured Data</vt:lpstr>
      <vt:lpstr>Rectangular Data</vt:lpstr>
      <vt:lpstr>Data Frames</vt:lpstr>
      <vt:lpstr>Indexes</vt:lpstr>
      <vt:lpstr>Nonrectangular Data Structures</vt:lpstr>
      <vt:lpstr>Assignment</vt:lpstr>
      <vt:lpstr>Measures of Central Tendency</vt:lpstr>
      <vt:lpstr>Mean</vt:lpstr>
      <vt:lpstr>Median</vt:lpstr>
      <vt:lpstr>Mode</vt:lpstr>
      <vt:lpstr>Comparison</vt:lpstr>
      <vt:lpstr>Robust Estimates</vt:lpstr>
      <vt:lpstr>Trimmed Mean</vt:lpstr>
      <vt:lpstr>Median Absolute Deviation (MAD)</vt:lpstr>
      <vt:lpstr>Standard Deviation</vt:lpstr>
      <vt:lpstr>Example</vt:lpstr>
      <vt:lpstr>Variance</vt:lpstr>
      <vt:lpstr>Coefficient of Variation (CV)</vt:lpstr>
      <vt:lpstr>Percentiles</vt:lpstr>
      <vt:lpstr>Percentiles</vt:lpstr>
      <vt:lpstr>Calculating Percentiles</vt:lpstr>
      <vt:lpstr>Assignment</vt:lpstr>
      <vt:lpstr>Boxplots</vt:lpstr>
      <vt:lpstr>Components of a Boxplot</vt:lpstr>
      <vt:lpstr>Constructing a Boxplot</vt:lpstr>
      <vt:lpstr>Interpretation of Boxplots</vt:lpstr>
      <vt:lpstr>Example of Boxplot</vt:lpstr>
      <vt:lpstr>Example 1</vt:lpstr>
      <vt:lpstr>Example 1</vt:lpstr>
      <vt:lpstr>Example 1</vt:lpstr>
      <vt:lpstr>Example 1</vt:lpstr>
      <vt:lpstr>Example 1</vt:lpstr>
      <vt:lpstr>Example 1: Interpretation</vt:lpstr>
      <vt:lpstr>Example 2</vt:lpstr>
      <vt:lpstr>Example 2</vt:lpstr>
      <vt:lpstr>Example 2: Interpretation</vt:lpstr>
      <vt:lpstr>Frequency Tables</vt:lpstr>
      <vt:lpstr>Components of a Frequency Table</vt:lpstr>
      <vt:lpstr>Creating a Frequency Table</vt:lpstr>
      <vt:lpstr>Example</vt:lpstr>
      <vt:lpstr>Properties and Applications</vt:lpstr>
      <vt:lpstr>Histograms</vt:lpstr>
      <vt:lpstr>Components of a Histogram</vt:lpstr>
      <vt:lpstr>Creating a Histogram</vt:lpstr>
      <vt:lpstr>Example</vt:lpstr>
      <vt:lpstr>Difference Between Histogram and Bar Graph</vt:lpstr>
      <vt:lpstr>Interpretation of Histograms</vt:lpstr>
      <vt:lpstr>Properties and Applications</vt:lpstr>
      <vt:lpstr>Problem</vt:lpstr>
      <vt:lpstr>Steps to Solve</vt:lpstr>
      <vt:lpstr>Density Plots</vt:lpstr>
      <vt:lpstr>Key Concepts</vt:lpstr>
      <vt:lpstr>Creating a Density Plot</vt:lpstr>
      <vt:lpstr>Creating a Density Plot</vt:lpstr>
      <vt:lpstr>Creating a Density Plot</vt:lpstr>
      <vt:lpstr>Properties and Applications</vt:lpstr>
      <vt:lpstr>Density Estimates</vt:lpstr>
      <vt:lpstr>Key Concepts</vt:lpstr>
      <vt:lpstr>Kernel Density Estimation (KDE)</vt:lpstr>
      <vt:lpstr>Example Calculation</vt:lpstr>
      <vt:lpstr>Gaussian Kernel Function</vt:lpstr>
      <vt:lpstr>Kernel Density Estimation (KDE)</vt:lpstr>
      <vt:lpstr>Kernel Density Estimation for Each Point</vt:lpstr>
      <vt:lpstr>Evaluating the Gaussian Kernel and Value Plugin</vt:lpstr>
      <vt:lpstr>Example Calculation</vt:lpstr>
      <vt:lpstr>Comparison</vt:lpstr>
      <vt:lpstr>Assignment</vt:lpstr>
      <vt:lpstr>Expected Value</vt:lpstr>
      <vt:lpstr>Expected Value Formula</vt:lpstr>
      <vt:lpstr>Expected Value Formula</vt:lpstr>
      <vt:lpstr>Probability</vt:lpstr>
      <vt:lpstr>Basic Probability Rules</vt:lpstr>
      <vt:lpstr>Types of Probability</vt:lpstr>
      <vt:lpstr>Probability Distributions</vt:lpstr>
      <vt:lpstr>Correlation</vt:lpstr>
      <vt:lpstr>Correlation</vt:lpstr>
      <vt:lpstr>Types of Correlation</vt:lpstr>
      <vt:lpstr>Scatter Plot</vt:lpstr>
      <vt:lpstr>Example</vt:lpstr>
      <vt:lpstr>Interpretation</vt:lpstr>
      <vt:lpstr>PowerPoint Presentation</vt:lpstr>
      <vt:lpstr>Assignment</vt:lpstr>
      <vt:lpstr>Hexagonal Binning</vt:lpstr>
      <vt:lpstr>Hexagonal Binning Benefits</vt:lpstr>
      <vt:lpstr>Hexagonal Binning</vt:lpstr>
      <vt:lpstr>Hexagonal Binning Interpretation</vt:lpstr>
      <vt:lpstr>Contour Plots</vt:lpstr>
      <vt:lpstr>Contour Plots Benefits</vt:lpstr>
      <vt:lpstr>Contour Plots</vt:lpstr>
      <vt:lpstr>Contour Plots Interpretation</vt:lpstr>
      <vt:lpstr>Comparison Between Hexagonal Binning and Contour Plots</vt:lpstr>
      <vt:lpstr>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Techniques for Visualizing Multiple Variables</vt:lpstr>
      <vt:lpstr>Assignment</vt:lpstr>
      <vt:lpstr>Bias</vt:lpstr>
      <vt:lpstr>Types of Bias</vt:lpstr>
      <vt:lpstr>Identifying and Minimizing Bias</vt:lpstr>
      <vt:lpstr>Methods of Random Selection</vt:lpstr>
      <vt:lpstr>Size of Data</vt:lpstr>
      <vt:lpstr>Advantages of Large Datasets</vt:lpstr>
      <vt:lpstr>Challenges of Large Datasets</vt:lpstr>
      <vt:lpstr>Quality of Data</vt:lpstr>
      <vt:lpstr>Dimensions of Data Quality</vt:lpstr>
      <vt:lpstr>Advantages of High-Quality Data</vt:lpstr>
      <vt:lpstr>Challenges of Ensuring Data Quality</vt:lpstr>
      <vt:lpstr>Balancing Size and Quality</vt:lpstr>
      <vt:lpstr>Examples</vt:lpstr>
      <vt:lpstr>Sample Mean vs. Population Mean</vt:lpstr>
      <vt:lpstr>Importance of Understanding the Difference</vt:lpstr>
      <vt:lpstr>Calculating Sample and Population Means</vt:lpstr>
      <vt:lpstr>Assignment</vt:lpstr>
      <vt:lpstr>Properties of Sample Mean</vt:lpstr>
      <vt:lpstr>Sampling Distribution</vt:lpstr>
      <vt:lpstr>Normal Distribution</vt:lpstr>
      <vt:lpstr>Other Distributions</vt:lpstr>
      <vt:lpstr>Other Distributions</vt:lpstr>
      <vt:lpstr>Central Limit Theorem</vt:lpstr>
      <vt:lpstr>Why is the Central Limit Theorem Important?</vt:lpstr>
      <vt:lpstr>Conditions for the Central Limit Theorem</vt:lpstr>
      <vt:lpstr>Practical Implications of the CLT</vt:lpstr>
      <vt:lpstr>Examples</vt:lpstr>
      <vt:lpstr>Standard Error</vt:lpstr>
      <vt:lpstr>Importance of the Standard Error</vt:lpstr>
      <vt:lpstr>Calculation of Standard Error</vt:lpstr>
      <vt:lpstr>Interpretation of Standard Error</vt:lpstr>
      <vt:lpstr>Relationship Between Standard Error and Sample Size</vt:lpstr>
      <vt:lpstr>Standard Error in Practice</vt:lpstr>
      <vt:lpstr>Standard Error in Practice</vt:lpstr>
      <vt:lpstr>Confidence Intervals</vt:lpstr>
      <vt:lpstr>Key Concepts</vt:lpstr>
      <vt:lpstr>Constructing Confidence Intervals</vt:lpstr>
      <vt:lpstr>Constructing Confidence Intervals</vt:lpstr>
      <vt:lpstr>Constructing Confidence Intervals</vt:lpstr>
      <vt:lpstr>Constructing Confidence Intervals</vt:lpstr>
      <vt:lpstr>Constructing Confidence Intervals</vt:lpstr>
      <vt:lpstr>Constructing Confidence Intervals</vt:lpstr>
      <vt:lpstr>Interpretation</vt:lpstr>
      <vt:lpstr>Factors Affecting the Width of a Confidence Interval</vt:lpstr>
      <vt:lpstr>The Bootstrap Method</vt:lpstr>
      <vt:lpstr>Steps in Bootstrapping</vt:lpstr>
      <vt:lpstr>Example of Bootstrapping</vt:lpstr>
      <vt:lpstr>Applications of Bootstrapping</vt:lpstr>
      <vt:lpstr>Advantages of Bootstrapping</vt:lpstr>
      <vt:lpstr>Disadvantages of Bootstrapping</vt:lpstr>
      <vt:lpstr>Resampling vs. Bootstrapping</vt:lpstr>
      <vt:lpstr>Standard Normal Distribution</vt:lpstr>
      <vt:lpstr>Standard Normal Distribution Function</vt:lpstr>
      <vt:lpstr>QQ-Plots</vt:lpstr>
      <vt:lpstr>Steps to Create a QQ-Plot</vt:lpstr>
      <vt:lpstr>QQ-Plot Example</vt:lpstr>
      <vt:lpstr>Importance of QQ-Plots</vt:lpstr>
      <vt:lpstr>Common Patterns in QQ-Plots</vt:lpstr>
      <vt:lpstr>Long-Tailed Distribution</vt:lpstr>
      <vt:lpstr>Properties of Long-Tailed Distributions</vt:lpstr>
      <vt:lpstr>Examples of Long-Tailed Distributions</vt:lpstr>
      <vt:lpstr>Assignment</vt:lpstr>
      <vt:lpstr>Probability Distribution Function (PDF)</vt:lpstr>
      <vt:lpstr>Cumulative Distribution Function (CDF)</vt:lpstr>
      <vt:lpstr>Variety in PDFs and CDFs</vt:lpstr>
      <vt:lpstr>Variety in PDFs and CDFs</vt:lpstr>
      <vt:lpstr>Variety in PDFs and CDFs</vt:lpstr>
      <vt:lpstr>How PDFs and CDFs Reflect These Differences</vt:lpstr>
      <vt:lpstr>Example Comparisons</vt:lpstr>
      <vt:lpstr>Based on Data Type</vt:lpstr>
      <vt:lpstr>Based on Data Type</vt:lpstr>
      <vt:lpstr>Based on Shape and Characteristics</vt:lpstr>
      <vt:lpstr>Based on Shape and Characteristics</vt:lpstr>
      <vt:lpstr>Based on Shape and Characteristics</vt:lpstr>
      <vt:lpstr>Based on Applications</vt:lpstr>
      <vt:lpstr>Based on Applications</vt:lpstr>
      <vt:lpstr>ANOVA (Analysis of Variance)</vt:lpstr>
      <vt:lpstr>ANOVA (Analysis of Variance)</vt:lpstr>
      <vt:lpstr>ANOVA terminology</vt:lpstr>
      <vt:lpstr>ANOVA terminology</vt:lpstr>
      <vt:lpstr>Types of ANOVA</vt:lpstr>
      <vt:lpstr>Assumptions of ANOVA</vt:lpstr>
      <vt:lpstr>One-Way ANOVA</vt:lpstr>
      <vt:lpstr>ANOVA Table</vt:lpstr>
      <vt:lpstr>F-statistic</vt:lpstr>
      <vt:lpstr>Decision Rule</vt:lpstr>
      <vt:lpstr>Problem</vt:lpstr>
      <vt:lpstr>Two-Way ANOVA</vt:lpstr>
      <vt:lpstr>ANOVA Table for Two-Way ANOVA</vt:lpstr>
      <vt:lpstr>ANOVA Table for Two-Way ANOVA</vt:lpstr>
      <vt:lpstr>Decision Rule</vt:lpstr>
      <vt:lpstr>Post-Hoc Tests</vt:lpstr>
      <vt:lpstr>Assumptions and Limitations</vt:lpstr>
      <vt:lpstr>Chi-Square Test</vt:lpstr>
      <vt:lpstr>Types of Chi-Square Tests</vt:lpstr>
      <vt:lpstr>Assumptions of the Chi-Square Test</vt:lpstr>
      <vt:lpstr>Chi-Square Test of Independence</vt:lpstr>
      <vt:lpstr>Chi-Square Test of Independence</vt:lpstr>
      <vt:lpstr>Chi-Square Test of Independence</vt:lpstr>
      <vt:lpstr>Chi-Square Goodness-of-Fit Test</vt:lpstr>
      <vt:lpstr>Fisher’s Exact Test</vt:lpstr>
      <vt:lpstr>Fisher’s Exact Test</vt:lpstr>
      <vt:lpstr>Fisher’s Exact Test</vt:lpstr>
      <vt:lpstr>Contingency Table</vt:lpstr>
      <vt:lpstr>Contingency Table</vt:lpstr>
      <vt:lpstr>PowerPoint Presentation</vt:lpstr>
      <vt:lpstr>P-value interpretation</vt:lpstr>
      <vt:lpstr>Two-Tailed or One-Tailed Test?</vt:lpstr>
      <vt:lpstr>Relevance of Fisher’s Exact Test for Data Science</vt:lpstr>
      <vt:lpstr>Relevance of Fisher’s Exact Test for Data Science</vt:lpstr>
      <vt:lpstr>t-Tests</vt:lpstr>
      <vt:lpstr>Types of t-Tests</vt:lpstr>
      <vt:lpstr>One-Sample t-Test</vt:lpstr>
      <vt:lpstr>One-Sample t-Test</vt:lpstr>
      <vt:lpstr>Independent (Two-Sample) t-Test</vt:lpstr>
      <vt:lpstr>Independent (Two-Sample) t-Test</vt:lpstr>
      <vt:lpstr>Paired (Dependent) t-Test</vt:lpstr>
      <vt:lpstr>Paired (Dependent) t-Test</vt:lpstr>
      <vt:lpstr>One-Tailed vs. Two-Tailed t-Test</vt:lpstr>
      <vt:lpstr>Power of a Test</vt:lpstr>
      <vt:lpstr>Type I and Type II Errors</vt:lpstr>
      <vt:lpstr>Factors Affecting Power</vt:lpstr>
      <vt:lpstr>Power Calculation</vt:lpstr>
      <vt:lpstr>Sample Size Calculation</vt:lpstr>
      <vt:lpstr>Cumulative Distribution Function</vt:lpstr>
      <vt:lpstr>Cumulative Distribution Function</vt:lpstr>
      <vt:lpstr>Cumulative Distribution Function</vt:lpstr>
      <vt:lpstr>Applications of CDF-Based Methods</vt:lpstr>
      <vt:lpstr>Applications of CDF-Based Methods</vt:lpstr>
      <vt:lpstr>Applications of CDF-Based Methods</vt:lpstr>
      <vt:lpstr>Applications of CDF-Based Methods</vt:lpstr>
      <vt:lpstr>Applications of CDF-Based Methods</vt:lpstr>
      <vt:lpstr>Applications in Data Science</vt:lpstr>
      <vt:lpstr>Advantages and Disadvantages of CDF-Based Methods</vt:lpstr>
      <vt:lpstr>Advantages and Disadvantages of CDF-Based Methods</vt:lpstr>
      <vt:lpstr>The Empirical CDF (ECDF)</vt:lpstr>
      <vt:lpstr>The Empirical CDF (ECDF)</vt:lpstr>
      <vt:lpstr>Properties of the Empirical CDF</vt:lpstr>
      <vt:lpstr>Properties of the Empirical CDF</vt:lpstr>
      <vt:lpstr>How to Construct the Empirical CDF</vt:lpstr>
      <vt:lpstr>How to Construct the Empirical CDF</vt:lpstr>
      <vt:lpstr>Applications of the Empirical CDF</vt:lpstr>
      <vt:lpstr>Advantages and Disadvantages of the ECDF</vt:lpstr>
      <vt:lpstr>Advantages and Disadvantages of the ECDF</vt:lpstr>
      <vt:lpstr>Comparison to Parametric CDFs</vt:lpstr>
      <vt:lpstr>The Survival Function</vt:lpstr>
      <vt:lpstr>The Survival Function</vt:lpstr>
      <vt:lpstr>Relationship Between the Survival Function and the Cumulative Distribution Function (CDF)</vt:lpstr>
      <vt:lpstr>Properties of the Survival Function</vt:lpstr>
      <vt:lpstr>Density Curves</vt:lpstr>
      <vt:lpstr>Density Curves</vt:lpstr>
      <vt:lpstr>Probability Density Function (PDF)</vt:lpstr>
      <vt:lpstr>Common Density Curves</vt:lpstr>
      <vt:lpstr>Common Density Curves</vt:lpstr>
      <vt:lpstr>Common Density Curves</vt:lpstr>
      <vt:lpstr>Histograms vs. Density Curves</vt:lpstr>
      <vt:lpstr>Kernel Density Estimation (KDE)</vt:lpstr>
      <vt:lpstr>Stem-and-Leaf Plots</vt:lpstr>
      <vt:lpstr>Stem-and-Leaf Plots</vt:lpstr>
      <vt:lpstr>How to Create a Stem-and-Leaf Plot</vt:lpstr>
      <vt:lpstr>Stem-and-Leaf Plots</vt:lpstr>
      <vt:lpstr>Stem-and-Leaf Plots</vt:lpstr>
      <vt:lpstr>Stem-and-Leaf Plots</vt:lpstr>
      <vt:lpstr>Measures of Location</vt:lpstr>
      <vt:lpstr>Key Measures of Location</vt:lpstr>
      <vt:lpstr>Key Measures of Location</vt:lpstr>
      <vt:lpstr>Key Measures of Location</vt:lpstr>
      <vt:lpstr>Additional Measures of Location</vt:lpstr>
      <vt:lpstr>Additional Measures of Location</vt:lpstr>
      <vt:lpstr>Additional Measures of Location</vt:lpstr>
      <vt:lpstr>Additional Measures of Location</vt:lpstr>
      <vt:lpstr>Additional Measures of Location</vt:lpstr>
      <vt:lpstr>Comparison of Measures of Location</vt:lpstr>
      <vt:lpstr>Applications of Measures of Location</vt:lpstr>
      <vt:lpstr>Applications of Measures of Location</vt:lpstr>
      <vt:lpstr>Advanced Location Estimates</vt:lpstr>
      <vt:lpstr>Advanced Location Estimates</vt:lpstr>
      <vt:lpstr>Advanced Location Estimates</vt:lpstr>
      <vt:lpstr>Advanced Location Estimates</vt:lpstr>
      <vt:lpstr>Advanced Location Estimates</vt:lpstr>
      <vt:lpstr>Advanced Location Estimates</vt:lpstr>
      <vt:lpstr>Advanced Location Estimates</vt:lpstr>
      <vt:lpstr>Comparison of Advanced Location Estimates</vt:lpstr>
      <vt:lpstr>Measures of Dispersion</vt:lpstr>
      <vt:lpstr>Comparison of Measures of Dispersion</vt:lpstr>
      <vt:lpstr>Types of Data Summarization Techniques</vt:lpstr>
      <vt:lpstr>Types of Data Summarization Techniques</vt:lpstr>
      <vt:lpstr>Tasks</vt:lpstr>
      <vt:lpstr>Tasks</vt:lpstr>
      <vt:lpstr>Tasks</vt:lpstr>
      <vt:lpstr>Tasks</vt:lpstr>
      <vt:lpstr>Tasks</vt:lpstr>
      <vt:lpstr>The Kruskal-Wallis Test</vt:lpstr>
      <vt:lpstr>The Kruskal-Wallis Test</vt:lpstr>
      <vt:lpstr>Assumptions of the Kruskal-Wallis Test</vt:lpstr>
      <vt:lpstr>Test Procedure</vt:lpstr>
      <vt:lpstr>Test Procedure</vt:lpstr>
      <vt:lpstr>Test Procedure</vt:lpstr>
      <vt:lpstr>Advantages of the Kruskal-Wallis Test</vt:lpstr>
      <vt:lpstr>Disadvantages of the Kruskal-Wallis Test</vt:lpstr>
      <vt:lpstr>Post-Hoc Testing</vt:lpstr>
      <vt:lpstr>Friedman’s Test</vt:lpstr>
      <vt:lpstr>Friedman’s Test</vt:lpstr>
      <vt:lpstr>Assumptions of Friedman’s Test</vt:lpstr>
      <vt:lpstr>Test Procedure</vt:lpstr>
      <vt:lpstr>Test Procedure</vt:lpstr>
      <vt:lpstr>Test Procedure</vt:lpstr>
      <vt:lpstr>Advantages of Friedman’s Test</vt:lpstr>
      <vt:lpstr>Disadvantages of Friedman’s Test</vt:lpstr>
      <vt:lpstr>Simple Linear Regression</vt:lpstr>
      <vt:lpstr>Key Concepts</vt:lpstr>
      <vt:lpstr>Interpretation of the Slope and Intercept</vt:lpstr>
      <vt:lpstr>Assumptions of Simple Linear Regression</vt:lpstr>
      <vt:lpstr>Statistical Properties of the Estimated Slope and Intercept</vt:lpstr>
      <vt:lpstr>Statistical Properties of the Estimated Slope and Intercept</vt:lpstr>
      <vt:lpstr>Statistical Properties of the Estimated Slope and Intercept</vt:lpstr>
      <vt:lpstr>Goodness of Fit</vt:lpstr>
      <vt:lpstr>Example</vt:lpstr>
      <vt:lpstr>Assessing the Fit, Correlation, and Regression</vt:lpstr>
      <vt:lpstr>Correlation vs. Regression</vt:lpstr>
      <vt:lpstr>Correlation vs. Regression</vt:lpstr>
      <vt:lpstr>Assessing the Fit of a Regression Model</vt:lpstr>
      <vt:lpstr>Assessing the Fit of a Regression Model</vt:lpstr>
      <vt:lpstr>Assessing the Fit of a Regression Model</vt:lpstr>
      <vt:lpstr>Assessing the Fit of a Regression Model</vt:lpstr>
      <vt:lpstr>Assessing the Fit of a Regression Model</vt:lpstr>
      <vt:lpstr>Assumptions to Check in Regression Analysis</vt:lpstr>
      <vt:lpstr>Example</vt:lpstr>
      <vt:lpstr>Example</vt:lpstr>
      <vt:lpstr>The Matrix Approach</vt:lpstr>
      <vt:lpstr>The Matrix Approach to Linear Least Squares</vt:lpstr>
      <vt:lpstr>The Matrix Approach to Linear Least Squares</vt:lpstr>
      <vt:lpstr>The Matrix Approach to Linear Least Squares</vt:lpstr>
      <vt:lpstr>Statistical Properties of Least Squares Estimates</vt:lpstr>
      <vt:lpstr>Statistical Properties of Least Squares Estimates</vt:lpstr>
      <vt:lpstr>Statistical Properties of Least Squares Estimates</vt:lpstr>
      <vt:lpstr>Statistical Properties of Least Squares Estimates</vt:lpstr>
      <vt:lpstr>Example</vt:lpstr>
      <vt:lpstr>Vector-Valued Random Variables, Mean, and Covariance</vt:lpstr>
      <vt:lpstr>Vector-Valued Random Variables</vt:lpstr>
      <vt:lpstr>Vector-Valued Random Variables</vt:lpstr>
      <vt:lpstr>Mean and Covariance of Least Squares Estimates</vt:lpstr>
      <vt:lpstr>Mean and Covariance of Least Squares Estimates</vt:lpstr>
      <vt:lpstr>Mean and Covariance of Least Squares Estimates</vt:lpstr>
      <vt:lpstr>Mean and Covariance of Least Squares Estimates</vt:lpstr>
      <vt:lpstr>Mean and Covariance of Least Squares Estimates</vt:lpstr>
      <vt:lpstr>Properties of the Covariance Matrix</vt:lpstr>
      <vt:lpstr>Estimation of σ2</vt:lpstr>
      <vt:lpstr>Estimation of σ2</vt:lpstr>
      <vt:lpstr>Estimation of σ2</vt:lpstr>
      <vt:lpstr>Residual</vt:lpstr>
      <vt:lpstr>Standardized Residuals</vt:lpstr>
      <vt:lpstr>Standardized Residuals</vt:lpstr>
      <vt:lpstr>PowerPoint Presentation</vt:lpstr>
      <vt:lpstr>Inference about β</vt:lpstr>
      <vt:lpstr>Inference about β</vt:lpstr>
      <vt:lpstr>Multiple Linear Regression</vt:lpstr>
      <vt:lpstr>Multiple Linear Regression</vt:lpstr>
      <vt:lpstr>Conditional and Unconditional Inference</vt:lpstr>
      <vt:lpstr>The Bootstrap</vt:lpstr>
      <vt:lpstr>Local Linear Smoothing</vt:lpstr>
      <vt:lpstr>Local Linear Smoothing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Naufil Kazi</dc:creator>
  <cp:lastModifiedBy>Naufil Kazi</cp:lastModifiedBy>
  <cp:revision>25</cp:revision>
  <dcterms:created xsi:type="dcterms:W3CDTF">2024-07-08T04:58:29Z</dcterms:created>
  <dcterms:modified xsi:type="dcterms:W3CDTF">2024-11-06T06:34:56Z</dcterms:modified>
</cp:coreProperties>
</file>